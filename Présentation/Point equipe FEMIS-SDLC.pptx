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62" r:id="rId4"/>
    <p:sldId id="263" r:id="rId5"/>
    <p:sldId id="264" r:id="rId6"/>
    <p:sldId id="265" r:id="rId7"/>
    <p:sldId id="266" r:id="rId8"/>
    <p:sldId id="267" r:id="rId9"/>
    <p:sldId id="261"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172A"/>
    <a:srgbClr val="2596BE"/>
    <a:srgbClr val="D9D9D9"/>
    <a:srgbClr val="FAFB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40" autoAdjust="0"/>
  </p:normalViewPr>
  <p:slideViewPr>
    <p:cSldViewPr snapToGrid="0">
      <p:cViewPr varScale="1">
        <p:scale>
          <a:sx n="122" d="100"/>
          <a:sy n="122" d="100"/>
        </p:scale>
        <p:origin x="96"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21816B-A750-4302-ACC4-566E27459A99}" type="datetimeFigureOut">
              <a:rPr lang="fr-FR" smtClean="0"/>
              <a:t>17/06/2026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E0DA8-2B20-4836-8258-3A727D9337DF}" type="slidenum">
              <a:rPr lang="fr-FR" smtClean="0"/>
              <a:t>‹#›</a:t>
            </a:fld>
            <a:endParaRPr lang="fr-FR"/>
          </a:p>
        </p:txBody>
      </p:sp>
    </p:spTree>
    <p:extLst>
      <p:ext uri="{BB962C8B-B14F-4D97-AF65-F5344CB8AC3E}">
        <p14:creationId xmlns:p14="http://schemas.microsoft.com/office/powerpoint/2010/main" val="3640526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6E1F8B-6E6F-9471-77DD-65A0FFD1F17C}"/>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46A71A03-72D0-EA97-FF4A-121DF49EB8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E3631B5C-645B-890A-F890-BBF10404CA97}"/>
              </a:ext>
            </a:extLst>
          </p:cNvPr>
          <p:cNvSpPr>
            <a:spLocks noGrp="1"/>
          </p:cNvSpPr>
          <p:nvPr>
            <p:ph type="dt" sz="half" idx="10"/>
          </p:nvPr>
        </p:nvSpPr>
        <p:spPr/>
        <p:txBody>
          <a:bodyPr/>
          <a:lstStyle/>
          <a:p>
            <a:fld id="{68792BBE-8CD2-4D5F-B9C3-E87C65F5BFA5}" type="datetime1">
              <a:rPr lang="fr-FR" smtClean="0"/>
              <a:t>17/06/2026</a:t>
            </a:fld>
            <a:endParaRPr lang="fr-FR"/>
          </a:p>
        </p:txBody>
      </p:sp>
      <p:sp>
        <p:nvSpPr>
          <p:cNvPr id="5" name="Espace réservé du pied de page 4">
            <a:extLst>
              <a:ext uri="{FF2B5EF4-FFF2-40B4-BE49-F238E27FC236}">
                <a16:creationId xmlns:a16="http://schemas.microsoft.com/office/drawing/2014/main" id="{D054B76C-0B96-852F-CEC0-E65850D91D4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AB22201-871B-A848-329D-1750A975BBE8}"/>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2568913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71146E-5E86-7DEE-6D65-2A28A8AAE7D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60AA00C-C642-9875-328A-5CA9B32E252C}"/>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10355AD-675F-2A79-5188-2BCFEBFD58F7}"/>
              </a:ext>
            </a:extLst>
          </p:cNvPr>
          <p:cNvSpPr>
            <a:spLocks noGrp="1"/>
          </p:cNvSpPr>
          <p:nvPr>
            <p:ph type="dt" sz="half" idx="10"/>
          </p:nvPr>
        </p:nvSpPr>
        <p:spPr/>
        <p:txBody>
          <a:bodyPr/>
          <a:lstStyle/>
          <a:p>
            <a:fld id="{E2DC191A-0AFA-4748-A17D-759B6F9426B9}" type="datetime1">
              <a:rPr lang="fr-FR" smtClean="0"/>
              <a:t>17/06/2026</a:t>
            </a:fld>
            <a:endParaRPr lang="fr-FR"/>
          </a:p>
        </p:txBody>
      </p:sp>
      <p:sp>
        <p:nvSpPr>
          <p:cNvPr id="5" name="Espace réservé du pied de page 4">
            <a:extLst>
              <a:ext uri="{FF2B5EF4-FFF2-40B4-BE49-F238E27FC236}">
                <a16:creationId xmlns:a16="http://schemas.microsoft.com/office/drawing/2014/main" id="{62C6AC6B-0F74-60C4-EB9C-1A189018379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6AA749D-9EA9-A58A-AC49-B6265934CCF6}"/>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39600196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742154-B9D7-C04B-95C9-8ECAC78D661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FF25A79-1F38-CD16-28D8-8044C7A75BF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FFEE447F-DD8F-C7F3-5458-BAE9E63B171E}"/>
              </a:ext>
            </a:extLst>
          </p:cNvPr>
          <p:cNvSpPr>
            <a:spLocks noGrp="1"/>
          </p:cNvSpPr>
          <p:nvPr>
            <p:ph type="dt" sz="half" idx="10"/>
          </p:nvPr>
        </p:nvSpPr>
        <p:spPr/>
        <p:txBody>
          <a:bodyPr/>
          <a:lstStyle/>
          <a:p>
            <a:fld id="{C39DE3E4-3F5B-41E0-B65C-8D5A5500660D}" type="datetime1">
              <a:rPr lang="fr-FR" smtClean="0"/>
              <a:t>17/06/2026</a:t>
            </a:fld>
            <a:endParaRPr lang="fr-FR"/>
          </a:p>
        </p:txBody>
      </p:sp>
      <p:sp>
        <p:nvSpPr>
          <p:cNvPr id="5" name="Espace réservé du pied de page 4">
            <a:extLst>
              <a:ext uri="{FF2B5EF4-FFF2-40B4-BE49-F238E27FC236}">
                <a16:creationId xmlns:a16="http://schemas.microsoft.com/office/drawing/2014/main" id="{ECA36BE8-1421-BF30-AADF-833B99CB880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98832AE-D16D-50B5-A14F-FF589EF6499E}"/>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1281443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9909CE-5A8F-3F5D-0E9F-7FCDD534AB2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9EB6C15-9B99-E604-443F-6CB75DC11C59}"/>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07271AD0-9442-E8FE-DBB6-E6A6621A2F5C}"/>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2D54C4D-FDD6-995F-BAC6-C6D79871CB13}"/>
              </a:ext>
            </a:extLst>
          </p:cNvPr>
          <p:cNvSpPr>
            <a:spLocks noGrp="1"/>
          </p:cNvSpPr>
          <p:nvPr>
            <p:ph type="dt" sz="half" idx="10"/>
          </p:nvPr>
        </p:nvSpPr>
        <p:spPr/>
        <p:txBody>
          <a:bodyPr/>
          <a:lstStyle/>
          <a:p>
            <a:fld id="{F3C7C6FC-C27A-43DF-8FCA-84485A42867B}" type="datetime1">
              <a:rPr lang="fr-FR" smtClean="0"/>
              <a:t>17/06/2026</a:t>
            </a:fld>
            <a:endParaRPr lang="fr-FR"/>
          </a:p>
        </p:txBody>
      </p:sp>
      <p:sp>
        <p:nvSpPr>
          <p:cNvPr id="6" name="Espace réservé du pied de page 5">
            <a:extLst>
              <a:ext uri="{FF2B5EF4-FFF2-40B4-BE49-F238E27FC236}">
                <a16:creationId xmlns:a16="http://schemas.microsoft.com/office/drawing/2014/main" id="{03093558-CD8B-CCEA-BC8D-56933CEDB4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39E4A8A-E50C-4BB4-4AB4-72D699C8DC84}"/>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18792734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B90E25-52C0-C0D5-360F-F4D10345C845}"/>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503860DC-9C3B-773C-B3EB-C4851763C7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29380607-6490-E9A6-28F7-9247B37695FE}"/>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8ED26F45-12CF-E4E6-6F9B-DC939FE586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7A4C608F-9CC5-92E7-F197-C992FE39E4C6}"/>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C2EECE21-C192-0732-FA1C-E109E276D00E}"/>
              </a:ext>
            </a:extLst>
          </p:cNvPr>
          <p:cNvSpPr>
            <a:spLocks noGrp="1"/>
          </p:cNvSpPr>
          <p:nvPr>
            <p:ph type="dt" sz="half" idx="10"/>
          </p:nvPr>
        </p:nvSpPr>
        <p:spPr/>
        <p:txBody>
          <a:bodyPr/>
          <a:lstStyle/>
          <a:p>
            <a:fld id="{2F4A12E1-FD07-4F69-BD0F-94284078C0F1}" type="datetime1">
              <a:rPr lang="fr-FR" smtClean="0"/>
              <a:t>17/06/2026</a:t>
            </a:fld>
            <a:endParaRPr lang="fr-FR"/>
          </a:p>
        </p:txBody>
      </p:sp>
      <p:sp>
        <p:nvSpPr>
          <p:cNvPr id="8" name="Espace réservé du pied de page 7">
            <a:extLst>
              <a:ext uri="{FF2B5EF4-FFF2-40B4-BE49-F238E27FC236}">
                <a16:creationId xmlns:a16="http://schemas.microsoft.com/office/drawing/2014/main" id="{9E1598A9-018B-60B9-114D-5973048D572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BA0BE18-6759-2547-E1E2-D4B876188240}"/>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11279035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E4728-CE44-4A9C-09B7-E6C4388E769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736108B0-E139-94DF-B3BE-14B53B375E78}"/>
              </a:ext>
            </a:extLst>
          </p:cNvPr>
          <p:cNvSpPr>
            <a:spLocks noGrp="1"/>
          </p:cNvSpPr>
          <p:nvPr>
            <p:ph type="dt" sz="half" idx="10"/>
          </p:nvPr>
        </p:nvSpPr>
        <p:spPr/>
        <p:txBody>
          <a:bodyPr/>
          <a:lstStyle/>
          <a:p>
            <a:fld id="{AD7CAE0E-9EAD-4293-86B4-CDC3427F3799}" type="datetime1">
              <a:rPr lang="fr-FR" smtClean="0"/>
              <a:t>17/06/2026</a:t>
            </a:fld>
            <a:endParaRPr lang="fr-FR"/>
          </a:p>
        </p:txBody>
      </p:sp>
      <p:sp>
        <p:nvSpPr>
          <p:cNvPr id="4" name="Espace réservé du pied de page 3">
            <a:extLst>
              <a:ext uri="{FF2B5EF4-FFF2-40B4-BE49-F238E27FC236}">
                <a16:creationId xmlns:a16="http://schemas.microsoft.com/office/drawing/2014/main" id="{1D9732BF-DDF8-4C6C-2E23-00477A98C71A}"/>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EAF25414-A48A-6E18-E77F-CE47F250173A}"/>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2649034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0E29E603-A9FF-3946-524F-EE64CA04DC83}"/>
              </a:ext>
            </a:extLst>
          </p:cNvPr>
          <p:cNvSpPr>
            <a:spLocks noGrp="1"/>
          </p:cNvSpPr>
          <p:nvPr>
            <p:ph type="dt" sz="half" idx="10"/>
          </p:nvPr>
        </p:nvSpPr>
        <p:spPr/>
        <p:txBody>
          <a:bodyPr/>
          <a:lstStyle/>
          <a:p>
            <a:fld id="{59256E1A-D5A3-4067-B5C3-32F6FBE01BC4}" type="datetime1">
              <a:rPr lang="fr-FR" smtClean="0"/>
              <a:t>17/06/2026</a:t>
            </a:fld>
            <a:endParaRPr lang="fr-FR"/>
          </a:p>
        </p:txBody>
      </p:sp>
      <p:sp>
        <p:nvSpPr>
          <p:cNvPr id="3" name="Espace réservé du pied de page 2">
            <a:extLst>
              <a:ext uri="{FF2B5EF4-FFF2-40B4-BE49-F238E27FC236}">
                <a16:creationId xmlns:a16="http://schemas.microsoft.com/office/drawing/2014/main" id="{6ECAC3A8-BB47-EFB7-B644-F75A290DDABF}"/>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3926D7CD-9A53-2AD2-3095-2B66A25B4071}"/>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2568223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02188D-BEA0-8914-E68A-E84E0381646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08E7193-3091-B517-F9C4-579E61EE55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0F0B173-07F8-23F5-305E-7E70A546AD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DA671E5-8C2F-7E5A-C38C-56AD87A67C8D}"/>
              </a:ext>
            </a:extLst>
          </p:cNvPr>
          <p:cNvSpPr>
            <a:spLocks noGrp="1"/>
          </p:cNvSpPr>
          <p:nvPr>
            <p:ph type="dt" sz="half" idx="10"/>
          </p:nvPr>
        </p:nvSpPr>
        <p:spPr/>
        <p:txBody>
          <a:bodyPr/>
          <a:lstStyle/>
          <a:p>
            <a:fld id="{AE30FE77-D051-422F-A884-8FA0AE0B1134}" type="datetime1">
              <a:rPr lang="fr-FR" smtClean="0"/>
              <a:t>17/06/2026</a:t>
            </a:fld>
            <a:endParaRPr lang="fr-FR"/>
          </a:p>
        </p:txBody>
      </p:sp>
      <p:sp>
        <p:nvSpPr>
          <p:cNvPr id="6" name="Espace réservé du pied de page 5">
            <a:extLst>
              <a:ext uri="{FF2B5EF4-FFF2-40B4-BE49-F238E27FC236}">
                <a16:creationId xmlns:a16="http://schemas.microsoft.com/office/drawing/2014/main" id="{2DA4FC9E-E020-9D5F-C0DC-8B0DD879A8AC}"/>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72BA170-5551-BE29-58DE-76F8D792F98A}"/>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20141171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E22DD3-D345-D8F2-70CF-CD32DCFE638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3E72001-D0A1-F097-1825-3196AB8879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6DEB5B9A-86C8-E6B6-F03C-EE8CC016C6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F3F36F5-6120-55EC-F527-3FA95A669DAA}"/>
              </a:ext>
            </a:extLst>
          </p:cNvPr>
          <p:cNvSpPr>
            <a:spLocks noGrp="1"/>
          </p:cNvSpPr>
          <p:nvPr>
            <p:ph type="dt" sz="half" idx="10"/>
          </p:nvPr>
        </p:nvSpPr>
        <p:spPr/>
        <p:txBody>
          <a:bodyPr/>
          <a:lstStyle/>
          <a:p>
            <a:fld id="{7C022066-D204-4F74-8D08-306B03196036}" type="datetime1">
              <a:rPr lang="fr-FR" smtClean="0"/>
              <a:t>17/06/2026</a:t>
            </a:fld>
            <a:endParaRPr lang="fr-FR"/>
          </a:p>
        </p:txBody>
      </p:sp>
      <p:sp>
        <p:nvSpPr>
          <p:cNvPr id="6" name="Espace réservé du pied de page 5">
            <a:extLst>
              <a:ext uri="{FF2B5EF4-FFF2-40B4-BE49-F238E27FC236}">
                <a16:creationId xmlns:a16="http://schemas.microsoft.com/office/drawing/2014/main" id="{78EA316D-1D21-DA32-C65E-B821D1E90D9A}"/>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3EC64AD-A0DA-0E98-8136-B1380E083111}"/>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3017719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AFCF91-523B-F92F-1C84-5594489A2890}"/>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393AC87D-4D8A-BB06-5722-3DB7CF36D618}"/>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AE0938A-531B-D2F1-2948-1807F78AF32F}"/>
              </a:ext>
            </a:extLst>
          </p:cNvPr>
          <p:cNvSpPr>
            <a:spLocks noGrp="1"/>
          </p:cNvSpPr>
          <p:nvPr>
            <p:ph type="dt" sz="half" idx="10"/>
          </p:nvPr>
        </p:nvSpPr>
        <p:spPr/>
        <p:txBody>
          <a:bodyPr/>
          <a:lstStyle/>
          <a:p>
            <a:fld id="{C63960EF-6162-4CC1-B493-F088202D1750}" type="datetime1">
              <a:rPr lang="fr-FR" smtClean="0"/>
              <a:t>17/06/2026</a:t>
            </a:fld>
            <a:endParaRPr lang="fr-FR"/>
          </a:p>
        </p:txBody>
      </p:sp>
      <p:sp>
        <p:nvSpPr>
          <p:cNvPr id="5" name="Espace réservé du pied de page 4">
            <a:extLst>
              <a:ext uri="{FF2B5EF4-FFF2-40B4-BE49-F238E27FC236}">
                <a16:creationId xmlns:a16="http://schemas.microsoft.com/office/drawing/2014/main" id="{4FB937BA-9006-2185-FBD0-C351623158C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C89C6B9-8C01-9BC5-DFFD-BF37F6250E19}"/>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12930245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DBB145C6-151E-0E3B-B79E-BFDBC1D86094}"/>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C5D5233-C415-CFEF-68A0-391ED4B09E8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6EF1297-BD9E-113F-C873-742B7B436B41}"/>
              </a:ext>
            </a:extLst>
          </p:cNvPr>
          <p:cNvSpPr>
            <a:spLocks noGrp="1"/>
          </p:cNvSpPr>
          <p:nvPr>
            <p:ph type="dt" sz="half" idx="10"/>
          </p:nvPr>
        </p:nvSpPr>
        <p:spPr/>
        <p:txBody>
          <a:bodyPr/>
          <a:lstStyle/>
          <a:p>
            <a:fld id="{C98E6EFF-4E6F-4E05-831E-2C6740B12277}" type="datetime1">
              <a:rPr lang="fr-FR" smtClean="0"/>
              <a:t>17/06/2026</a:t>
            </a:fld>
            <a:endParaRPr lang="fr-FR"/>
          </a:p>
        </p:txBody>
      </p:sp>
      <p:sp>
        <p:nvSpPr>
          <p:cNvPr id="5" name="Espace réservé du pied de page 4">
            <a:extLst>
              <a:ext uri="{FF2B5EF4-FFF2-40B4-BE49-F238E27FC236}">
                <a16:creationId xmlns:a16="http://schemas.microsoft.com/office/drawing/2014/main" id="{FF7F156F-B62E-7074-1FE9-6845A745F3E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74A1764-07DC-15F4-1BA9-4A6640339C65}"/>
              </a:ext>
            </a:extLst>
          </p:cNvPr>
          <p:cNvSpPr>
            <a:spLocks noGrp="1"/>
          </p:cNvSpPr>
          <p:nvPr>
            <p:ph type="sldNum" sz="quarter" idx="12"/>
          </p:nvPr>
        </p:nvSpPr>
        <p:spPr/>
        <p:txBody>
          <a:bodyPr/>
          <a:lstStyle/>
          <a:p>
            <a:fld id="{E3EC9F48-C5B6-4727-AEEA-2F88FA0098DB}" type="slidenum">
              <a:rPr lang="fr-FR" smtClean="0"/>
              <a:t>‹#›</a:t>
            </a:fld>
            <a:endParaRPr lang="fr-FR"/>
          </a:p>
        </p:txBody>
      </p:sp>
    </p:spTree>
    <p:extLst>
      <p:ext uri="{BB962C8B-B14F-4D97-AF65-F5344CB8AC3E}">
        <p14:creationId xmlns:p14="http://schemas.microsoft.com/office/powerpoint/2010/main" val="40900761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D9D9D9">
            <a:alpha val="39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EA1AAB4-F789-EC81-285F-DD5320FB41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970A029-9FD1-6060-D531-90B5D8A488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20B43EF-54A7-A627-CA28-02D9C5E733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89A74D8-0D09-47FF-A0A2-BEA285C1A5DF}" type="datetime1">
              <a:rPr lang="fr-FR" smtClean="0"/>
              <a:t>17/06/2026</a:t>
            </a:fld>
            <a:endParaRPr lang="fr-FR"/>
          </a:p>
        </p:txBody>
      </p:sp>
      <p:sp>
        <p:nvSpPr>
          <p:cNvPr id="5" name="Espace réservé du pied de page 4">
            <a:extLst>
              <a:ext uri="{FF2B5EF4-FFF2-40B4-BE49-F238E27FC236}">
                <a16:creationId xmlns:a16="http://schemas.microsoft.com/office/drawing/2014/main" id="{54268637-B012-4F97-1551-FEFEEA49EB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039BDC8D-AEAA-2F25-BDCB-9D5D881459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3EC9F48-C5B6-4727-AEEA-2F88FA0098DB}" type="slidenum">
              <a:rPr lang="fr-FR" smtClean="0"/>
              <a:t>‹#›</a:t>
            </a:fld>
            <a:endParaRPr lang="fr-FR"/>
          </a:p>
        </p:txBody>
      </p:sp>
    </p:spTree>
    <p:extLst>
      <p:ext uri="{BB962C8B-B14F-4D97-AF65-F5344CB8AC3E}">
        <p14:creationId xmlns:p14="http://schemas.microsoft.com/office/powerpoint/2010/main" val="21734770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svg"/><Relationship Id="rId3" Type="http://schemas.openxmlformats.org/officeDocument/2006/relationships/image" Target="../media/image2.png"/><Relationship Id="rId7" Type="http://schemas.openxmlformats.org/officeDocument/2006/relationships/image" Target="../media/image6.svg"/><Relationship Id="rId12" Type="http://schemas.openxmlformats.org/officeDocument/2006/relationships/image" Target="../media/image11.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jpeg"/><Relationship Id="rId9" Type="http://schemas.openxmlformats.org/officeDocument/2006/relationships/image" Target="../media/image8.svg"/><Relationship Id="rId14" Type="http://schemas.openxmlformats.org/officeDocument/2006/relationships/image" Target="../media/image13.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png"/><Relationship Id="rId7" Type="http://schemas.openxmlformats.org/officeDocument/2006/relationships/image" Target="../media/image11.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9.svg"/><Relationship Id="rId5" Type="http://schemas.openxmlformats.org/officeDocument/2006/relationships/image" Target="../media/image16.png"/><Relationship Id="rId10" Type="http://schemas.openxmlformats.org/officeDocument/2006/relationships/image" Target="../media/image18.png"/><Relationship Id="rId4" Type="http://schemas.openxmlformats.org/officeDocument/2006/relationships/image" Target="../media/image15.png"/><Relationship Id="rId9"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png"/><Relationship Id="rId7"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png"/><Relationship Id="rId7"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7ACE0AA-EFE0-440D-8EA3-0DDE04854F9D}"/>
              </a:ext>
            </a:extLst>
          </p:cNvPr>
          <p:cNvSpPr/>
          <p:nvPr/>
        </p:nvSpPr>
        <p:spPr>
          <a:xfrm>
            <a:off x="0" y="0"/>
            <a:ext cx="12192000" cy="112236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11680226-DE28-4D3E-86AC-C0FB5347D167}"/>
              </a:ext>
            </a:extLst>
          </p:cNvPr>
          <p:cNvSpPr>
            <a:spLocks noGrp="1"/>
          </p:cNvSpPr>
          <p:nvPr>
            <p:ph type="ctrTitle"/>
          </p:nvPr>
        </p:nvSpPr>
        <p:spPr/>
        <p:txBody>
          <a:bodyPr>
            <a:noAutofit/>
          </a:bodyPr>
          <a:lstStyle/>
          <a:p>
            <a:r>
              <a:rPr lang="fr-FR" sz="4000" noProof="0" dirty="0">
                <a:solidFill>
                  <a:schemeClr val="bg1"/>
                </a:solidFill>
              </a:rPr>
              <a:t>Lien entre la cinématique des étoiles jeunes et la cinématique du gaz moléculaire dans le complexe géant Cygnus-X</a:t>
            </a:r>
          </a:p>
        </p:txBody>
      </p:sp>
      <p:sp>
        <p:nvSpPr>
          <p:cNvPr id="3" name="Sous-titre 2">
            <a:extLst>
              <a:ext uri="{FF2B5EF4-FFF2-40B4-BE49-F238E27FC236}">
                <a16:creationId xmlns:a16="http://schemas.microsoft.com/office/drawing/2014/main" id="{8C27CBED-B9F3-16BC-378C-73129F86F20E}"/>
              </a:ext>
            </a:extLst>
          </p:cNvPr>
          <p:cNvSpPr>
            <a:spLocks noGrp="1"/>
          </p:cNvSpPr>
          <p:nvPr>
            <p:ph type="subTitle" idx="1"/>
          </p:nvPr>
        </p:nvSpPr>
        <p:spPr>
          <a:xfrm>
            <a:off x="1524000" y="3775292"/>
            <a:ext cx="9144000" cy="459823"/>
          </a:xfrm>
        </p:spPr>
        <p:txBody>
          <a:bodyPr>
            <a:normAutofit/>
          </a:bodyPr>
          <a:lstStyle/>
          <a:p>
            <a:r>
              <a:rPr lang="fr-FR" i="1" noProof="0" dirty="0">
                <a:solidFill>
                  <a:schemeClr val="bg1"/>
                </a:solidFill>
              </a:rPr>
              <a:t>Réunion d’équipe FEMIS</a:t>
            </a:r>
          </a:p>
        </p:txBody>
      </p:sp>
      <p:cxnSp>
        <p:nvCxnSpPr>
          <p:cNvPr id="5" name="Connecteur droit 4">
            <a:extLst>
              <a:ext uri="{FF2B5EF4-FFF2-40B4-BE49-F238E27FC236}">
                <a16:creationId xmlns:a16="http://schemas.microsoft.com/office/drawing/2014/main" id="{8A6321C7-04AA-76A7-85B9-A97106545E61}"/>
              </a:ext>
            </a:extLst>
          </p:cNvPr>
          <p:cNvCxnSpPr/>
          <p:nvPr/>
        </p:nvCxnSpPr>
        <p:spPr>
          <a:xfrm>
            <a:off x="2252312" y="3609473"/>
            <a:ext cx="7892715" cy="0"/>
          </a:xfrm>
          <a:prstGeom prst="line">
            <a:avLst/>
          </a:prstGeom>
          <a:ln>
            <a:solidFill>
              <a:srgbClr val="2596BE"/>
            </a:solidFill>
          </a:ln>
        </p:spPr>
        <p:style>
          <a:lnRef idx="1">
            <a:schemeClr val="accent1"/>
          </a:lnRef>
          <a:fillRef idx="0">
            <a:schemeClr val="accent1"/>
          </a:fillRef>
          <a:effectRef idx="0">
            <a:schemeClr val="accent1"/>
          </a:effectRef>
          <a:fontRef idx="minor">
            <a:schemeClr val="tx1"/>
          </a:fontRef>
        </p:style>
      </p:cxnSp>
      <p:sp>
        <p:nvSpPr>
          <p:cNvPr id="6" name="Sous-titre 2">
            <a:extLst>
              <a:ext uri="{FF2B5EF4-FFF2-40B4-BE49-F238E27FC236}">
                <a16:creationId xmlns:a16="http://schemas.microsoft.com/office/drawing/2014/main" id="{16D7DCEA-BDD2-58AB-2BF3-EB4D11917D3F}"/>
              </a:ext>
            </a:extLst>
          </p:cNvPr>
          <p:cNvSpPr txBox="1">
            <a:spLocks/>
          </p:cNvSpPr>
          <p:nvPr/>
        </p:nvSpPr>
        <p:spPr>
          <a:xfrm>
            <a:off x="1524000" y="4171021"/>
            <a:ext cx="9144000" cy="4598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1600" noProof="0" dirty="0">
                <a:solidFill>
                  <a:schemeClr val="bg1"/>
                </a:solidFill>
              </a:rPr>
              <a:t>Sulwen de la Croix</a:t>
            </a:r>
          </a:p>
        </p:txBody>
      </p:sp>
      <p:sp>
        <p:nvSpPr>
          <p:cNvPr id="7" name="Espace réservé de la date 6">
            <a:extLst>
              <a:ext uri="{FF2B5EF4-FFF2-40B4-BE49-F238E27FC236}">
                <a16:creationId xmlns:a16="http://schemas.microsoft.com/office/drawing/2014/main" id="{E6F8A662-4A90-C78C-0666-A9DF13D35C27}"/>
              </a:ext>
            </a:extLst>
          </p:cNvPr>
          <p:cNvSpPr>
            <a:spLocks noGrp="1"/>
          </p:cNvSpPr>
          <p:nvPr>
            <p:ph type="dt" sz="half" idx="10"/>
          </p:nvPr>
        </p:nvSpPr>
        <p:spPr/>
        <p:txBody>
          <a:bodyPr/>
          <a:lstStyle/>
          <a:p>
            <a:fld id="{D0A68FD8-BDF3-4509-948B-698FF07A2DF9}" type="datetime1">
              <a:rPr lang="fr-FR" noProof="0" smtClean="0"/>
              <a:t>17/06/2026</a:t>
            </a:fld>
            <a:endParaRPr lang="fr-FR" noProof="0" dirty="0"/>
          </a:p>
        </p:txBody>
      </p:sp>
      <p:sp>
        <p:nvSpPr>
          <p:cNvPr id="8" name="Espace réservé du numéro de diapositive 7">
            <a:extLst>
              <a:ext uri="{FF2B5EF4-FFF2-40B4-BE49-F238E27FC236}">
                <a16:creationId xmlns:a16="http://schemas.microsoft.com/office/drawing/2014/main" id="{1A690026-9E63-1236-3E86-469994EB1402}"/>
              </a:ext>
            </a:extLst>
          </p:cNvPr>
          <p:cNvSpPr>
            <a:spLocks noGrp="1"/>
          </p:cNvSpPr>
          <p:nvPr>
            <p:ph type="sldNum" sz="quarter" idx="12"/>
          </p:nvPr>
        </p:nvSpPr>
        <p:spPr/>
        <p:txBody>
          <a:bodyPr/>
          <a:lstStyle/>
          <a:p>
            <a:fld id="{E3EC9F48-C5B6-4727-AEEA-2F88FA0098DB}" type="slidenum">
              <a:rPr lang="fr-FR" noProof="0" smtClean="0"/>
              <a:t>1</a:t>
            </a:fld>
            <a:endParaRPr lang="fr-FR" noProof="0" dirty="0"/>
          </a:p>
        </p:txBody>
      </p:sp>
      <p:pic>
        <p:nvPicPr>
          <p:cNvPr id="9" name="Picture 2">
            <a:extLst>
              <a:ext uri="{FF2B5EF4-FFF2-40B4-BE49-F238E27FC236}">
                <a16:creationId xmlns:a16="http://schemas.microsoft.com/office/drawing/2014/main" id="{B7DFE4F0-3513-FF9A-99D3-CF67455704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2519082" cy="88167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Laboratoire d'Astrophysique de Bordeaux - LAB">
            <a:extLst>
              <a:ext uri="{FF2B5EF4-FFF2-40B4-BE49-F238E27FC236}">
                <a16:creationId xmlns:a16="http://schemas.microsoft.com/office/drawing/2014/main" id="{2EC9BD59-8D36-F297-9DAC-ECAC59B7D7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54235" y="1"/>
            <a:ext cx="1518678" cy="10292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85038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 coins arrondis 9">
            <a:extLst>
              <a:ext uri="{FF2B5EF4-FFF2-40B4-BE49-F238E27FC236}">
                <a16:creationId xmlns:a16="http://schemas.microsoft.com/office/drawing/2014/main" id="{95E45A3F-81A2-5587-5AAA-86A49346DDC3}"/>
              </a:ext>
            </a:extLst>
          </p:cNvPr>
          <p:cNvSpPr/>
          <p:nvPr/>
        </p:nvSpPr>
        <p:spPr>
          <a:xfrm>
            <a:off x="232833" y="1840444"/>
            <a:ext cx="11120967" cy="3722159"/>
          </a:xfrm>
          <a:prstGeom prst="roundRect">
            <a:avLst/>
          </a:prstGeom>
          <a:solidFill>
            <a:schemeClr val="bg1"/>
          </a:solidFill>
          <a:ln>
            <a:solidFill>
              <a:srgbClr val="0F172A"/>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B70F6B12-0FB5-0FBF-1D90-F40CBD43A2F1}"/>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583314C3-FCE5-0AE5-88FE-545ED5E72B38}"/>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Table des matières</a:t>
            </a:r>
          </a:p>
        </p:txBody>
      </p:sp>
      <p:sp>
        <p:nvSpPr>
          <p:cNvPr id="3" name="Espace réservé du contenu 2">
            <a:extLst>
              <a:ext uri="{FF2B5EF4-FFF2-40B4-BE49-F238E27FC236}">
                <a16:creationId xmlns:a16="http://schemas.microsoft.com/office/drawing/2014/main" id="{9CBF28A1-56EA-6E3F-BA28-52DBEF00DA53}"/>
              </a:ext>
            </a:extLst>
          </p:cNvPr>
          <p:cNvSpPr>
            <a:spLocks noGrp="1"/>
          </p:cNvSpPr>
          <p:nvPr>
            <p:ph idx="1"/>
          </p:nvPr>
        </p:nvSpPr>
        <p:spPr>
          <a:xfrm>
            <a:off x="431800" y="2035442"/>
            <a:ext cx="10515600" cy="3510227"/>
          </a:xfrm>
          <a:ln>
            <a:noFill/>
          </a:ln>
        </p:spPr>
        <p:txBody>
          <a:bodyPr vert="horz" lIns="91440" tIns="45720" rIns="91440" bIns="45720" rtlCol="0" anchor="t">
            <a:normAutofit/>
          </a:bodyPr>
          <a:lstStyle/>
          <a:p>
            <a:pPr marL="571500" indent="-571500">
              <a:buAutoNum type="romanUcPeriod"/>
            </a:pPr>
            <a:r>
              <a:rPr lang="fr-FR" noProof="0" dirty="0">
                <a:solidFill>
                  <a:schemeClr val="bg2">
                    <a:lumMod val="10000"/>
                  </a:schemeClr>
                </a:solidFill>
              </a:rPr>
              <a:t>Introduction</a:t>
            </a:r>
          </a:p>
          <a:p>
            <a:pPr marL="571500" indent="-571500">
              <a:buAutoNum type="romanUcPeriod"/>
            </a:pPr>
            <a:r>
              <a:rPr lang="fr-FR" noProof="0" dirty="0">
                <a:solidFill>
                  <a:schemeClr val="bg2">
                    <a:lumMod val="10000"/>
                  </a:schemeClr>
                </a:solidFill>
              </a:rPr>
              <a:t>Cinématique des nuages moléculaires et des groupes d’étoiles OB</a:t>
            </a:r>
          </a:p>
          <a:p>
            <a:pPr marL="571500" indent="-571500">
              <a:buAutoNum type="romanUcPeriod"/>
            </a:pPr>
            <a:r>
              <a:rPr lang="fr-FR" noProof="0" dirty="0">
                <a:solidFill>
                  <a:schemeClr val="bg2">
                    <a:lumMod val="10000"/>
                  </a:schemeClr>
                </a:solidFill>
              </a:rPr>
              <a:t>Visualisation des vitesses et des positions</a:t>
            </a:r>
          </a:p>
          <a:p>
            <a:pPr marL="571500" indent="-571500">
              <a:buAutoNum type="romanUcPeriod"/>
            </a:pPr>
            <a:r>
              <a:rPr lang="fr-FR" noProof="0" dirty="0">
                <a:solidFill>
                  <a:schemeClr val="bg2">
                    <a:lumMod val="10000"/>
                  </a:schemeClr>
                </a:solidFill>
              </a:rPr>
              <a:t>Traceback des objets du Cygne</a:t>
            </a:r>
            <a:endParaRPr lang="fr-FR" noProof="0" dirty="0">
              <a:solidFill>
                <a:schemeClr val="bg2">
                  <a:lumMod val="10000"/>
                </a:schemeClr>
              </a:solidFill>
              <a:ea typeface="Calibri"/>
              <a:cs typeface="Calibri"/>
            </a:endParaRPr>
          </a:p>
          <a:p>
            <a:pPr marL="571500" indent="-571500">
              <a:buAutoNum type="romanUcPeriod"/>
            </a:pPr>
            <a:r>
              <a:rPr lang="fr-FR" noProof="0" dirty="0">
                <a:solidFill>
                  <a:schemeClr val="bg2">
                    <a:lumMod val="10000"/>
                  </a:schemeClr>
                </a:solidFill>
              </a:rPr>
              <a:t>Scénario de formation de groupes d’étoiles massives au sein de la région du Cygne</a:t>
            </a:r>
          </a:p>
          <a:p>
            <a:pPr marL="571500" indent="-571500">
              <a:buAutoNum type="romanUcPeriod"/>
            </a:pPr>
            <a:r>
              <a:rPr lang="fr-FR" noProof="0" dirty="0">
                <a:solidFill>
                  <a:schemeClr val="bg2">
                    <a:lumMod val="10000"/>
                  </a:schemeClr>
                </a:solidFill>
              </a:rPr>
              <a:t>Conclusion</a:t>
            </a:r>
          </a:p>
        </p:txBody>
      </p:sp>
      <p:sp>
        <p:nvSpPr>
          <p:cNvPr id="4" name="Espace réservé de la date 3">
            <a:extLst>
              <a:ext uri="{FF2B5EF4-FFF2-40B4-BE49-F238E27FC236}">
                <a16:creationId xmlns:a16="http://schemas.microsoft.com/office/drawing/2014/main" id="{C5BC2B0A-FA2D-E719-22D7-271FD4E740DE}"/>
              </a:ext>
            </a:extLst>
          </p:cNvPr>
          <p:cNvSpPr>
            <a:spLocks noGrp="1"/>
          </p:cNvSpPr>
          <p:nvPr>
            <p:ph type="dt" sz="half" idx="10"/>
          </p:nvPr>
        </p:nvSpPr>
        <p:spPr/>
        <p:txBody>
          <a:bodyPr/>
          <a:lstStyle/>
          <a:p>
            <a:fld id="{E2DC191A-0AFA-4748-A17D-759B6F9426B9}" type="datetime1">
              <a:rPr lang="fr-FR" noProof="0" smtClean="0"/>
              <a:t>17/06/2026</a:t>
            </a:fld>
            <a:endParaRPr lang="fr-FR" noProof="0" dirty="0"/>
          </a:p>
        </p:txBody>
      </p:sp>
      <p:sp>
        <p:nvSpPr>
          <p:cNvPr id="5" name="Espace réservé du numéro de diapositive 4">
            <a:extLst>
              <a:ext uri="{FF2B5EF4-FFF2-40B4-BE49-F238E27FC236}">
                <a16:creationId xmlns:a16="http://schemas.microsoft.com/office/drawing/2014/main" id="{A3E5FCD6-1606-6E78-091A-0EE1BCEA3992}"/>
              </a:ext>
            </a:extLst>
          </p:cNvPr>
          <p:cNvSpPr>
            <a:spLocks noGrp="1"/>
          </p:cNvSpPr>
          <p:nvPr>
            <p:ph type="sldNum" sz="quarter" idx="12"/>
          </p:nvPr>
        </p:nvSpPr>
        <p:spPr/>
        <p:txBody>
          <a:bodyPr/>
          <a:lstStyle/>
          <a:p>
            <a:fld id="{E3EC9F48-C5B6-4727-AEEA-2F88FA0098DB}" type="slidenum">
              <a:rPr lang="fr-FR" noProof="0" smtClean="0"/>
              <a:t>2</a:t>
            </a:fld>
            <a:endParaRPr lang="fr-FR" noProof="0" dirty="0"/>
          </a:p>
        </p:txBody>
      </p:sp>
      <p:pic>
        <p:nvPicPr>
          <p:cNvPr id="11" name="Picture 2">
            <a:extLst>
              <a:ext uri="{FF2B5EF4-FFF2-40B4-BE49-F238E27FC236}">
                <a16:creationId xmlns:a16="http://schemas.microsoft.com/office/drawing/2014/main" id="{980824ED-43D3-DA12-99DF-D16F43275B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202AE497-EFE8-A216-6FBE-6C0B445610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Connecteur droit 4">
            <a:extLst>
              <a:ext uri="{FF2B5EF4-FFF2-40B4-BE49-F238E27FC236}">
                <a16:creationId xmlns:a16="http://schemas.microsoft.com/office/drawing/2014/main" id="{7C4DA5A2-A654-5A98-E50B-D15EBC898EAD}"/>
              </a:ext>
            </a:extLst>
          </p:cNvPr>
          <p:cNvCxnSpPr/>
          <p:nvPr/>
        </p:nvCxnSpPr>
        <p:spPr>
          <a:xfrm>
            <a:off x="1752127" y="5915011"/>
            <a:ext cx="7892715" cy="0"/>
          </a:xfrm>
          <a:prstGeom prst="line">
            <a:avLst/>
          </a:prstGeom>
          <a:ln>
            <a:solidFill>
              <a:srgbClr val="2596B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03073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87A6C-41EC-90F1-818E-1730823A881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ACEF3A4-EB2E-FC1C-7ACD-6D311439964D}"/>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AF846627-B69E-B93F-76F0-196F4ADCD072}"/>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Introduction</a:t>
            </a:r>
          </a:p>
        </p:txBody>
      </p:sp>
      <p:sp>
        <p:nvSpPr>
          <p:cNvPr id="4" name="Espace réservé de la date 3">
            <a:extLst>
              <a:ext uri="{FF2B5EF4-FFF2-40B4-BE49-F238E27FC236}">
                <a16:creationId xmlns:a16="http://schemas.microsoft.com/office/drawing/2014/main" id="{28FE65F4-FEB2-A9EA-4B6C-63D244EC5F68}"/>
              </a:ext>
            </a:extLst>
          </p:cNvPr>
          <p:cNvSpPr>
            <a:spLocks noGrp="1"/>
          </p:cNvSpPr>
          <p:nvPr>
            <p:ph type="dt" sz="half" idx="10"/>
          </p:nvPr>
        </p:nvSpPr>
        <p:spPr>
          <a:xfrm>
            <a:off x="0" y="6515528"/>
            <a:ext cx="2743200" cy="365125"/>
          </a:xfrm>
        </p:spPr>
        <p:txBody>
          <a:bodyPr/>
          <a:lstStyle/>
          <a:p>
            <a:fld id="{E2DC191A-0AFA-4748-A17D-759B6F9426B9}" type="datetime1">
              <a:rPr lang="fr-FR" noProof="0" smtClean="0"/>
              <a:t>17/06/2026</a:t>
            </a:fld>
            <a:endParaRPr lang="fr-FR" noProof="0" dirty="0"/>
          </a:p>
        </p:txBody>
      </p:sp>
      <p:sp>
        <p:nvSpPr>
          <p:cNvPr id="5" name="Espace réservé du numéro de diapositive 4">
            <a:extLst>
              <a:ext uri="{FF2B5EF4-FFF2-40B4-BE49-F238E27FC236}">
                <a16:creationId xmlns:a16="http://schemas.microsoft.com/office/drawing/2014/main" id="{0F6D24C2-D1D9-23C4-81D0-85A8298CBB65}"/>
              </a:ext>
            </a:extLst>
          </p:cNvPr>
          <p:cNvSpPr>
            <a:spLocks noGrp="1"/>
          </p:cNvSpPr>
          <p:nvPr>
            <p:ph type="sldNum" sz="quarter" idx="12"/>
          </p:nvPr>
        </p:nvSpPr>
        <p:spPr/>
        <p:txBody>
          <a:bodyPr/>
          <a:lstStyle/>
          <a:p>
            <a:fld id="{E3EC9F48-C5B6-4727-AEEA-2F88FA0098DB}" type="slidenum">
              <a:rPr lang="fr-FR" noProof="0" smtClean="0"/>
              <a:t>3</a:t>
            </a:fld>
            <a:endParaRPr lang="fr-FR" noProof="0" dirty="0"/>
          </a:p>
        </p:txBody>
      </p:sp>
      <p:pic>
        <p:nvPicPr>
          <p:cNvPr id="11" name="Picture 2">
            <a:extLst>
              <a:ext uri="{FF2B5EF4-FFF2-40B4-BE49-F238E27FC236}">
                <a16:creationId xmlns:a16="http://schemas.microsoft.com/office/drawing/2014/main" id="{E9021D0B-0312-7B3A-1B55-57AB2E5AE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913F0E95-A9F3-91C2-87CE-E3CEC1F9A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 coins arrondis 8">
            <a:extLst>
              <a:ext uri="{FF2B5EF4-FFF2-40B4-BE49-F238E27FC236}">
                <a16:creationId xmlns:a16="http://schemas.microsoft.com/office/drawing/2014/main" id="{96BEEA47-96C0-583C-71FA-198F31A16A25}"/>
              </a:ext>
            </a:extLst>
          </p:cNvPr>
          <p:cNvSpPr/>
          <p:nvPr/>
        </p:nvSpPr>
        <p:spPr>
          <a:xfrm>
            <a:off x="452500" y="1574626"/>
            <a:ext cx="3623921" cy="1981094"/>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13" name="Rectangle : coins arrondis 12">
            <a:extLst>
              <a:ext uri="{FF2B5EF4-FFF2-40B4-BE49-F238E27FC236}">
                <a16:creationId xmlns:a16="http://schemas.microsoft.com/office/drawing/2014/main" id="{89CA50A2-1611-099B-0E03-C15241F28853}"/>
              </a:ext>
            </a:extLst>
          </p:cNvPr>
          <p:cNvSpPr/>
          <p:nvPr/>
        </p:nvSpPr>
        <p:spPr>
          <a:xfrm>
            <a:off x="4983776" y="1572973"/>
            <a:ext cx="7061054" cy="1987494"/>
          </a:xfrm>
          <a:prstGeom prst="roundRect">
            <a:avLst/>
          </a:prstGeom>
          <a:solidFill>
            <a:schemeClr val="bg1"/>
          </a:solidFill>
          <a:ln>
            <a:solidFill>
              <a:srgbClr val="0F172A"/>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ZoneTexte 13">
            <a:extLst>
              <a:ext uri="{FF2B5EF4-FFF2-40B4-BE49-F238E27FC236}">
                <a16:creationId xmlns:a16="http://schemas.microsoft.com/office/drawing/2014/main" id="{4E0999B4-F9D3-6AD5-DC3E-AF854E789146}"/>
              </a:ext>
            </a:extLst>
          </p:cNvPr>
          <p:cNvSpPr txBox="1"/>
          <p:nvPr/>
        </p:nvSpPr>
        <p:spPr>
          <a:xfrm>
            <a:off x="616878" y="1575539"/>
            <a:ext cx="1288270" cy="351922"/>
          </a:xfrm>
          <a:prstGeom prst="rect">
            <a:avLst/>
          </a:prstGeom>
          <a:noFill/>
        </p:spPr>
        <p:txBody>
          <a:bodyPr wrap="square" rtlCol="0">
            <a:spAutoFit/>
          </a:bodyPr>
          <a:lstStyle/>
          <a:p>
            <a:pPr algn="ctr"/>
            <a:r>
              <a:rPr lang="fr-FR" sz="1600" b="1" noProof="0" dirty="0">
                <a:solidFill>
                  <a:schemeClr val="bg2">
                    <a:lumMod val="25000"/>
                  </a:schemeClr>
                </a:solidFill>
              </a:rPr>
              <a:t>Cygnus-X</a:t>
            </a:r>
          </a:p>
        </p:txBody>
      </p:sp>
      <p:sp>
        <p:nvSpPr>
          <p:cNvPr id="15" name="ZoneTexte 14">
            <a:extLst>
              <a:ext uri="{FF2B5EF4-FFF2-40B4-BE49-F238E27FC236}">
                <a16:creationId xmlns:a16="http://schemas.microsoft.com/office/drawing/2014/main" id="{C5BA995E-63E4-14B3-39FB-0AB9E64C9019}"/>
              </a:ext>
            </a:extLst>
          </p:cNvPr>
          <p:cNvSpPr txBox="1"/>
          <p:nvPr/>
        </p:nvSpPr>
        <p:spPr>
          <a:xfrm>
            <a:off x="805968" y="1884439"/>
            <a:ext cx="3627743" cy="1446550"/>
          </a:xfrm>
          <a:prstGeom prst="rect">
            <a:avLst/>
          </a:prstGeom>
          <a:noFill/>
        </p:spPr>
        <p:txBody>
          <a:bodyPr wrap="square" lIns="91440" tIns="45720" rIns="91440" bIns="45720" rtlCol="0" anchor="t">
            <a:spAutoFit/>
          </a:bodyPr>
          <a:lstStyle/>
          <a:p>
            <a:r>
              <a:rPr lang="fr-FR" sz="1100" b="1" noProof="0" dirty="0">
                <a:solidFill>
                  <a:schemeClr val="bg2">
                    <a:lumMod val="25000"/>
                  </a:schemeClr>
                </a:solidFill>
              </a:rPr>
              <a:t>1.5 </a:t>
            </a:r>
            <a:r>
              <a:rPr lang="fr-FR" sz="1100" b="1" noProof="0" dirty="0" err="1">
                <a:solidFill>
                  <a:schemeClr val="bg2">
                    <a:lumMod val="25000"/>
                  </a:schemeClr>
                </a:solidFill>
              </a:rPr>
              <a:t>kpc</a:t>
            </a:r>
            <a:r>
              <a:rPr lang="fr-FR" sz="1100" b="1" noProof="0" dirty="0">
                <a:solidFill>
                  <a:schemeClr val="bg2">
                    <a:lumMod val="25000"/>
                  </a:schemeClr>
                </a:solidFill>
              </a:rPr>
              <a:t> </a:t>
            </a:r>
            <a:r>
              <a:rPr lang="fr-FR" sz="1100" noProof="0" dirty="0">
                <a:solidFill>
                  <a:schemeClr val="bg2">
                    <a:lumMod val="25000"/>
                  </a:schemeClr>
                </a:solidFill>
              </a:rPr>
              <a:t>du Soleil</a:t>
            </a:r>
          </a:p>
          <a:p>
            <a:endParaRPr lang="fr-FR" sz="1100" noProof="0" dirty="0">
              <a:solidFill>
                <a:schemeClr val="bg2">
                  <a:lumMod val="25000"/>
                </a:schemeClr>
              </a:solidFill>
            </a:endParaRPr>
          </a:p>
          <a:p>
            <a:r>
              <a:rPr lang="fr-FR" sz="1100" noProof="0" dirty="0">
                <a:solidFill>
                  <a:schemeClr val="bg2">
                    <a:lumMod val="25000"/>
                  </a:schemeClr>
                </a:solidFill>
              </a:rPr>
              <a:t>Coordonnées: Entre </a:t>
            </a:r>
            <a:r>
              <a:rPr lang="fr-FR" sz="1100" b="1" noProof="0" dirty="0">
                <a:solidFill>
                  <a:schemeClr val="bg2">
                    <a:lumMod val="25000"/>
                  </a:schemeClr>
                </a:solidFill>
              </a:rPr>
              <a:t>77°</a:t>
            </a:r>
            <a:r>
              <a:rPr lang="fr-FR" sz="1100" noProof="0" dirty="0">
                <a:solidFill>
                  <a:schemeClr val="bg2">
                    <a:lumMod val="25000"/>
                  </a:schemeClr>
                </a:solidFill>
              </a:rPr>
              <a:t> et </a:t>
            </a:r>
            <a:r>
              <a:rPr lang="fr-FR" sz="1100" b="1" noProof="0" dirty="0">
                <a:solidFill>
                  <a:schemeClr val="bg2">
                    <a:lumMod val="25000"/>
                  </a:schemeClr>
                </a:solidFill>
              </a:rPr>
              <a:t>82°</a:t>
            </a:r>
            <a:endParaRPr lang="fr-FR" sz="1100" b="1" noProof="0" dirty="0">
              <a:solidFill>
                <a:schemeClr val="bg2">
                  <a:lumMod val="25000"/>
                </a:schemeClr>
              </a:solidFill>
              <a:ea typeface="Calibri"/>
              <a:cs typeface="Calibri"/>
            </a:endParaRPr>
          </a:p>
          <a:p>
            <a:endParaRPr lang="fr-FR" sz="1100" b="1" noProof="0" dirty="0">
              <a:solidFill>
                <a:schemeClr val="bg2">
                  <a:lumMod val="25000"/>
                </a:schemeClr>
              </a:solidFill>
            </a:endParaRPr>
          </a:p>
          <a:p>
            <a:r>
              <a:rPr lang="fr-FR" sz="1100" b="1" noProof="0" dirty="0">
                <a:solidFill>
                  <a:schemeClr val="bg2">
                    <a:lumMod val="25000"/>
                  </a:schemeClr>
                </a:solidFill>
              </a:rPr>
              <a:t>Nuage moléculaire </a:t>
            </a:r>
            <a:r>
              <a:rPr lang="fr-FR" sz="1100" noProof="0" dirty="0">
                <a:solidFill>
                  <a:schemeClr val="bg2">
                    <a:lumMod val="25000"/>
                  </a:schemeClr>
                </a:solidFill>
              </a:rPr>
              <a:t>géant</a:t>
            </a:r>
          </a:p>
          <a:p>
            <a:endParaRPr lang="fr-FR" sz="1100" noProof="0" dirty="0">
              <a:solidFill>
                <a:schemeClr val="bg2">
                  <a:lumMod val="25000"/>
                </a:schemeClr>
              </a:solidFill>
            </a:endParaRPr>
          </a:p>
          <a:p>
            <a:r>
              <a:rPr lang="fr-FR" sz="1100" noProof="0" dirty="0">
                <a:solidFill>
                  <a:schemeClr val="bg2">
                    <a:lumMod val="25000"/>
                  </a:schemeClr>
                </a:solidFill>
              </a:rPr>
              <a:t>Région </a:t>
            </a:r>
            <a:r>
              <a:rPr lang="fr-FR" sz="1100" b="1" noProof="0" dirty="0">
                <a:solidFill>
                  <a:schemeClr val="bg2">
                    <a:lumMod val="25000"/>
                  </a:schemeClr>
                </a:solidFill>
              </a:rPr>
              <a:t>très active (</a:t>
            </a:r>
            <a:r>
              <a:rPr lang="fr-FR" sz="1100" noProof="0" dirty="0">
                <a:solidFill>
                  <a:schemeClr val="bg2">
                    <a:lumMod val="25000"/>
                  </a:schemeClr>
                </a:solidFill>
              </a:rPr>
              <a:t>Etoiles jeunes et </a:t>
            </a:r>
            <a:r>
              <a:rPr lang="fr-FR" sz="1100" b="1" noProof="0" dirty="0">
                <a:solidFill>
                  <a:schemeClr val="bg2">
                    <a:lumMod val="25000"/>
                  </a:schemeClr>
                </a:solidFill>
              </a:rPr>
              <a:t>groupes d’étoiles massives)</a:t>
            </a:r>
            <a:endParaRPr lang="fr-FR" sz="1100" b="1" noProof="0" dirty="0">
              <a:solidFill>
                <a:schemeClr val="bg2">
                  <a:lumMod val="25000"/>
                </a:schemeClr>
              </a:solidFill>
              <a:ea typeface="Calibri"/>
              <a:cs typeface="Calibri"/>
            </a:endParaRPr>
          </a:p>
        </p:txBody>
      </p:sp>
      <p:pic>
        <p:nvPicPr>
          <p:cNvPr id="1026" name="Picture 2">
            <a:extLst>
              <a:ext uri="{FF2B5EF4-FFF2-40B4-BE49-F238E27FC236}">
                <a16:creationId xmlns:a16="http://schemas.microsoft.com/office/drawing/2014/main" id="{EC5FB120-E277-055E-C744-9AFA52BEC0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9451" y="3672922"/>
            <a:ext cx="3630015" cy="2842605"/>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3" name="Graphic 2" descr="Compass with solid fill">
            <a:extLst>
              <a:ext uri="{FF2B5EF4-FFF2-40B4-BE49-F238E27FC236}">
                <a16:creationId xmlns:a16="http://schemas.microsoft.com/office/drawing/2014/main" id="{8BCDB0C0-1ECF-1C37-9E90-11CCB9C21D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8464" y="2221696"/>
            <a:ext cx="340548" cy="293513"/>
          </a:xfrm>
          <a:prstGeom prst="rect">
            <a:avLst/>
          </a:prstGeom>
        </p:spPr>
      </p:pic>
      <p:pic>
        <p:nvPicPr>
          <p:cNvPr id="7" name="Graphic 6" descr="Ruler with solid fill">
            <a:extLst>
              <a:ext uri="{FF2B5EF4-FFF2-40B4-BE49-F238E27FC236}">
                <a16:creationId xmlns:a16="http://schemas.microsoft.com/office/drawing/2014/main" id="{7A6854C8-2036-27A8-EFB2-350C689E63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9719" y="1886419"/>
            <a:ext cx="276461" cy="277637"/>
          </a:xfrm>
          <a:prstGeom prst="rect">
            <a:avLst/>
          </a:prstGeom>
        </p:spPr>
      </p:pic>
      <p:pic>
        <p:nvPicPr>
          <p:cNvPr id="8" name="Graphic 7" descr="Cloud with solid fill">
            <a:extLst>
              <a:ext uri="{FF2B5EF4-FFF2-40B4-BE49-F238E27FC236}">
                <a16:creationId xmlns:a16="http://schemas.microsoft.com/office/drawing/2014/main" id="{5CCFA18E-17C3-E891-F29B-1E6618E2A50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2272" y="2519624"/>
            <a:ext cx="328247" cy="328247"/>
          </a:xfrm>
          <a:prstGeom prst="rect">
            <a:avLst/>
          </a:prstGeom>
        </p:spPr>
      </p:pic>
      <p:pic>
        <p:nvPicPr>
          <p:cNvPr id="10" name="Graphic 9" descr="Star with solid fill">
            <a:extLst>
              <a:ext uri="{FF2B5EF4-FFF2-40B4-BE49-F238E27FC236}">
                <a16:creationId xmlns:a16="http://schemas.microsoft.com/office/drawing/2014/main" id="{DE7F4407-2FDF-4037-05B5-85EF49E2A0B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0645" y="2879690"/>
            <a:ext cx="303127" cy="286379"/>
          </a:xfrm>
          <a:prstGeom prst="rect">
            <a:avLst/>
          </a:prstGeom>
        </p:spPr>
      </p:pic>
      <p:sp>
        <p:nvSpPr>
          <p:cNvPr id="20" name="ZoneTexte 13">
            <a:extLst>
              <a:ext uri="{FF2B5EF4-FFF2-40B4-BE49-F238E27FC236}">
                <a16:creationId xmlns:a16="http://schemas.microsoft.com/office/drawing/2014/main" id="{62337AE8-D007-661E-AC6C-6AFDED2C76D5}"/>
              </a:ext>
            </a:extLst>
          </p:cNvPr>
          <p:cNvSpPr txBox="1"/>
          <p:nvPr/>
        </p:nvSpPr>
        <p:spPr>
          <a:xfrm>
            <a:off x="5414965" y="1583913"/>
            <a:ext cx="3080225"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Deux articles clés de référence</a:t>
            </a:r>
            <a:endParaRPr lang="fr-FR" sz="1600" b="1" noProof="0" dirty="0">
              <a:solidFill>
                <a:schemeClr val="bg2">
                  <a:lumMod val="25000"/>
                </a:schemeClr>
              </a:solidFill>
              <a:ea typeface="Calibri"/>
              <a:cs typeface="Calibri"/>
            </a:endParaRPr>
          </a:p>
        </p:txBody>
      </p:sp>
      <p:pic>
        <p:nvPicPr>
          <p:cNvPr id="21" name="Graphic 20" descr="Open book with solid fill">
            <a:extLst>
              <a:ext uri="{FF2B5EF4-FFF2-40B4-BE49-F238E27FC236}">
                <a16:creationId xmlns:a16="http://schemas.microsoft.com/office/drawing/2014/main" id="{720EDD8C-E669-14CD-C9A5-5C92211BB4D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086140" y="1606900"/>
            <a:ext cx="353368" cy="328247"/>
          </a:xfrm>
          <a:prstGeom prst="rect">
            <a:avLst/>
          </a:prstGeom>
        </p:spPr>
      </p:pic>
      <p:sp>
        <p:nvSpPr>
          <p:cNvPr id="23" name="Rectangle : coins arrondis 12">
            <a:extLst>
              <a:ext uri="{FF2B5EF4-FFF2-40B4-BE49-F238E27FC236}">
                <a16:creationId xmlns:a16="http://schemas.microsoft.com/office/drawing/2014/main" id="{305F62FF-3BE9-5EBB-7EAE-E09CC1F26F67}"/>
              </a:ext>
            </a:extLst>
          </p:cNvPr>
          <p:cNvSpPr/>
          <p:nvPr/>
        </p:nvSpPr>
        <p:spPr>
          <a:xfrm>
            <a:off x="5151249" y="2159124"/>
            <a:ext cx="3167316" cy="1175254"/>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ZoneTexte 13">
            <a:extLst>
              <a:ext uri="{FF2B5EF4-FFF2-40B4-BE49-F238E27FC236}">
                <a16:creationId xmlns:a16="http://schemas.microsoft.com/office/drawing/2014/main" id="{CC003EEB-B52A-4A24-461E-8D8D46C88719}"/>
              </a:ext>
            </a:extLst>
          </p:cNvPr>
          <p:cNvSpPr txBox="1"/>
          <p:nvPr/>
        </p:nvSpPr>
        <p:spPr>
          <a:xfrm>
            <a:off x="5239118" y="2161693"/>
            <a:ext cx="3080225" cy="800219"/>
          </a:xfrm>
          <a:prstGeom prst="rect">
            <a:avLst/>
          </a:prstGeom>
          <a:noFill/>
        </p:spPr>
        <p:txBody>
          <a:bodyPr wrap="square" lIns="91440" tIns="45720" rIns="91440" bIns="45720" rtlCol="0" anchor="t">
            <a:spAutoFit/>
          </a:bodyPr>
          <a:lstStyle/>
          <a:p>
            <a:r>
              <a:rPr lang="fr-FR" sz="1200" b="1" noProof="0" dirty="0">
                <a:solidFill>
                  <a:schemeClr val="bg2">
                    <a:lumMod val="25000"/>
                  </a:schemeClr>
                </a:solidFill>
              </a:rPr>
              <a:t>Rygl et al.</a:t>
            </a:r>
          </a:p>
          <a:p>
            <a:endParaRPr lang="fr-FR" sz="1200" b="1"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Déterminent les </a:t>
            </a:r>
            <a:r>
              <a:rPr lang="fr-FR" sz="1100" b="1" noProof="0" dirty="0">
                <a:solidFill>
                  <a:schemeClr val="bg2">
                    <a:lumMod val="25000"/>
                  </a:schemeClr>
                </a:solidFill>
                <a:ea typeface="Calibri"/>
                <a:cs typeface="Calibri"/>
              </a:rPr>
              <a:t>vitesses </a:t>
            </a:r>
            <a:r>
              <a:rPr lang="fr-FR" sz="1100" noProof="0" dirty="0">
                <a:solidFill>
                  <a:schemeClr val="bg2">
                    <a:lumMod val="25000"/>
                  </a:schemeClr>
                </a:solidFill>
                <a:ea typeface="Calibri"/>
                <a:cs typeface="Calibri"/>
              </a:rPr>
              <a:t>et les </a:t>
            </a:r>
            <a:r>
              <a:rPr lang="fr-FR" sz="1100" b="1" noProof="0" dirty="0">
                <a:solidFill>
                  <a:schemeClr val="bg2">
                    <a:lumMod val="25000"/>
                  </a:schemeClr>
                </a:solidFill>
                <a:ea typeface="Calibri"/>
                <a:cs typeface="Calibri"/>
              </a:rPr>
              <a:t>positions </a:t>
            </a:r>
            <a:r>
              <a:rPr lang="fr-FR" sz="1100" noProof="0" dirty="0">
                <a:solidFill>
                  <a:schemeClr val="bg2">
                    <a:lumMod val="25000"/>
                  </a:schemeClr>
                </a:solidFill>
                <a:ea typeface="Calibri"/>
                <a:cs typeface="Calibri"/>
              </a:rPr>
              <a:t>de </a:t>
            </a:r>
            <a:r>
              <a:rPr lang="fr-FR" sz="1100" b="1" noProof="0" dirty="0">
                <a:solidFill>
                  <a:schemeClr val="bg2">
                    <a:lumMod val="25000"/>
                  </a:schemeClr>
                </a:solidFill>
                <a:ea typeface="Calibri"/>
                <a:cs typeface="Calibri"/>
              </a:rPr>
              <a:t>4 nuages moléculaires </a:t>
            </a:r>
            <a:r>
              <a:rPr lang="fr-FR" sz="1100" noProof="0" dirty="0">
                <a:solidFill>
                  <a:schemeClr val="bg2">
                    <a:lumMod val="25000"/>
                  </a:schemeClr>
                </a:solidFill>
                <a:ea typeface="Calibri"/>
                <a:cs typeface="Calibri"/>
              </a:rPr>
              <a:t>grâce à des mesures</a:t>
            </a:r>
            <a:r>
              <a:rPr lang="fr-FR" sz="1100" b="1" noProof="0" dirty="0">
                <a:solidFill>
                  <a:schemeClr val="bg2">
                    <a:lumMod val="25000"/>
                  </a:schemeClr>
                </a:solidFill>
                <a:ea typeface="Calibri"/>
                <a:cs typeface="Calibri"/>
              </a:rPr>
              <a:t> masers</a:t>
            </a:r>
            <a:endParaRPr lang="fr-FR" noProof="0" dirty="0"/>
          </a:p>
        </p:txBody>
      </p:sp>
      <p:sp>
        <p:nvSpPr>
          <p:cNvPr id="28" name="TextBox 27">
            <a:extLst>
              <a:ext uri="{FF2B5EF4-FFF2-40B4-BE49-F238E27FC236}">
                <a16:creationId xmlns:a16="http://schemas.microsoft.com/office/drawing/2014/main" id="{52000229-A40C-D3DF-AF56-617CE3C1CB68}"/>
              </a:ext>
            </a:extLst>
          </p:cNvPr>
          <p:cNvSpPr txBox="1"/>
          <p:nvPr/>
        </p:nvSpPr>
        <p:spPr>
          <a:xfrm>
            <a:off x="7661868" y="2177142"/>
            <a:ext cx="83736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sz="1200" i="1" noProof="0" dirty="0">
                <a:ea typeface="Calibri"/>
                <a:cs typeface="Calibri"/>
              </a:rPr>
              <a:t>2018</a:t>
            </a:r>
            <a:endParaRPr lang="fr-FR" sz="1200" i="1" noProof="0" dirty="0"/>
          </a:p>
        </p:txBody>
      </p:sp>
      <p:sp>
        <p:nvSpPr>
          <p:cNvPr id="29" name="Rectangle : coins arrondis 12">
            <a:extLst>
              <a:ext uri="{FF2B5EF4-FFF2-40B4-BE49-F238E27FC236}">
                <a16:creationId xmlns:a16="http://schemas.microsoft.com/office/drawing/2014/main" id="{EF8BBA97-7758-E878-33DB-D8282782077B}"/>
              </a:ext>
            </a:extLst>
          </p:cNvPr>
          <p:cNvSpPr/>
          <p:nvPr/>
        </p:nvSpPr>
        <p:spPr>
          <a:xfrm>
            <a:off x="8643051" y="2142376"/>
            <a:ext cx="3167316" cy="1183628"/>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ZoneTexte 13">
            <a:extLst>
              <a:ext uri="{FF2B5EF4-FFF2-40B4-BE49-F238E27FC236}">
                <a16:creationId xmlns:a16="http://schemas.microsoft.com/office/drawing/2014/main" id="{40B4A972-64D9-85BC-3CEE-316C9249D55F}"/>
              </a:ext>
            </a:extLst>
          </p:cNvPr>
          <p:cNvSpPr txBox="1"/>
          <p:nvPr/>
        </p:nvSpPr>
        <p:spPr>
          <a:xfrm>
            <a:off x="8730920" y="2144944"/>
            <a:ext cx="3080225" cy="1138773"/>
          </a:xfrm>
          <a:prstGeom prst="rect">
            <a:avLst/>
          </a:prstGeom>
          <a:noFill/>
        </p:spPr>
        <p:txBody>
          <a:bodyPr wrap="square" lIns="91440" tIns="45720" rIns="91440" bIns="45720" rtlCol="0" anchor="t">
            <a:spAutoFit/>
          </a:bodyPr>
          <a:lstStyle/>
          <a:p>
            <a:r>
              <a:rPr lang="fr-FR" sz="1200" b="1" noProof="0" dirty="0">
                <a:solidFill>
                  <a:schemeClr val="bg2">
                    <a:lumMod val="25000"/>
                  </a:schemeClr>
                </a:solidFill>
              </a:rPr>
              <a:t>Quintana et Wright</a:t>
            </a:r>
          </a:p>
          <a:p>
            <a:endParaRPr lang="fr-FR" sz="1200" b="1" noProof="0" dirty="0">
              <a:solidFill>
                <a:schemeClr val="bg2">
                  <a:lumMod val="25000"/>
                </a:schemeClr>
              </a:solidFill>
              <a:ea typeface="Calibri"/>
              <a:cs typeface="Calibri"/>
            </a:endParaRPr>
          </a:p>
          <a:p>
            <a:r>
              <a:rPr lang="fr-FR" sz="1100" b="1" noProof="0" dirty="0">
                <a:solidFill>
                  <a:schemeClr val="bg2">
                    <a:lumMod val="25000"/>
                  </a:schemeClr>
                </a:solidFill>
                <a:ea typeface="Calibri"/>
                <a:cs typeface="Calibri"/>
              </a:rPr>
              <a:t>Redéfinissent les groupes</a:t>
            </a:r>
            <a:r>
              <a:rPr lang="fr-FR" sz="1100" noProof="0" dirty="0">
                <a:solidFill>
                  <a:schemeClr val="bg2">
                    <a:lumMod val="25000"/>
                  </a:schemeClr>
                </a:solidFill>
                <a:ea typeface="Calibri"/>
                <a:cs typeface="Calibri"/>
              </a:rPr>
              <a:t> d’étoiles massives historiques (</a:t>
            </a:r>
            <a:r>
              <a:rPr lang="fr-FR" sz="1100" noProof="0" dirty="0" err="1">
                <a:solidFill>
                  <a:schemeClr val="bg2">
                    <a:lumMod val="25000"/>
                  </a:schemeClr>
                </a:solidFill>
                <a:ea typeface="Calibri"/>
                <a:cs typeface="Calibri"/>
              </a:rPr>
              <a:t>Cyg</a:t>
            </a:r>
            <a:r>
              <a:rPr lang="fr-FR" sz="1100" noProof="0" dirty="0">
                <a:solidFill>
                  <a:schemeClr val="bg2">
                    <a:lumMod val="25000"/>
                  </a:schemeClr>
                </a:solidFill>
                <a:ea typeface="Calibri"/>
                <a:cs typeface="Calibri"/>
              </a:rPr>
              <a:t> OB2, etc.). </a:t>
            </a:r>
            <a:r>
              <a:rPr lang="fr-FR" sz="1100" b="1" noProof="0" dirty="0">
                <a:solidFill>
                  <a:schemeClr val="bg2">
                    <a:lumMod val="25000"/>
                  </a:schemeClr>
                </a:solidFill>
                <a:ea typeface="Calibri"/>
                <a:cs typeface="Calibri"/>
              </a:rPr>
              <a:t>6 groupes</a:t>
            </a:r>
            <a:r>
              <a:rPr lang="fr-FR" sz="1100" noProof="0" dirty="0">
                <a:solidFill>
                  <a:schemeClr val="bg2">
                    <a:lumMod val="25000"/>
                  </a:schemeClr>
                </a:solidFill>
                <a:ea typeface="Calibri"/>
                <a:cs typeface="Calibri"/>
              </a:rPr>
              <a:t> d’étoiles OB (de A à F). Déterminent leurs </a:t>
            </a:r>
            <a:r>
              <a:rPr lang="fr-FR" sz="1100" b="1" noProof="0" dirty="0">
                <a:solidFill>
                  <a:schemeClr val="bg2">
                    <a:lumMod val="25000"/>
                  </a:schemeClr>
                </a:solidFill>
                <a:ea typeface="Calibri"/>
                <a:cs typeface="Calibri"/>
              </a:rPr>
              <a:t>positions </a:t>
            </a:r>
            <a:r>
              <a:rPr lang="fr-FR" sz="1100" noProof="0" dirty="0">
                <a:solidFill>
                  <a:schemeClr val="bg2">
                    <a:lumMod val="25000"/>
                  </a:schemeClr>
                </a:solidFill>
                <a:ea typeface="Calibri"/>
                <a:cs typeface="Calibri"/>
              </a:rPr>
              <a:t>et leurs </a:t>
            </a:r>
            <a:r>
              <a:rPr lang="fr-FR" sz="1100" b="1" noProof="0" dirty="0">
                <a:solidFill>
                  <a:schemeClr val="bg2">
                    <a:lumMod val="25000"/>
                  </a:schemeClr>
                </a:solidFill>
                <a:ea typeface="Calibri"/>
                <a:cs typeface="Calibri"/>
              </a:rPr>
              <a:t>vitesses</a:t>
            </a:r>
            <a:endParaRPr lang="fr-FR" noProof="0" dirty="0">
              <a:solidFill>
                <a:schemeClr val="bg2">
                  <a:lumMod val="25000"/>
                </a:schemeClr>
              </a:solidFill>
              <a:ea typeface="Calibri"/>
              <a:cs typeface="Calibri"/>
            </a:endParaRPr>
          </a:p>
        </p:txBody>
      </p:sp>
      <p:sp>
        <p:nvSpPr>
          <p:cNvPr id="31" name="TextBox 30">
            <a:extLst>
              <a:ext uri="{FF2B5EF4-FFF2-40B4-BE49-F238E27FC236}">
                <a16:creationId xmlns:a16="http://schemas.microsoft.com/office/drawing/2014/main" id="{E276F026-CCCC-A76A-2D1E-D635DAB4970B}"/>
              </a:ext>
            </a:extLst>
          </p:cNvPr>
          <p:cNvSpPr txBox="1"/>
          <p:nvPr/>
        </p:nvSpPr>
        <p:spPr>
          <a:xfrm>
            <a:off x="11220659" y="2168767"/>
            <a:ext cx="83736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sz="1200" i="1" noProof="0" dirty="0">
                <a:ea typeface="Calibri"/>
                <a:cs typeface="Calibri"/>
              </a:rPr>
              <a:t>2021</a:t>
            </a:r>
            <a:endParaRPr lang="fr-FR" sz="1200" i="1" noProof="0" dirty="0"/>
          </a:p>
        </p:txBody>
      </p:sp>
      <p:sp>
        <p:nvSpPr>
          <p:cNvPr id="32" name="Rectangle : coins arrondis 8">
            <a:extLst>
              <a:ext uri="{FF2B5EF4-FFF2-40B4-BE49-F238E27FC236}">
                <a16:creationId xmlns:a16="http://schemas.microsoft.com/office/drawing/2014/main" id="{61373600-2115-1FBE-8634-7504EB28ADD2}"/>
              </a:ext>
            </a:extLst>
          </p:cNvPr>
          <p:cNvSpPr/>
          <p:nvPr/>
        </p:nvSpPr>
        <p:spPr>
          <a:xfrm>
            <a:off x="4932390" y="4053219"/>
            <a:ext cx="3590427" cy="1729885"/>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33" name="ZoneTexte 13">
            <a:extLst>
              <a:ext uri="{FF2B5EF4-FFF2-40B4-BE49-F238E27FC236}">
                <a16:creationId xmlns:a16="http://schemas.microsoft.com/office/drawing/2014/main" id="{2CAE00DF-8EF1-72F3-CA4C-BE601486FF16}"/>
              </a:ext>
            </a:extLst>
          </p:cNvPr>
          <p:cNvSpPr txBox="1"/>
          <p:nvPr/>
        </p:nvSpPr>
        <p:spPr>
          <a:xfrm>
            <a:off x="5096769" y="4070879"/>
            <a:ext cx="2602928" cy="338554"/>
          </a:xfrm>
          <a:prstGeom prst="rect">
            <a:avLst/>
          </a:prstGeom>
          <a:noFill/>
        </p:spPr>
        <p:txBody>
          <a:bodyPr wrap="square" lIns="91440" tIns="45720" rIns="91440" bIns="45720" rtlCol="0" anchor="t">
            <a:spAutoFit/>
          </a:bodyPr>
          <a:lstStyle/>
          <a:p>
            <a:pPr algn="ctr"/>
            <a:r>
              <a:rPr lang="fr-FR" sz="1600" b="1" noProof="0" dirty="0">
                <a:solidFill>
                  <a:schemeClr val="bg2">
                    <a:lumMod val="25000"/>
                  </a:schemeClr>
                </a:solidFill>
              </a:rPr>
              <a:t>Présentation des résultats</a:t>
            </a:r>
            <a:endParaRPr lang="fr-FR" noProof="0" dirty="0">
              <a:solidFill>
                <a:schemeClr val="bg2">
                  <a:lumMod val="25000"/>
                </a:schemeClr>
              </a:solidFill>
            </a:endParaRPr>
          </a:p>
        </p:txBody>
      </p:sp>
      <p:sp>
        <p:nvSpPr>
          <p:cNvPr id="34" name="ZoneTexte 14">
            <a:extLst>
              <a:ext uri="{FF2B5EF4-FFF2-40B4-BE49-F238E27FC236}">
                <a16:creationId xmlns:a16="http://schemas.microsoft.com/office/drawing/2014/main" id="{EE13E3CD-E2C0-F1D9-0281-E4D1EE402D99}"/>
              </a:ext>
            </a:extLst>
          </p:cNvPr>
          <p:cNvSpPr txBox="1"/>
          <p:nvPr/>
        </p:nvSpPr>
        <p:spPr>
          <a:xfrm>
            <a:off x="5260737" y="4538878"/>
            <a:ext cx="3627743" cy="769441"/>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Présentation dans des</a:t>
            </a:r>
            <a:r>
              <a:rPr lang="fr-FR" sz="1100" b="1" noProof="0" dirty="0">
                <a:solidFill>
                  <a:schemeClr val="bg2">
                    <a:lumMod val="25000"/>
                  </a:schemeClr>
                </a:solidFill>
              </a:rPr>
              <a:t> référentiels différents</a:t>
            </a:r>
            <a:endParaRPr lang="fr-FR" noProof="0" dirty="0">
              <a:solidFill>
                <a:schemeClr val="bg2">
                  <a:lumMod val="25000"/>
                </a:schemeClr>
              </a:solidFill>
            </a:endParaRPr>
          </a:p>
          <a:p>
            <a:endParaRPr lang="fr-FR" sz="1100" b="1" noProof="0" dirty="0">
              <a:solidFill>
                <a:schemeClr val="bg2">
                  <a:lumMod val="25000"/>
                </a:schemeClr>
              </a:solidFill>
              <a:ea typeface="Calibri"/>
              <a:cs typeface="Calibri"/>
            </a:endParaRPr>
          </a:p>
          <a:p>
            <a:endParaRPr lang="fr-FR" sz="1100"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Intégration </a:t>
            </a:r>
            <a:r>
              <a:rPr lang="fr-FR" sz="1100" b="1" noProof="0" dirty="0">
                <a:solidFill>
                  <a:schemeClr val="bg2">
                    <a:lumMod val="25000"/>
                  </a:schemeClr>
                </a:solidFill>
                <a:ea typeface="Calibri"/>
                <a:cs typeface="Calibri"/>
              </a:rPr>
              <a:t>d'hypothèses structurantes différentes </a:t>
            </a:r>
          </a:p>
        </p:txBody>
      </p:sp>
      <p:pic>
        <p:nvPicPr>
          <p:cNvPr id="39" name="Graphic 38" descr="Upward trend with solid fill">
            <a:extLst>
              <a:ext uri="{FF2B5EF4-FFF2-40B4-BE49-F238E27FC236}">
                <a16:creationId xmlns:a16="http://schemas.microsoft.com/office/drawing/2014/main" id="{57ADDE15-31EC-E8AB-83BA-463285AE94E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985657" y="4093866"/>
            <a:ext cx="294752" cy="328246"/>
          </a:xfrm>
          <a:prstGeom prst="rect">
            <a:avLst/>
          </a:prstGeom>
        </p:spPr>
      </p:pic>
      <p:pic>
        <p:nvPicPr>
          <p:cNvPr id="40" name="Graphic 39" descr="Arrow Right with solid fill">
            <a:extLst>
              <a:ext uri="{FF2B5EF4-FFF2-40B4-BE49-F238E27FC236}">
                <a16:creationId xmlns:a16="http://schemas.microsoft.com/office/drawing/2014/main" id="{00FBB37F-262E-AF6A-98DC-600E26DBFA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027525" y="4537668"/>
            <a:ext cx="244511" cy="328246"/>
          </a:xfrm>
          <a:prstGeom prst="rect">
            <a:avLst/>
          </a:prstGeom>
        </p:spPr>
      </p:pic>
      <p:pic>
        <p:nvPicPr>
          <p:cNvPr id="41" name="Graphic 40" descr="Arrow Right with solid fill">
            <a:extLst>
              <a:ext uri="{FF2B5EF4-FFF2-40B4-BE49-F238E27FC236}">
                <a16:creationId xmlns:a16="http://schemas.microsoft.com/office/drawing/2014/main" id="{E2280199-3076-5367-B156-C66699678BA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035898" y="5006591"/>
            <a:ext cx="244511" cy="328246"/>
          </a:xfrm>
          <a:prstGeom prst="rect">
            <a:avLst/>
          </a:prstGeom>
        </p:spPr>
      </p:pic>
      <p:sp>
        <p:nvSpPr>
          <p:cNvPr id="42" name="Rectangle : coins arrondis 8">
            <a:extLst>
              <a:ext uri="{FF2B5EF4-FFF2-40B4-BE49-F238E27FC236}">
                <a16:creationId xmlns:a16="http://schemas.microsoft.com/office/drawing/2014/main" id="{B984D074-8ECA-1BB2-A692-397B57BF8082}"/>
              </a:ext>
            </a:extLst>
          </p:cNvPr>
          <p:cNvSpPr/>
          <p:nvPr/>
        </p:nvSpPr>
        <p:spPr>
          <a:xfrm>
            <a:off x="8608410" y="4053216"/>
            <a:ext cx="3431328" cy="1729887"/>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43" name="ZoneTexte 13">
            <a:extLst>
              <a:ext uri="{FF2B5EF4-FFF2-40B4-BE49-F238E27FC236}">
                <a16:creationId xmlns:a16="http://schemas.microsoft.com/office/drawing/2014/main" id="{CDC58F9C-07CA-DC0A-47A4-B92BF13C7745}"/>
              </a:ext>
            </a:extLst>
          </p:cNvPr>
          <p:cNvSpPr txBox="1"/>
          <p:nvPr/>
        </p:nvSpPr>
        <p:spPr>
          <a:xfrm>
            <a:off x="8848153" y="4054131"/>
            <a:ext cx="2602928" cy="338554"/>
          </a:xfrm>
          <a:prstGeom prst="rect">
            <a:avLst/>
          </a:prstGeom>
          <a:noFill/>
        </p:spPr>
        <p:txBody>
          <a:bodyPr wrap="square" lIns="91440" tIns="45720" rIns="91440" bIns="45720" rtlCol="0" anchor="t">
            <a:spAutoFit/>
          </a:bodyPr>
          <a:lstStyle/>
          <a:p>
            <a:pPr algn="ctr"/>
            <a:r>
              <a:rPr lang="fr-FR" sz="1600" b="1" noProof="0" dirty="0">
                <a:solidFill>
                  <a:schemeClr val="bg2">
                    <a:lumMod val="25000"/>
                  </a:schemeClr>
                </a:solidFill>
              </a:rPr>
              <a:t>Hypothèses structurantes</a:t>
            </a:r>
            <a:endParaRPr lang="fr-FR" noProof="0" dirty="0"/>
          </a:p>
        </p:txBody>
      </p:sp>
      <p:sp>
        <p:nvSpPr>
          <p:cNvPr id="44" name="ZoneTexte 14">
            <a:extLst>
              <a:ext uri="{FF2B5EF4-FFF2-40B4-BE49-F238E27FC236}">
                <a16:creationId xmlns:a16="http://schemas.microsoft.com/office/drawing/2014/main" id="{7224A5BC-B05F-DAB6-9FBF-285055685E03}"/>
              </a:ext>
            </a:extLst>
          </p:cNvPr>
          <p:cNvSpPr txBox="1"/>
          <p:nvPr/>
        </p:nvSpPr>
        <p:spPr>
          <a:xfrm>
            <a:off x="9003747" y="4681230"/>
            <a:ext cx="1174271" cy="261610"/>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Position du Soleil</a:t>
            </a:r>
            <a:endParaRPr lang="fr-FR" noProof="0" dirty="0">
              <a:solidFill>
                <a:srgbClr val="000000"/>
              </a:solidFill>
              <a:ea typeface="Calibri"/>
              <a:cs typeface="Calibri"/>
            </a:endParaRPr>
          </a:p>
        </p:txBody>
      </p:sp>
      <p:pic>
        <p:nvPicPr>
          <p:cNvPr id="49" name="Graphic 48" descr="Compass with solid fill">
            <a:extLst>
              <a:ext uri="{FF2B5EF4-FFF2-40B4-BE49-F238E27FC236}">
                <a16:creationId xmlns:a16="http://schemas.microsoft.com/office/drawing/2014/main" id="{87F208D5-DA82-6F3A-7128-852F3FF1F6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04859" y="4666794"/>
            <a:ext cx="340548" cy="293513"/>
          </a:xfrm>
          <a:prstGeom prst="rect">
            <a:avLst/>
          </a:prstGeom>
        </p:spPr>
      </p:pic>
      <p:sp>
        <p:nvSpPr>
          <p:cNvPr id="50" name="ZoneTexte 14">
            <a:extLst>
              <a:ext uri="{FF2B5EF4-FFF2-40B4-BE49-F238E27FC236}">
                <a16:creationId xmlns:a16="http://schemas.microsoft.com/office/drawing/2014/main" id="{5A0F412D-81E8-72BD-49E7-C4C5C476D4FF}"/>
              </a:ext>
            </a:extLst>
          </p:cNvPr>
          <p:cNvSpPr txBox="1"/>
          <p:nvPr/>
        </p:nvSpPr>
        <p:spPr>
          <a:xfrm>
            <a:off x="10611483" y="4681229"/>
            <a:ext cx="1174271" cy="261610"/>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Vitesse du Soleil</a:t>
            </a:r>
            <a:endParaRPr lang="fr-FR" noProof="0" dirty="0">
              <a:solidFill>
                <a:schemeClr val="bg2">
                  <a:lumMod val="25000"/>
                </a:schemeClr>
              </a:solidFill>
            </a:endParaRPr>
          </a:p>
        </p:txBody>
      </p:sp>
      <p:pic>
        <p:nvPicPr>
          <p:cNvPr id="51" name="Graphic 50" descr="Fast Forward with solid fill">
            <a:extLst>
              <a:ext uri="{FF2B5EF4-FFF2-40B4-BE49-F238E27FC236}">
                <a16:creationId xmlns:a16="http://schemas.microsoft.com/office/drawing/2014/main" id="{326F97A6-5216-F16C-D7AF-273921EE4F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411767" y="4688392"/>
            <a:ext cx="286379" cy="252886"/>
          </a:xfrm>
          <a:prstGeom prst="rect">
            <a:avLst/>
          </a:prstGeom>
        </p:spPr>
      </p:pic>
      <p:sp>
        <p:nvSpPr>
          <p:cNvPr id="52" name="ZoneTexte 14">
            <a:extLst>
              <a:ext uri="{FF2B5EF4-FFF2-40B4-BE49-F238E27FC236}">
                <a16:creationId xmlns:a16="http://schemas.microsoft.com/office/drawing/2014/main" id="{984AFC53-7DBA-EC1F-0CDA-2D9D42981A75}"/>
              </a:ext>
            </a:extLst>
          </p:cNvPr>
          <p:cNvSpPr txBox="1"/>
          <p:nvPr/>
        </p:nvSpPr>
        <p:spPr>
          <a:xfrm>
            <a:off x="9003747" y="5133405"/>
            <a:ext cx="1174271" cy="430887"/>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Distance au centre galactique</a:t>
            </a:r>
            <a:endParaRPr lang="fr-FR" noProof="0" dirty="0">
              <a:solidFill>
                <a:schemeClr val="bg2">
                  <a:lumMod val="25000"/>
                </a:schemeClr>
              </a:solidFill>
            </a:endParaRPr>
          </a:p>
        </p:txBody>
      </p:sp>
      <p:sp>
        <p:nvSpPr>
          <p:cNvPr id="53" name="ZoneTexte 14">
            <a:extLst>
              <a:ext uri="{FF2B5EF4-FFF2-40B4-BE49-F238E27FC236}">
                <a16:creationId xmlns:a16="http://schemas.microsoft.com/office/drawing/2014/main" id="{0AFF79BB-6CAA-FF59-D5E7-B83E5E7A2C54}"/>
              </a:ext>
            </a:extLst>
          </p:cNvPr>
          <p:cNvSpPr txBox="1"/>
          <p:nvPr/>
        </p:nvSpPr>
        <p:spPr>
          <a:xfrm>
            <a:off x="10611484" y="5133405"/>
            <a:ext cx="1433852" cy="430887"/>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Vitesse de rotation galactique</a:t>
            </a:r>
            <a:endParaRPr lang="fr-FR" noProof="0" dirty="0">
              <a:solidFill>
                <a:schemeClr val="bg2">
                  <a:lumMod val="25000"/>
                </a:schemeClr>
              </a:solidFill>
            </a:endParaRPr>
          </a:p>
        </p:txBody>
      </p:sp>
      <p:pic>
        <p:nvPicPr>
          <p:cNvPr id="54" name="Graphic 53" descr="Ruler with solid fill">
            <a:extLst>
              <a:ext uri="{FF2B5EF4-FFF2-40B4-BE49-F238E27FC236}">
                <a16:creationId xmlns:a16="http://schemas.microsoft.com/office/drawing/2014/main" id="{A189C4D6-1368-CC85-A8C6-C8776C1B5A6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27740" y="5210748"/>
            <a:ext cx="276461" cy="277637"/>
          </a:xfrm>
          <a:prstGeom prst="rect">
            <a:avLst/>
          </a:prstGeom>
        </p:spPr>
      </p:pic>
      <p:pic>
        <p:nvPicPr>
          <p:cNvPr id="55" name="Graphic 54" descr="Arrow circle with solid fill">
            <a:extLst>
              <a:ext uri="{FF2B5EF4-FFF2-40B4-BE49-F238E27FC236}">
                <a16:creationId xmlns:a16="http://schemas.microsoft.com/office/drawing/2014/main" id="{BA785DBA-EC44-7421-2CF0-4787FC9FAF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403393" y="5207557"/>
            <a:ext cx="311499" cy="328247"/>
          </a:xfrm>
          <a:prstGeom prst="rect">
            <a:avLst/>
          </a:prstGeom>
        </p:spPr>
      </p:pic>
      <p:pic>
        <p:nvPicPr>
          <p:cNvPr id="56" name="Graphic 55" descr="Gears with solid fill">
            <a:extLst>
              <a:ext uri="{FF2B5EF4-FFF2-40B4-BE49-F238E27FC236}">
                <a16:creationId xmlns:a16="http://schemas.microsoft.com/office/drawing/2014/main" id="{571A4B28-E438-BB43-24A8-44E6E0F6236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720294" y="4077118"/>
            <a:ext cx="294752" cy="328247"/>
          </a:xfrm>
          <a:prstGeom prst="rect">
            <a:avLst/>
          </a:prstGeom>
        </p:spPr>
      </p:pic>
      <p:sp>
        <p:nvSpPr>
          <p:cNvPr id="57" name="TextBox 56">
            <a:extLst>
              <a:ext uri="{FF2B5EF4-FFF2-40B4-BE49-F238E27FC236}">
                <a16:creationId xmlns:a16="http://schemas.microsoft.com/office/drawing/2014/main" id="{AF47A34B-B03D-D232-CCC1-35C4159A7B7E}"/>
              </a:ext>
            </a:extLst>
          </p:cNvPr>
          <p:cNvSpPr txBox="1"/>
          <p:nvPr/>
        </p:nvSpPr>
        <p:spPr>
          <a:xfrm>
            <a:off x="448464" y="6238528"/>
            <a:ext cx="3508549"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200" noProof="0" dirty="0">
                <a:solidFill>
                  <a:srgbClr val="FFFFFF"/>
                </a:solidFill>
                <a:ea typeface="Calibri"/>
                <a:cs typeface="Calibri"/>
              </a:rPr>
              <a:t>Cygnus X by Spitzer</a:t>
            </a:r>
            <a:endParaRPr lang="fr-FR" sz="1200" noProof="0" dirty="0">
              <a:solidFill>
                <a:srgbClr val="FFFFFF"/>
              </a:solidFill>
            </a:endParaRPr>
          </a:p>
        </p:txBody>
      </p:sp>
    </p:spTree>
    <p:extLst>
      <p:ext uri="{BB962C8B-B14F-4D97-AF65-F5344CB8AC3E}">
        <p14:creationId xmlns:p14="http://schemas.microsoft.com/office/powerpoint/2010/main" val="3542687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AC214-5978-4064-393D-8174B8BA0D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8A7F5F2-1C10-DC19-148A-F488874BFAEC}"/>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FDF7464C-5E12-E37D-71D3-F6A6D7162C1F}"/>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Enjeux et Objectifs</a:t>
            </a:r>
          </a:p>
        </p:txBody>
      </p:sp>
      <p:sp>
        <p:nvSpPr>
          <p:cNvPr id="4" name="Espace réservé de la date 3">
            <a:extLst>
              <a:ext uri="{FF2B5EF4-FFF2-40B4-BE49-F238E27FC236}">
                <a16:creationId xmlns:a16="http://schemas.microsoft.com/office/drawing/2014/main" id="{7A87F890-7A48-0C17-E90D-203B3273F870}"/>
              </a:ext>
            </a:extLst>
          </p:cNvPr>
          <p:cNvSpPr>
            <a:spLocks noGrp="1"/>
          </p:cNvSpPr>
          <p:nvPr>
            <p:ph type="dt" sz="half" idx="10"/>
          </p:nvPr>
        </p:nvSpPr>
        <p:spPr>
          <a:xfrm>
            <a:off x="195948" y="6400195"/>
            <a:ext cx="2743200" cy="365125"/>
          </a:xfrm>
        </p:spPr>
        <p:txBody>
          <a:bodyPr/>
          <a:lstStyle/>
          <a:p>
            <a:fld id="{E2DC191A-0AFA-4748-A17D-759B6F9426B9}" type="datetime1">
              <a:rPr lang="fr-FR" noProof="0" smtClean="0"/>
              <a:t>17/06/2026</a:t>
            </a:fld>
            <a:endParaRPr lang="fr-FR" noProof="0" dirty="0"/>
          </a:p>
        </p:txBody>
      </p:sp>
      <p:sp>
        <p:nvSpPr>
          <p:cNvPr id="5" name="Espace réservé du numéro de diapositive 4">
            <a:extLst>
              <a:ext uri="{FF2B5EF4-FFF2-40B4-BE49-F238E27FC236}">
                <a16:creationId xmlns:a16="http://schemas.microsoft.com/office/drawing/2014/main" id="{7F15117A-611B-65B2-3633-B69B803978FD}"/>
              </a:ext>
            </a:extLst>
          </p:cNvPr>
          <p:cNvSpPr>
            <a:spLocks noGrp="1"/>
          </p:cNvSpPr>
          <p:nvPr>
            <p:ph type="sldNum" sz="quarter" idx="12"/>
          </p:nvPr>
        </p:nvSpPr>
        <p:spPr/>
        <p:txBody>
          <a:bodyPr/>
          <a:lstStyle/>
          <a:p>
            <a:fld id="{E3EC9F48-C5B6-4727-AEEA-2F88FA0098DB}" type="slidenum">
              <a:rPr lang="fr-FR" noProof="0" smtClean="0"/>
              <a:t>4</a:t>
            </a:fld>
            <a:endParaRPr lang="fr-FR" noProof="0" dirty="0"/>
          </a:p>
        </p:txBody>
      </p:sp>
      <p:pic>
        <p:nvPicPr>
          <p:cNvPr id="11" name="Picture 2">
            <a:extLst>
              <a:ext uri="{FF2B5EF4-FFF2-40B4-BE49-F238E27FC236}">
                <a16:creationId xmlns:a16="http://schemas.microsoft.com/office/drawing/2014/main" id="{4E9FD027-0D13-FCD2-3DCD-ECFD42F984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D31EF811-8774-DC44-78AE-16573765FE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 coins arrondis 8">
            <a:extLst>
              <a:ext uri="{FF2B5EF4-FFF2-40B4-BE49-F238E27FC236}">
                <a16:creationId xmlns:a16="http://schemas.microsoft.com/office/drawing/2014/main" id="{B265415E-1753-65F8-7E10-63FB9AA207CD}"/>
              </a:ext>
            </a:extLst>
          </p:cNvPr>
          <p:cNvSpPr/>
          <p:nvPr/>
        </p:nvSpPr>
        <p:spPr>
          <a:xfrm>
            <a:off x="1969478" y="1391694"/>
            <a:ext cx="6846277" cy="588472"/>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9" name="ZoneTexte 13">
            <a:extLst>
              <a:ext uri="{FF2B5EF4-FFF2-40B4-BE49-F238E27FC236}">
                <a16:creationId xmlns:a16="http://schemas.microsoft.com/office/drawing/2014/main" id="{92974161-15BA-E6A8-6EB6-DC8F69B172B2}"/>
              </a:ext>
            </a:extLst>
          </p:cNvPr>
          <p:cNvSpPr txBox="1"/>
          <p:nvPr/>
        </p:nvSpPr>
        <p:spPr>
          <a:xfrm>
            <a:off x="2093750" y="1392606"/>
            <a:ext cx="4550164"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Objectif initial</a:t>
            </a:r>
            <a:endParaRPr lang="fr-FR" noProof="0" dirty="0">
              <a:solidFill>
                <a:schemeClr val="bg2">
                  <a:lumMod val="25000"/>
                </a:schemeClr>
              </a:solidFill>
              <a:ea typeface="Calibri"/>
              <a:cs typeface="Calibri"/>
            </a:endParaRPr>
          </a:p>
        </p:txBody>
      </p:sp>
      <p:sp>
        <p:nvSpPr>
          <p:cNvPr id="10" name="ZoneTexte 13">
            <a:extLst>
              <a:ext uri="{FF2B5EF4-FFF2-40B4-BE49-F238E27FC236}">
                <a16:creationId xmlns:a16="http://schemas.microsoft.com/office/drawing/2014/main" id="{179D2C7E-98E1-0196-D876-DD6F1293B336}"/>
              </a:ext>
            </a:extLst>
          </p:cNvPr>
          <p:cNvSpPr txBox="1"/>
          <p:nvPr/>
        </p:nvSpPr>
        <p:spPr>
          <a:xfrm>
            <a:off x="2107118" y="1665134"/>
            <a:ext cx="6503482" cy="276999"/>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Comparer la </a:t>
            </a:r>
            <a:r>
              <a:rPr lang="fr-FR" sz="1200" b="1" noProof="0" dirty="0">
                <a:solidFill>
                  <a:schemeClr val="bg2">
                    <a:lumMod val="25000"/>
                  </a:schemeClr>
                </a:solidFill>
              </a:rPr>
              <a:t>cinématique </a:t>
            </a:r>
            <a:r>
              <a:rPr lang="fr-FR" sz="1200" noProof="0" dirty="0">
                <a:solidFill>
                  <a:schemeClr val="bg2">
                    <a:lumMod val="25000"/>
                  </a:schemeClr>
                </a:solidFill>
              </a:rPr>
              <a:t>des </a:t>
            </a:r>
            <a:r>
              <a:rPr lang="fr-FR" sz="1200" b="1" noProof="0" dirty="0">
                <a:solidFill>
                  <a:schemeClr val="bg2">
                    <a:lumMod val="25000"/>
                  </a:schemeClr>
                </a:solidFill>
              </a:rPr>
              <a:t>nuages moléculaires</a:t>
            </a:r>
            <a:r>
              <a:rPr lang="fr-FR" sz="1200" noProof="0" dirty="0">
                <a:solidFill>
                  <a:schemeClr val="bg2">
                    <a:lumMod val="25000"/>
                  </a:schemeClr>
                </a:solidFill>
              </a:rPr>
              <a:t> avec la </a:t>
            </a:r>
            <a:r>
              <a:rPr lang="fr-FR" sz="1200" b="1" noProof="0" dirty="0">
                <a:solidFill>
                  <a:schemeClr val="bg2">
                    <a:lumMod val="25000"/>
                  </a:schemeClr>
                </a:solidFill>
              </a:rPr>
              <a:t>cinématique </a:t>
            </a:r>
            <a:r>
              <a:rPr lang="fr-FR" sz="1200" noProof="0" dirty="0">
                <a:solidFill>
                  <a:schemeClr val="bg2">
                    <a:lumMod val="25000"/>
                  </a:schemeClr>
                </a:solidFill>
              </a:rPr>
              <a:t>des </a:t>
            </a:r>
            <a:r>
              <a:rPr lang="fr-FR" sz="1200" b="1" noProof="0" dirty="0">
                <a:solidFill>
                  <a:schemeClr val="bg2">
                    <a:lumMod val="25000"/>
                  </a:schemeClr>
                </a:solidFill>
              </a:rPr>
              <a:t>groupes d'étoiles OB</a:t>
            </a:r>
          </a:p>
        </p:txBody>
      </p:sp>
      <p:sp>
        <p:nvSpPr>
          <p:cNvPr id="14" name="Rectangle : coins arrondis 8">
            <a:extLst>
              <a:ext uri="{FF2B5EF4-FFF2-40B4-BE49-F238E27FC236}">
                <a16:creationId xmlns:a16="http://schemas.microsoft.com/office/drawing/2014/main" id="{625B4C2C-5E61-505C-9545-D052CB8E77CB}"/>
              </a:ext>
            </a:extLst>
          </p:cNvPr>
          <p:cNvSpPr/>
          <p:nvPr/>
        </p:nvSpPr>
        <p:spPr>
          <a:xfrm>
            <a:off x="719016" y="2200087"/>
            <a:ext cx="4259384" cy="338555"/>
          </a:xfrm>
          <a:prstGeom prst="roundRect">
            <a:avLst/>
          </a:prstGeom>
          <a:solidFill>
            <a:srgbClr val="0F172A"/>
          </a:solidFill>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15" name="ZoneTexte 13">
            <a:extLst>
              <a:ext uri="{FF2B5EF4-FFF2-40B4-BE49-F238E27FC236}">
                <a16:creationId xmlns:a16="http://schemas.microsoft.com/office/drawing/2014/main" id="{179A15D3-1EBB-BDD0-1895-2C182A29BA1D}"/>
              </a:ext>
            </a:extLst>
          </p:cNvPr>
          <p:cNvSpPr txBox="1"/>
          <p:nvPr/>
        </p:nvSpPr>
        <p:spPr>
          <a:xfrm>
            <a:off x="1343472" y="2192154"/>
            <a:ext cx="4550164" cy="338554"/>
          </a:xfrm>
          <a:prstGeom prst="rect">
            <a:avLst/>
          </a:prstGeom>
          <a:noFill/>
        </p:spPr>
        <p:txBody>
          <a:bodyPr wrap="square" lIns="91440" tIns="45720" rIns="91440" bIns="45720" rtlCol="0" anchor="t">
            <a:spAutoFit/>
          </a:bodyPr>
          <a:lstStyle/>
          <a:p>
            <a:r>
              <a:rPr lang="fr-FR" sz="1600" b="1" noProof="0" dirty="0">
                <a:solidFill>
                  <a:schemeClr val="bg1">
                    <a:lumMod val="95000"/>
                  </a:schemeClr>
                </a:solidFill>
              </a:rPr>
              <a:t>Phase 1: Données et préparation</a:t>
            </a:r>
            <a:endParaRPr lang="fr-FR" noProof="0" dirty="0">
              <a:solidFill>
                <a:schemeClr val="bg1">
                  <a:lumMod val="95000"/>
                </a:schemeClr>
              </a:solidFill>
            </a:endParaRPr>
          </a:p>
        </p:txBody>
      </p:sp>
      <p:pic>
        <p:nvPicPr>
          <p:cNvPr id="18" name="Graphic 17" descr="Bullseye with solid fill">
            <a:extLst>
              <a:ext uri="{FF2B5EF4-FFF2-40B4-BE49-F238E27FC236}">
                <a16:creationId xmlns:a16="http://schemas.microsoft.com/office/drawing/2014/main" id="{2DC4ED68-867D-4176-6806-91AC1D470B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17974" y="1362463"/>
            <a:ext cx="670621" cy="670621"/>
          </a:xfrm>
          <a:prstGeom prst="rect">
            <a:avLst/>
          </a:prstGeom>
        </p:spPr>
      </p:pic>
      <p:sp>
        <p:nvSpPr>
          <p:cNvPr id="17" name="Rectangle : coins arrondis 8">
            <a:extLst>
              <a:ext uri="{FF2B5EF4-FFF2-40B4-BE49-F238E27FC236}">
                <a16:creationId xmlns:a16="http://schemas.microsoft.com/office/drawing/2014/main" id="{60CC388F-A01A-D990-A66A-E965E32DEA2D}"/>
              </a:ext>
            </a:extLst>
          </p:cNvPr>
          <p:cNvSpPr/>
          <p:nvPr/>
        </p:nvSpPr>
        <p:spPr>
          <a:xfrm>
            <a:off x="678451" y="2675654"/>
            <a:ext cx="4299950" cy="1153223"/>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19" name="ZoneTexte 13">
            <a:extLst>
              <a:ext uri="{FF2B5EF4-FFF2-40B4-BE49-F238E27FC236}">
                <a16:creationId xmlns:a16="http://schemas.microsoft.com/office/drawing/2014/main" id="{A5D2649B-DDA6-4B9A-6212-E002636CE48A}"/>
              </a:ext>
            </a:extLst>
          </p:cNvPr>
          <p:cNvSpPr txBox="1"/>
          <p:nvPr/>
        </p:nvSpPr>
        <p:spPr>
          <a:xfrm>
            <a:off x="807733" y="2669711"/>
            <a:ext cx="3181634" cy="338554"/>
          </a:xfrm>
          <a:prstGeom prst="rect">
            <a:avLst/>
          </a:prstGeom>
          <a:noFill/>
        </p:spPr>
        <p:txBody>
          <a:bodyPr wrap="square" lIns="91440" tIns="45720" rIns="91440" bIns="45720" rtlCol="0" anchor="t">
            <a:spAutoFit/>
          </a:bodyPr>
          <a:lstStyle/>
          <a:p>
            <a:r>
              <a:rPr lang="fr-FR" sz="1600" b="1" noProof="0" dirty="0">
                <a:solidFill>
                  <a:srgbClr val="0F172A"/>
                </a:solidFill>
              </a:rPr>
              <a:t>Prérequis</a:t>
            </a:r>
            <a:endParaRPr lang="fr-FR" noProof="0" dirty="0">
              <a:solidFill>
                <a:srgbClr val="0F172A"/>
              </a:solidFill>
            </a:endParaRPr>
          </a:p>
        </p:txBody>
      </p:sp>
      <p:cxnSp>
        <p:nvCxnSpPr>
          <p:cNvPr id="20" name="Connecteur droit 4">
            <a:extLst>
              <a:ext uri="{FF2B5EF4-FFF2-40B4-BE49-F238E27FC236}">
                <a16:creationId xmlns:a16="http://schemas.microsoft.com/office/drawing/2014/main" id="{F4D93828-7BA6-F524-A997-4A06FEC5B08D}"/>
              </a:ext>
            </a:extLst>
          </p:cNvPr>
          <p:cNvCxnSpPr>
            <a:cxnSpLocks/>
          </p:cNvCxnSpPr>
          <p:nvPr/>
        </p:nvCxnSpPr>
        <p:spPr>
          <a:xfrm flipV="1">
            <a:off x="5814646" y="2200087"/>
            <a:ext cx="0" cy="3622375"/>
          </a:xfrm>
          <a:prstGeom prst="line">
            <a:avLst/>
          </a:prstGeom>
          <a:ln>
            <a:solidFill>
              <a:srgbClr val="2596BE"/>
            </a:solidFill>
          </a:ln>
        </p:spPr>
        <p:style>
          <a:lnRef idx="1">
            <a:schemeClr val="accent1"/>
          </a:lnRef>
          <a:fillRef idx="0">
            <a:schemeClr val="accent1"/>
          </a:fillRef>
          <a:effectRef idx="0">
            <a:schemeClr val="accent1"/>
          </a:effectRef>
          <a:fontRef idx="minor">
            <a:schemeClr val="tx1"/>
          </a:fontRef>
        </p:style>
      </p:cxnSp>
      <p:sp>
        <p:nvSpPr>
          <p:cNvPr id="23" name="ZoneTexte 13">
            <a:extLst>
              <a:ext uri="{FF2B5EF4-FFF2-40B4-BE49-F238E27FC236}">
                <a16:creationId xmlns:a16="http://schemas.microsoft.com/office/drawing/2014/main" id="{0F09AD11-8038-5854-774C-BA67A547E029}"/>
              </a:ext>
            </a:extLst>
          </p:cNvPr>
          <p:cNvSpPr txBox="1"/>
          <p:nvPr/>
        </p:nvSpPr>
        <p:spPr>
          <a:xfrm>
            <a:off x="940627" y="3003072"/>
            <a:ext cx="4002216" cy="276999"/>
          </a:xfrm>
          <a:prstGeom prst="rect">
            <a:avLst/>
          </a:prstGeom>
          <a:noFill/>
        </p:spPr>
        <p:txBody>
          <a:bodyPr wrap="square" lIns="91440" tIns="45720" rIns="91440" bIns="45720" rtlCol="0" anchor="t">
            <a:spAutoFit/>
          </a:bodyPr>
          <a:lstStyle/>
          <a:p>
            <a:r>
              <a:rPr lang="fr-FR" sz="1200" noProof="0" dirty="0">
                <a:solidFill>
                  <a:srgbClr val="0F172A"/>
                </a:solidFill>
              </a:rPr>
              <a:t>Comprendre les publications en </a:t>
            </a:r>
            <a:r>
              <a:rPr lang="fr-FR" sz="1200" b="1" noProof="0" dirty="0">
                <a:solidFill>
                  <a:srgbClr val="0F172A"/>
                </a:solidFill>
              </a:rPr>
              <a:t>recalculant les vitesses</a:t>
            </a:r>
            <a:endParaRPr lang="fr-FR" sz="1400" b="1" noProof="0" dirty="0">
              <a:solidFill>
                <a:srgbClr val="0F172A"/>
              </a:solidFill>
            </a:endParaRPr>
          </a:p>
        </p:txBody>
      </p:sp>
      <p:sp>
        <p:nvSpPr>
          <p:cNvPr id="24" name="L-Shape 23">
            <a:extLst>
              <a:ext uri="{FF2B5EF4-FFF2-40B4-BE49-F238E27FC236}">
                <a16:creationId xmlns:a16="http://schemas.microsoft.com/office/drawing/2014/main" id="{929F6A02-D26D-980C-342A-6C0F5B57E4FC}"/>
              </a:ext>
            </a:extLst>
          </p:cNvPr>
          <p:cNvSpPr/>
          <p:nvPr/>
        </p:nvSpPr>
        <p:spPr>
          <a:xfrm rot="13691150">
            <a:off x="893307" y="3115146"/>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ZoneTexte 13">
            <a:extLst>
              <a:ext uri="{FF2B5EF4-FFF2-40B4-BE49-F238E27FC236}">
                <a16:creationId xmlns:a16="http://schemas.microsoft.com/office/drawing/2014/main" id="{B8928D82-EA18-9406-58DF-8A053B26FB3E}"/>
              </a:ext>
            </a:extLst>
          </p:cNvPr>
          <p:cNvSpPr txBox="1"/>
          <p:nvPr/>
        </p:nvSpPr>
        <p:spPr>
          <a:xfrm>
            <a:off x="928045" y="3318758"/>
            <a:ext cx="4002216" cy="276999"/>
          </a:xfrm>
          <a:prstGeom prst="rect">
            <a:avLst/>
          </a:prstGeom>
          <a:noFill/>
        </p:spPr>
        <p:txBody>
          <a:bodyPr wrap="square" lIns="91440" tIns="45720" rIns="91440" bIns="45720" rtlCol="0" anchor="t">
            <a:spAutoFit/>
          </a:bodyPr>
          <a:lstStyle/>
          <a:p>
            <a:r>
              <a:rPr lang="fr-FR" sz="1200" noProof="0" dirty="0">
                <a:solidFill>
                  <a:srgbClr val="0F172A"/>
                </a:solidFill>
              </a:rPr>
              <a:t>Déterminer les </a:t>
            </a:r>
            <a:r>
              <a:rPr lang="fr-FR" sz="1200" b="1" noProof="0" dirty="0">
                <a:solidFill>
                  <a:srgbClr val="0F172A"/>
                </a:solidFill>
              </a:rPr>
              <a:t>hypothèses structurantes </a:t>
            </a:r>
            <a:r>
              <a:rPr lang="fr-FR" sz="1200" noProof="0" dirty="0">
                <a:solidFill>
                  <a:srgbClr val="0F172A"/>
                </a:solidFill>
              </a:rPr>
              <a:t>les plus à jour</a:t>
            </a:r>
          </a:p>
        </p:txBody>
      </p:sp>
      <p:sp>
        <p:nvSpPr>
          <p:cNvPr id="26" name="L-Shape 25">
            <a:extLst>
              <a:ext uri="{FF2B5EF4-FFF2-40B4-BE49-F238E27FC236}">
                <a16:creationId xmlns:a16="http://schemas.microsoft.com/office/drawing/2014/main" id="{BA18AE41-E114-9468-95BB-9043C1E6B7E0}"/>
              </a:ext>
            </a:extLst>
          </p:cNvPr>
          <p:cNvSpPr/>
          <p:nvPr/>
        </p:nvSpPr>
        <p:spPr>
          <a:xfrm rot="13691150">
            <a:off x="880725" y="3430832"/>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 coins arrondis 8">
            <a:extLst>
              <a:ext uri="{FF2B5EF4-FFF2-40B4-BE49-F238E27FC236}">
                <a16:creationId xmlns:a16="http://schemas.microsoft.com/office/drawing/2014/main" id="{039A5409-57D5-3EE0-ECDB-3C177B88309B}"/>
              </a:ext>
            </a:extLst>
          </p:cNvPr>
          <p:cNvSpPr/>
          <p:nvPr/>
        </p:nvSpPr>
        <p:spPr>
          <a:xfrm>
            <a:off x="678451" y="4030830"/>
            <a:ext cx="4299950" cy="1856356"/>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28" name="ZoneTexte 13">
            <a:extLst>
              <a:ext uri="{FF2B5EF4-FFF2-40B4-BE49-F238E27FC236}">
                <a16:creationId xmlns:a16="http://schemas.microsoft.com/office/drawing/2014/main" id="{36FC0739-EB8B-F524-91F4-49E59BE17E80}"/>
              </a:ext>
            </a:extLst>
          </p:cNvPr>
          <p:cNvSpPr txBox="1"/>
          <p:nvPr/>
        </p:nvSpPr>
        <p:spPr>
          <a:xfrm>
            <a:off x="807733" y="4024887"/>
            <a:ext cx="3181634" cy="338554"/>
          </a:xfrm>
          <a:prstGeom prst="rect">
            <a:avLst/>
          </a:prstGeom>
          <a:noFill/>
        </p:spPr>
        <p:txBody>
          <a:bodyPr wrap="square" lIns="91440" tIns="45720" rIns="91440" bIns="45720" rtlCol="0" anchor="t">
            <a:spAutoFit/>
          </a:bodyPr>
          <a:lstStyle/>
          <a:p>
            <a:r>
              <a:rPr lang="fr-FR" sz="1600" b="1" noProof="0" dirty="0">
                <a:solidFill>
                  <a:srgbClr val="0F172A"/>
                </a:solidFill>
              </a:rPr>
              <a:t>Acquisition de données</a:t>
            </a:r>
            <a:endParaRPr lang="fr-FR" noProof="0" dirty="0">
              <a:solidFill>
                <a:srgbClr val="0F172A"/>
              </a:solidFill>
            </a:endParaRPr>
          </a:p>
        </p:txBody>
      </p:sp>
      <p:sp>
        <p:nvSpPr>
          <p:cNvPr id="29" name="ZoneTexte 13">
            <a:extLst>
              <a:ext uri="{FF2B5EF4-FFF2-40B4-BE49-F238E27FC236}">
                <a16:creationId xmlns:a16="http://schemas.microsoft.com/office/drawing/2014/main" id="{49151999-B671-3943-26F3-BCCC381A8174}"/>
              </a:ext>
            </a:extLst>
          </p:cNvPr>
          <p:cNvSpPr txBox="1"/>
          <p:nvPr/>
        </p:nvSpPr>
        <p:spPr>
          <a:xfrm>
            <a:off x="940627" y="4358248"/>
            <a:ext cx="4002216" cy="461665"/>
          </a:xfrm>
          <a:prstGeom prst="rect">
            <a:avLst/>
          </a:prstGeom>
          <a:noFill/>
        </p:spPr>
        <p:txBody>
          <a:bodyPr wrap="square" lIns="91440" tIns="45720" rIns="91440" bIns="45720" rtlCol="0" anchor="t">
            <a:spAutoFit/>
          </a:bodyPr>
          <a:lstStyle/>
          <a:p>
            <a:r>
              <a:rPr lang="fr-FR" sz="1200" b="1" noProof="0" dirty="0">
                <a:solidFill>
                  <a:srgbClr val="0F172A"/>
                </a:solidFill>
              </a:rPr>
              <a:t>Recalculer les vitesses </a:t>
            </a:r>
            <a:r>
              <a:rPr lang="fr-FR" sz="1200" noProof="0" dirty="0">
                <a:solidFill>
                  <a:srgbClr val="0F172A"/>
                </a:solidFill>
              </a:rPr>
              <a:t>et les </a:t>
            </a:r>
            <a:r>
              <a:rPr lang="fr-FR" sz="1200" b="1" noProof="0" dirty="0">
                <a:solidFill>
                  <a:srgbClr val="0F172A"/>
                </a:solidFill>
              </a:rPr>
              <a:t>positions</a:t>
            </a:r>
            <a:r>
              <a:rPr lang="fr-FR" sz="1200" noProof="0" dirty="0">
                <a:solidFill>
                  <a:srgbClr val="0F172A"/>
                </a:solidFill>
              </a:rPr>
              <a:t> des nuages et des amas</a:t>
            </a:r>
            <a:endParaRPr lang="fr-FR" sz="1400" noProof="0" dirty="0">
              <a:solidFill>
                <a:srgbClr val="0F172A"/>
              </a:solidFill>
            </a:endParaRPr>
          </a:p>
        </p:txBody>
      </p:sp>
      <p:sp>
        <p:nvSpPr>
          <p:cNvPr id="30" name="L-Shape 29">
            <a:extLst>
              <a:ext uri="{FF2B5EF4-FFF2-40B4-BE49-F238E27FC236}">
                <a16:creationId xmlns:a16="http://schemas.microsoft.com/office/drawing/2014/main" id="{1B2DAB41-35F2-BBDB-6069-C249E0518589}"/>
              </a:ext>
            </a:extLst>
          </p:cNvPr>
          <p:cNvSpPr/>
          <p:nvPr/>
        </p:nvSpPr>
        <p:spPr>
          <a:xfrm rot="13691150">
            <a:off x="893307" y="4470322"/>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ZoneTexte 13">
            <a:extLst>
              <a:ext uri="{FF2B5EF4-FFF2-40B4-BE49-F238E27FC236}">
                <a16:creationId xmlns:a16="http://schemas.microsoft.com/office/drawing/2014/main" id="{B738015C-63F2-2C91-D8AC-B315E3D0372D}"/>
              </a:ext>
            </a:extLst>
          </p:cNvPr>
          <p:cNvSpPr txBox="1"/>
          <p:nvPr/>
        </p:nvSpPr>
        <p:spPr>
          <a:xfrm>
            <a:off x="928045" y="4791165"/>
            <a:ext cx="4002216" cy="461665"/>
          </a:xfrm>
          <a:prstGeom prst="rect">
            <a:avLst/>
          </a:prstGeom>
          <a:noFill/>
        </p:spPr>
        <p:txBody>
          <a:bodyPr wrap="square" lIns="91440" tIns="45720" rIns="91440" bIns="45720" rtlCol="0" anchor="t">
            <a:spAutoFit/>
          </a:bodyPr>
          <a:lstStyle/>
          <a:p>
            <a:r>
              <a:rPr lang="fr-FR" sz="1200" noProof="0" dirty="0">
                <a:solidFill>
                  <a:srgbClr val="0F172A"/>
                </a:solidFill>
              </a:rPr>
              <a:t>Présenter les résultats dans </a:t>
            </a:r>
            <a:r>
              <a:rPr lang="fr-FR" sz="1200" b="1" noProof="0" dirty="0">
                <a:solidFill>
                  <a:srgbClr val="0F172A"/>
                </a:solidFill>
              </a:rPr>
              <a:t>différents référentiels </a:t>
            </a:r>
            <a:r>
              <a:rPr lang="fr-FR" sz="1200" noProof="0" dirty="0">
                <a:solidFill>
                  <a:srgbClr val="0F172A"/>
                </a:solidFill>
              </a:rPr>
              <a:t>et </a:t>
            </a:r>
            <a:r>
              <a:rPr lang="fr-FR" sz="1200" b="1" noProof="0" dirty="0">
                <a:solidFill>
                  <a:srgbClr val="0F172A"/>
                </a:solidFill>
              </a:rPr>
              <a:t>en 3D </a:t>
            </a:r>
            <a:r>
              <a:rPr lang="fr-FR" sz="1200" noProof="0" dirty="0">
                <a:solidFill>
                  <a:srgbClr val="0F172A"/>
                </a:solidFill>
              </a:rPr>
              <a:t>afin de s’affranchir des biais 2D</a:t>
            </a:r>
          </a:p>
        </p:txBody>
      </p:sp>
      <p:sp>
        <p:nvSpPr>
          <p:cNvPr id="32" name="L-Shape 31">
            <a:extLst>
              <a:ext uri="{FF2B5EF4-FFF2-40B4-BE49-F238E27FC236}">
                <a16:creationId xmlns:a16="http://schemas.microsoft.com/office/drawing/2014/main" id="{DF472CA2-BCDA-656E-D1A0-3FBFAF141073}"/>
              </a:ext>
            </a:extLst>
          </p:cNvPr>
          <p:cNvSpPr/>
          <p:nvPr/>
        </p:nvSpPr>
        <p:spPr>
          <a:xfrm rot="13691150">
            <a:off x="880725" y="4903239"/>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ZoneTexte 13">
            <a:extLst>
              <a:ext uri="{FF2B5EF4-FFF2-40B4-BE49-F238E27FC236}">
                <a16:creationId xmlns:a16="http://schemas.microsoft.com/office/drawing/2014/main" id="{02A1439B-C108-23D9-DA6E-29D9D185B0B3}"/>
              </a:ext>
            </a:extLst>
          </p:cNvPr>
          <p:cNvSpPr txBox="1"/>
          <p:nvPr/>
        </p:nvSpPr>
        <p:spPr>
          <a:xfrm>
            <a:off x="922866" y="5253428"/>
            <a:ext cx="4002216" cy="461665"/>
          </a:xfrm>
          <a:prstGeom prst="rect">
            <a:avLst/>
          </a:prstGeom>
          <a:noFill/>
        </p:spPr>
        <p:txBody>
          <a:bodyPr wrap="square" lIns="91440" tIns="45720" rIns="91440" bIns="45720" rtlCol="0" anchor="t">
            <a:spAutoFit/>
          </a:bodyPr>
          <a:lstStyle/>
          <a:p>
            <a:r>
              <a:rPr lang="fr-FR" sz="1200" noProof="0" dirty="0">
                <a:solidFill>
                  <a:srgbClr val="0F172A"/>
                </a:solidFill>
              </a:rPr>
              <a:t>Effectuer un </a:t>
            </a:r>
            <a:r>
              <a:rPr lang="fr-FR" sz="1200" b="1" noProof="0" dirty="0">
                <a:solidFill>
                  <a:srgbClr val="0F172A"/>
                </a:solidFill>
              </a:rPr>
              <a:t>traceback</a:t>
            </a:r>
            <a:r>
              <a:rPr lang="fr-FR" sz="1200" noProof="0" dirty="0">
                <a:solidFill>
                  <a:srgbClr val="0F172A"/>
                </a:solidFill>
              </a:rPr>
              <a:t> afin d’obtenir les </a:t>
            </a:r>
            <a:r>
              <a:rPr lang="fr-FR" sz="1200" b="1" noProof="0" dirty="0">
                <a:solidFill>
                  <a:srgbClr val="0F172A"/>
                </a:solidFill>
              </a:rPr>
              <a:t>âges cinématiques </a:t>
            </a:r>
            <a:r>
              <a:rPr lang="fr-FR" sz="1200" noProof="0" dirty="0">
                <a:solidFill>
                  <a:srgbClr val="0F172A"/>
                </a:solidFill>
              </a:rPr>
              <a:t>des amas d’étoiles</a:t>
            </a:r>
          </a:p>
        </p:txBody>
      </p:sp>
      <p:sp>
        <p:nvSpPr>
          <p:cNvPr id="34" name="L-Shape 33">
            <a:extLst>
              <a:ext uri="{FF2B5EF4-FFF2-40B4-BE49-F238E27FC236}">
                <a16:creationId xmlns:a16="http://schemas.microsoft.com/office/drawing/2014/main" id="{15D878A3-7343-C7B5-0348-95CC87165E04}"/>
              </a:ext>
            </a:extLst>
          </p:cNvPr>
          <p:cNvSpPr/>
          <p:nvPr/>
        </p:nvSpPr>
        <p:spPr>
          <a:xfrm rot="13691150">
            <a:off x="875546" y="5365502"/>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 coins arrondis 8">
            <a:extLst>
              <a:ext uri="{FF2B5EF4-FFF2-40B4-BE49-F238E27FC236}">
                <a16:creationId xmlns:a16="http://schemas.microsoft.com/office/drawing/2014/main" id="{FE021B49-02CE-CE2B-0714-4E8F2EE0BAB9}"/>
              </a:ext>
            </a:extLst>
          </p:cNvPr>
          <p:cNvSpPr/>
          <p:nvPr/>
        </p:nvSpPr>
        <p:spPr>
          <a:xfrm>
            <a:off x="6688015" y="2200086"/>
            <a:ext cx="4259384" cy="338555"/>
          </a:xfrm>
          <a:prstGeom prst="roundRect">
            <a:avLst/>
          </a:prstGeom>
          <a:solidFill>
            <a:srgbClr val="0F172A"/>
          </a:solidFill>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36" name="ZoneTexte 13">
            <a:extLst>
              <a:ext uri="{FF2B5EF4-FFF2-40B4-BE49-F238E27FC236}">
                <a16:creationId xmlns:a16="http://schemas.microsoft.com/office/drawing/2014/main" id="{32C5FC8E-D1FE-24DD-A95A-5258D9B7AA9A}"/>
              </a:ext>
            </a:extLst>
          </p:cNvPr>
          <p:cNvSpPr txBox="1"/>
          <p:nvPr/>
        </p:nvSpPr>
        <p:spPr>
          <a:xfrm>
            <a:off x="7500039" y="2551771"/>
            <a:ext cx="4550164" cy="338554"/>
          </a:xfrm>
          <a:prstGeom prst="rect">
            <a:avLst/>
          </a:prstGeom>
          <a:noFill/>
        </p:spPr>
        <p:txBody>
          <a:bodyPr wrap="square" lIns="91440" tIns="45720" rIns="91440" bIns="45720" rtlCol="0" anchor="t">
            <a:spAutoFit/>
          </a:bodyPr>
          <a:lstStyle/>
          <a:p>
            <a:r>
              <a:rPr lang="fr-FR" sz="1600" b="1" noProof="0" dirty="0">
                <a:solidFill>
                  <a:schemeClr val="bg1">
                    <a:lumMod val="95000"/>
                  </a:schemeClr>
                </a:solidFill>
              </a:rPr>
              <a:t>Phase 2: Analyse et synthèse</a:t>
            </a:r>
            <a:endParaRPr lang="fr-FR" noProof="0" dirty="0">
              <a:solidFill>
                <a:schemeClr val="bg1">
                  <a:lumMod val="95000"/>
                </a:schemeClr>
              </a:solidFill>
            </a:endParaRPr>
          </a:p>
        </p:txBody>
      </p:sp>
      <p:sp>
        <p:nvSpPr>
          <p:cNvPr id="37" name="Rectangle : coins arrondis 8">
            <a:extLst>
              <a:ext uri="{FF2B5EF4-FFF2-40B4-BE49-F238E27FC236}">
                <a16:creationId xmlns:a16="http://schemas.microsoft.com/office/drawing/2014/main" id="{0CD72EFC-2B94-BE5A-0202-C7674A3D1B11}"/>
              </a:ext>
            </a:extLst>
          </p:cNvPr>
          <p:cNvSpPr/>
          <p:nvPr/>
        </p:nvSpPr>
        <p:spPr>
          <a:xfrm>
            <a:off x="6665780" y="2669710"/>
            <a:ext cx="4299950" cy="2684133"/>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38" name="ZoneTexte 13">
            <a:extLst>
              <a:ext uri="{FF2B5EF4-FFF2-40B4-BE49-F238E27FC236}">
                <a16:creationId xmlns:a16="http://schemas.microsoft.com/office/drawing/2014/main" id="{CEB27ACD-B5F2-F399-126C-2A915356FFC7}"/>
              </a:ext>
            </a:extLst>
          </p:cNvPr>
          <p:cNvSpPr txBox="1"/>
          <p:nvPr/>
        </p:nvSpPr>
        <p:spPr>
          <a:xfrm>
            <a:off x="6795062" y="2663768"/>
            <a:ext cx="3181634" cy="338554"/>
          </a:xfrm>
          <a:prstGeom prst="rect">
            <a:avLst/>
          </a:prstGeom>
          <a:noFill/>
        </p:spPr>
        <p:txBody>
          <a:bodyPr wrap="square" lIns="91440" tIns="45720" rIns="91440" bIns="45720" rtlCol="0" anchor="t">
            <a:spAutoFit/>
          </a:bodyPr>
          <a:lstStyle/>
          <a:p>
            <a:r>
              <a:rPr lang="fr-FR" sz="1600" b="1" noProof="0" dirty="0">
                <a:solidFill>
                  <a:srgbClr val="0F172A"/>
                </a:solidFill>
              </a:rPr>
              <a:t>Comparaison cinématique</a:t>
            </a:r>
            <a:endParaRPr lang="fr-FR" noProof="0" dirty="0">
              <a:solidFill>
                <a:srgbClr val="0F172A"/>
              </a:solidFill>
            </a:endParaRPr>
          </a:p>
        </p:txBody>
      </p:sp>
      <p:sp>
        <p:nvSpPr>
          <p:cNvPr id="39" name="ZoneTexte 13">
            <a:extLst>
              <a:ext uri="{FF2B5EF4-FFF2-40B4-BE49-F238E27FC236}">
                <a16:creationId xmlns:a16="http://schemas.microsoft.com/office/drawing/2014/main" id="{FD19FDF9-2AB7-8C5C-2FB3-475CD997384B}"/>
              </a:ext>
            </a:extLst>
          </p:cNvPr>
          <p:cNvSpPr txBox="1"/>
          <p:nvPr/>
        </p:nvSpPr>
        <p:spPr>
          <a:xfrm>
            <a:off x="6927956" y="2997129"/>
            <a:ext cx="4002216" cy="461665"/>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Comparer la </a:t>
            </a:r>
            <a:r>
              <a:rPr lang="fr-FR" sz="1200" b="1" noProof="0" dirty="0">
                <a:solidFill>
                  <a:schemeClr val="bg2">
                    <a:lumMod val="25000"/>
                  </a:schemeClr>
                </a:solidFill>
              </a:rPr>
              <a:t>cinématique </a:t>
            </a:r>
            <a:r>
              <a:rPr lang="fr-FR" sz="1200" noProof="0" dirty="0">
                <a:solidFill>
                  <a:schemeClr val="bg2">
                    <a:lumMod val="25000"/>
                  </a:schemeClr>
                </a:solidFill>
              </a:rPr>
              <a:t>des </a:t>
            </a:r>
            <a:r>
              <a:rPr lang="fr-FR" sz="1200" b="1" noProof="0" dirty="0">
                <a:solidFill>
                  <a:schemeClr val="bg2">
                    <a:lumMod val="25000"/>
                  </a:schemeClr>
                </a:solidFill>
              </a:rPr>
              <a:t>nuages moléculaires</a:t>
            </a:r>
            <a:r>
              <a:rPr lang="fr-FR" sz="1200" noProof="0" dirty="0">
                <a:solidFill>
                  <a:schemeClr val="bg2">
                    <a:lumMod val="25000"/>
                  </a:schemeClr>
                </a:solidFill>
              </a:rPr>
              <a:t> avec la </a:t>
            </a:r>
            <a:r>
              <a:rPr lang="fr-FR" sz="1200" b="1" noProof="0" dirty="0">
                <a:solidFill>
                  <a:schemeClr val="bg2">
                    <a:lumMod val="25000"/>
                  </a:schemeClr>
                </a:solidFill>
              </a:rPr>
              <a:t>cinématique </a:t>
            </a:r>
            <a:r>
              <a:rPr lang="fr-FR" sz="1200" noProof="0" dirty="0">
                <a:solidFill>
                  <a:schemeClr val="bg2">
                    <a:lumMod val="25000"/>
                  </a:schemeClr>
                </a:solidFill>
              </a:rPr>
              <a:t>des </a:t>
            </a:r>
            <a:r>
              <a:rPr lang="fr-FR" sz="1200" b="1" noProof="0" dirty="0">
                <a:solidFill>
                  <a:schemeClr val="bg2">
                    <a:lumMod val="25000"/>
                  </a:schemeClr>
                </a:solidFill>
              </a:rPr>
              <a:t>groupes d'étoiles OB</a:t>
            </a:r>
          </a:p>
        </p:txBody>
      </p:sp>
      <p:sp>
        <p:nvSpPr>
          <p:cNvPr id="40" name="L-Shape 39">
            <a:extLst>
              <a:ext uri="{FF2B5EF4-FFF2-40B4-BE49-F238E27FC236}">
                <a16:creationId xmlns:a16="http://schemas.microsoft.com/office/drawing/2014/main" id="{84CE8901-1639-8B66-DB39-E8872A3C2D5B}"/>
              </a:ext>
            </a:extLst>
          </p:cNvPr>
          <p:cNvSpPr/>
          <p:nvPr/>
        </p:nvSpPr>
        <p:spPr>
          <a:xfrm rot="13691150">
            <a:off x="6880636" y="3109203"/>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ZoneTexte 13">
            <a:extLst>
              <a:ext uri="{FF2B5EF4-FFF2-40B4-BE49-F238E27FC236}">
                <a16:creationId xmlns:a16="http://schemas.microsoft.com/office/drawing/2014/main" id="{6F19EF6E-AD01-FE75-2503-B71FE5645584}"/>
              </a:ext>
            </a:extLst>
          </p:cNvPr>
          <p:cNvSpPr txBox="1"/>
          <p:nvPr/>
        </p:nvSpPr>
        <p:spPr>
          <a:xfrm>
            <a:off x="7392229" y="2196238"/>
            <a:ext cx="2847052" cy="338554"/>
          </a:xfrm>
          <a:prstGeom prst="rect">
            <a:avLst/>
          </a:prstGeom>
          <a:noFill/>
        </p:spPr>
        <p:txBody>
          <a:bodyPr wrap="square" lIns="91440" tIns="45720" rIns="91440" bIns="45720" rtlCol="0" anchor="t">
            <a:spAutoFit/>
          </a:bodyPr>
          <a:lstStyle/>
          <a:p>
            <a:pPr algn="ctr"/>
            <a:r>
              <a:rPr lang="fr-FR" sz="1600" b="1" noProof="0" dirty="0">
                <a:solidFill>
                  <a:schemeClr val="bg1">
                    <a:lumMod val="95000"/>
                  </a:schemeClr>
                </a:solidFill>
              </a:rPr>
              <a:t>Phase 2: Analyse et synthèse</a:t>
            </a:r>
            <a:endParaRPr lang="fr-FR" noProof="0" dirty="0">
              <a:solidFill>
                <a:schemeClr val="bg1">
                  <a:lumMod val="95000"/>
                </a:schemeClr>
              </a:solidFill>
            </a:endParaRPr>
          </a:p>
        </p:txBody>
      </p:sp>
      <p:sp>
        <p:nvSpPr>
          <p:cNvPr id="54" name="Rectangle : coins arrondis 8">
            <a:extLst>
              <a:ext uri="{FF2B5EF4-FFF2-40B4-BE49-F238E27FC236}">
                <a16:creationId xmlns:a16="http://schemas.microsoft.com/office/drawing/2014/main" id="{457A81BE-3240-40C6-FA08-E3F4C303CE99}"/>
              </a:ext>
            </a:extLst>
          </p:cNvPr>
          <p:cNvSpPr/>
          <p:nvPr/>
        </p:nvSpPr>
        <p:spPr>
          <a:xfrm>
            <a:off x="1969478" y="6060853"/>
            <a:ext cx="6846276" cy="588472"/>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55" name="ZoneTexte 13">
            <a:extLst>
              <a:ext uri="{FF2B5EF4-FFF2-40B4-BE49-F238E27FC236}">
                <a16:creationId xmlns:a16="http://schemas.microsoft.com/office/drawing/2014/main" id="{1C0385C3-6725-7AD1-973B-FC30ECAA09B3}"/>
              </a:ext>
            </a:extLst>
          </p:cNvPr>
          <p:cNvSpPr txBox="1"/>
          <p:nvPr/>
        </p:nvSpPr>
        <p:spPr>
          <a:xfrm>
            <a:off x="2093749" y="6061765"/>
            <a:ext cx="4550164"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Objectif final</a:t>
            </a:r>
            <a:endParaRPr lang="fr-FR" noProof="0" dirty="0">
              <a:solidFill>
                <a:schemeClr val="bg2">
                  <a:lumMod val="25000"/>
                </a:schemeClr>
              </a:solidFill>
              <a:ea typeface="Calibri"/>
              <a:cs typeface="Calibri"/>
            </a:endParaRPr>
          </a:p>
        </p:txBody>
      </p:sp>
      <p:sp>
        <p:nvSpPr>
          <p:cNvPr id="56" name="ZoneTexte 13">
            <a:extLst>
              <a:ext uri="{FF2B5EF4-FFF2-40B4-BE49-F238E27FC236}">
                <a16:creationId xmlns:a16="http://schemas.microsoft.com/office/drawing/2014/main" id="{CE1B5D1C-CEAE-E902-256C-E599526ABDDC}"/>
              </a:ext>
            </a:extLst>
          </p:cNvPr>
          <p:cNvSpPr txBox="1"/>
          <p:nvPr/>
        </p:nvSpPr>
        <p:spPr>
          <a:xfrm>
            <a:off x="2107117" y="6334293"/>
            <a:ext cx="6503482" cy="276999"/>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Proposer un </a:t>
            </a:r>
            <a:r>
              <a:rPr lang="fr-FR" sz="1200" b="1" noProof="0" dirty="0">
                <a:solidFill>
                  <a:schemeClr val="bg2">
                    <a:lumMod val="25000"/>
                  </a:schemeClr>
                </a:solidFill>
              </a:rPr>
              <a:t>scénario complet </a:t>
            </a:r>
            <a:r>
              <a:rPr lang="fr-FR" sz="1200" noProof="0" dirty="0">
                <a:solidFill>
                  <a:schemeClr val="bg2">
                    <a:lumMod val="25000"/>
                  </a:schemeClr>
                </a:solidFill>
              </a:rPr>
              <a:t>de </a:t>
            </a:r>
            <a:r>
              <a:rPr lang="fr-FR" sz="1200" b="1" noProof="0" dirty="0">
                <a:solidFill>
                  <a:schemeClr val="bg2">
                    <a:lumMod val="25000"/>
                  </a:schemeClr>
                </a:solidFill>
              </a:rPr>
              <a:t>formation d’amas d’étoiles massives </a:t>
            </a:r>
            <a:r>
              <a:rPr lang="fr-FR" sz="1200" noProof="0" dirty="0">
                <a:solidFill>
                  <a:schemeClr val="bg2">
                    <a:lumMod val="25000"/>
                  </a:schemeClr>
                </a:solidFill>
              </a:rPr>
              <a:t>au sein de la région du Cygne</a:t>
            </a:r>
            <a:endParaRPr lang="fr-FR" sz="1200" b="1" noProof="0" dirty="0">
              <a:solidFill>
                <a:schemeClr val="bg2">
                  <a:lumMod val="25000"/>
                </a:schemeClr>
              </a:solidFill>
            </a:endParaRPr>
          </a:p>
        </p:txBody>
      </p:sp>
      <p:pic>
        <p:nvPicPr>
          <p:cNvPr id="57" name="Graphic 56" descr="Bullseye with solid fill">
            <a:extLst>
              <a:ext uri="{FF2B5EF4-FFF2-40B4-BE49-F238E27FC236}">
                <a16:creationId xmlns:a16="http://schemas.microsoft.com/office/drawing/2014/main" id="{29EA5825-11C8-AAAB-4A0B-E40E4AE09C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8792" y="6031872"/>
            <a:ext cx="670621" cy="670621"/>
          </a:xfrm>
          <a:prstGeom prst="rect">
            <a:avLst/>
          </a:prstGeom>
        </p:spPr>
      </p:pic>
      <p:sp>
        <p:nvSpPr>
          <p:cNvPr id="58" name="ZoneTexte 13">
            <a:extLst>
              <a:ext uri="{FF2B5EF4-FFF2-40B4-BE49-F238E27FC236}">
                <a16:creationId xmlns:a16="http://schemas.microsoft.com/office/drawing/2014/main" id="{7C156672-C6CD-C09A-15F1-8B7446A6B4B0}"/>
              </a:ext>
            </a:extLst>
          </p:cNvPr>
          <p:cNvSpPr txBox="1"/>
          <p:nvPr/>
        </p:nvSpPr>
        <p:spPr>
          <a:xfrm>
            <a:off x="6927956" y="3561621"/>
            <a:ext cx="4002216" cy="461665"/>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Etablir un </a:t>
            </a:r>
            <a:r>
              <a:rPr lang="fr-FR" sz="1200" b="1" noProof="0" dirty="0">
                <a:solidFill>
                  <a:schemeClr val="bg2">
                    <a:lumMod val="25000"/>
                  </a:schemeClr>
                </a:solidFill>
              </a:rPr>
              <a:t>lien</a:t>
            </a:r>
            <a:r>
              <a:rPr lang="fr-FR" sz="1200" noProof="0" dirty="0">
                <a:solidFill>
                  <a:schemeClr val="bg2">
                    <a:lumMod val="25000"/>
                  </a:schemeClr>
                </a:solidFill>
              </a:rPr>
              <a:t> entre la </a:t>
            </a:r>
            <a:r>
              <a:rPr lang="fr-FR" sz="1200" b="1" noProof="0" dirty="0">
                <a:solidFill>
                  <a:schemeClr val="bg2">
                    <a:lumMod val="25000"/>
                  </a:schemeClr>
                </a:solidFill>
              </a:rPr>
              <a:t>cinématique</a:t>
            </a:r>
            <a:r>
              <a:rPr lang="fr-FR" sz="1200" noProof="0" dirty="0">
                <a:solidFill>
                  <a:schemeClr val="bg2">
                    <a:lumMod val="25000"/>
                  </a:schemeClr>
                </a:solidFill>
              </a:rPr>
              <a:t> des </a:t>
            </a:r>
            <a:r>
              <a:rPr lang="fr-FR" sz="1200" b="1" noProof="0" dirty="0">
                <a:solidFill>
                  <a:schemeClr val="bg2">
                    <a:lumMod val="25000"/>
                  </a:schemeClr>
                </a:solidFill>
              </a:rPr>
              <a:t>nuages</a:t>
            </a:r>
            <a:r>
              <a:rPr lang="fr-FR" sz="1200" noProof="0" dirty="0">
                <a:solidFill>
                  <a:schemeClr val="bg2">
                    <a:lumMod val="25000"/>
                  </a:schemeClr>
                </a:solidFill>
              </a:rPr>
              <a:t> moléculaires et la </a:t>
            </a:r>
            <a:r>
              <a:rPr lang="fr-FR" sz="1200" b="1" noProof="0" dirty="0">
                <a:solidFill>
                  <a:schemeClr val="bg2">
                    <a:lumMod val="25000"/>
                  </a:schemeClr>
                </a:solidFill>
              </a:rPr>
              <a:t>cinématique</a:t>
            </a:r>
            <a:r>
              <a:rPr lang="fr-FR" sz="1200" noProof="0" dirty="0">
                <a:solidFill>
                  <a:schemeClr val="bg2">
                    <a:lumMod val="25000"/>
                  </a:schemeClr>
                </a:solidFill>
              </a:rPr>
              <a:t> des </a:t>
            </a:r>
            <a:r>
              <a:rPr lang="fr-FR" sz="1200" b="1" noProof="0" dirty="0">
                <a:solidFill>
                  <a:schemeClr val="bg2">
                    <a:lumMod val="25000"/>
                  </a:schemeClr>
                </a:solidFill>
              </a:rPr>
              <a:t>groupes d’étoiles OB</a:t>
            </a:r>
          </a:p>
        </p:txBody>
      </p:sp>
      <p:sp>
        <p:nvSpPr>
          <p:cNvPr id="59" name="L-Shape 58">
            <a:extLst>
              <a:ext uri="{FF2B5EF4-FFF2-40B4-BE49-F238E27FC236}">
                <a16:creationId xmlns:a16="http://schemas.microsoft.com/office/drawing/2014/main" id="{F366AD4D-8642-8966-7447-FBBBE57B15BB}"/>
              </a:ext>
            </a:extLst>
          </p:cNvPr>
          <p:cNvSpPr/>
          <p:nvPr/>
        </p:nvSpPr>
        <p:spPr>
          <a:xfrm rot="13691150">
            <a:off x="6880636" y="3673695"/>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ZoneTexte 13">
            <a:extLst>
              <a:ext uri="{FF2B5EF4-FFF2-40B4-BE49-F238E27FC236}">
                <a16:creationId xmlns:a16="http://schemas.microsoft.com/office/drawing/2014/main" id="{D45CABA2-652E-E75F-C7F6-B01041B0A52C}"/>
              </a:ext>
            </a:extLst>
          </p:cNvPr>
          <p:cNvSpPr txBox="1"/>
          <p:nvPr/>
        </p:nvSpPr>
        <p:spPr>
          <a:xfrm>
            <a:off x="6927956" y="4129735"/>
            <a:ext cx="4002216" cy="646331"/>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Etablir un </a:t>
            </a:r>
            <a:r>
              <a:rPr lang="fr-FR" sz="1200" b="1" noProof="0" dirty="0">
                <a:solidFill>
                  <a:schemeClr val="bg2">
                    <a:lumMod val="25000"/>
                  </a:schemeClr>
                </a:solidFill>
              </a:rPr>
              <a:t>lien</a:t>
            </a:r>
            <a:r>
              <a:rPr lang="fr-FR" sz="1200" noProof="0" dirty="0">
                <a:solidFill>
                  <a:schemeClr val="bg2">
                    <a:lumMod val="25000"/>
                  </a:schemeClr>
                </a:solidFill>
              </a:rPr>
              <a:t> entre la </a:t>
            </a:r>
            <a:r>
              <a:rPr lang="fr-FR" sz="1200" b="1" noProof="0" dirty="0">
                <a:solidFill>
                  <a:schemeClr val="bg2">
                    <a:lumMod val="25000"/>
                  </a:schemeClr>
                </a:solidFill>
              </a:rPr>
              <a:t>dynamique galactique </a:t>
            </a:r>
            <a:r>
              <a:rPr lang="fr-FR" sz="1200" noProof="0" dirty="0">
                <a:solidFill>
                  <a:schemeClr val="bg2">
                    <a:lumMod val="25000"/>
                  </a:schemeClr>
                </a:solidFill>
              </a:rPr>
              <a:t>induite par le </a:t>
            </a:r>
            <a:r>
              <a:rPr lang="fr-FR" sz="1200" b="1" noProof="0" dirty="0">
                <a:solidFill>
                  <a:schemeClr val="bg2">
                    <a:lumMod val="25000"/>
                  </a:schemeClr>
                </a:solidFill>
              </a:rPr>
              <a:t>potentiel gravitationnel local </a:t>
            </a:r>
            <a:r>
              <a:rPr lang="fr-FR" sz="1200" noProof="0" dirty="0">
                <a:solidFill>
                  <a:schemeClr val="bg2">
                    <a:lumMod val="25000"/>
                  </a:schemeClr>
                </a:solidFill>
              </a:rPr>
              <a:t>et les </a:t>
            </a:r>
            <a:r>
              <a:rPr lang="fr-FR" sz="1200" b="1" noProof="0" dirty="0">
                <a:solidFill>
                  <a:schemeClr val="bg2">
                    <a:lumMod val="25000"/>
                  </a:schemeClr>
                </a:solidFill>
              </a:rPr>
              <a:t>vitesses </a:t>
            </a:r>
            <a:r>
              <a:rPr lang="fr-FR" sz="1200" noProof="0" dirty="0">
                <a:solidFill>
                  <a:schemeClr val="bg2">
                    <a:lumMod val="25000"/>
                  </a:schemeClr>
                </a:solidFill>
              </a:rPr>
              <a:t>des objets du Cygne</a:t>
            </a:r>
          </a:p>
        </p:txBody>
      </p:sp>
      <p:sp>
        <p:nvSpPr>
          <p:cNvPr id="63" name="L-Shape 62">
            <a:extLst>
              <a:ext uri="{FF2B5EF4-FFF2-40B4-BE49-F238E27FC236}">
                <a16:creationId xmlns:a16="http://schemas.microsoft.com/office/drawing/2014/main" id="{8DA83BEF-EB6E-EA82-2DF0-DE1AD5A48B9C}"/>
              </a:ext>
            </a:extLst>
          </p:cNvPr>
          <p:cNvSpPr/>
          <p:nvPr/>
        </p:nvSpPr>
        <p:spPr>
          <a:xfrm rot="13691150">
            <a:off x="6880636" y="4241809"/>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ZoneTexte 13">
            <a:extLst>
              <a:ext uri="{FF2B5EF4-FFF2-40B4-BE49-F238E27FC236}">
                <a16:creationId xmlns:a16="http://schemas.microsoft.com/office/drawing/2014/main" id="{5EFF461D-2949-AE63-12A8-5B8CAFB4B7A0}"/>
              </a:ext>
            </a:extLst>
          </p:cNvPr>
          <p:cNvSpPr txBox="1"/>
          <p:nvPr/>
        </p:nvSpPr>
        <p:spPr>
          <a:xfrm>
            <a:off x="6929553" y="4842387"/>
            <a:ext cx="4002216" cy="276999"/>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Lier le processus de </a:t>
            </a:r>
            <a:r>
              <a:rPr lang="fr-FR" sz="1200" b="1" noProof="0" dirty="0">
                <a:solidFill>
                  <a:schemeClr val="bg2">
                    <a:lumMod val="25000"/>
                  </a:schemeClr>
                </a:solidFill>
              </a:rPr>
              <a:t>collision de nuages moléculaires</a:t>
            </a:r>
          </a:p>
        </p:txBody>
      </p:sp>
      <p:sp>
        <p:nvSpPr>
          <p:cNvPr id="66" name="L-Shape 65">
            <a:extLst>
              <a:ext uri="{FF2B5EF4-FFF2-40B4-BE49-F238E27FC236}">
                <a16:creationId xmlns:a16="http://schemas.microsoft.com/office/drawing/2014/main" id="{4000BBA5-E478-CE3C-C9D2-87D40E28A83A}"/>
              </a:ext>
            </a:extLst>
          </p:cNvPr>
          <p:cNvSpPr/>
          <p:nvPr/>
        </p:nvSpPr>
        <p:spPr>
          <a:xfrm rot="13691150">
            <a:off x="6882233" y="4954461"/>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23516256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2A4CE-DBB9-9B67-B5C3-FF8C70C96BD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C94FFF1-1292-E8F7-BBD6-48B75B533A15}"/>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87B2ECE9-B44A-C05A-2F80-E75FDB530E3D}"/>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Notions cinématiques et paramètres fondamentaux</a:t>
            </a:r>
          </a:p>
        </p:txBody>
      </p:sp>
      <p:sp>
        <p:nvSpPr>
          <p:cNvPr id="4" name="Espace réservé de la date 3">
            <a:extLst>
              <a:ext uri="{FF2B5EF4-FFF2-40B4-BE49-F238E27FC236}">
                <a16:creationId xmlns:a16="http://schemas.microsoft.com/office/drawing/2014/main" id="{B3FE1083-8F05-ED1A-BDCE-8DD7BF90D994}"/>
              </a:ext>
            </a:extLst>
          </p:cNvPr>
          <p:cNvSpPr>
            <a:spLocks noGrp="1"/>
          </p:cNvSpPr>
          <p:nvPr>
            <p:ph type="dt" sz="half" idx="10"/>
          </p:nvPr>
        </p:nvSpPr>
        <p:spPr>
          <a:xfrm>
            <a:off x="195948" y="6400195"/>
            <a:ext cx="2743200" cy="365125"/>
          </a:xfrm>
        </p:spPr>
        <p:txBody>
          <a:bodyPr/>
          <a:lstStyle/>
          <a:p>
            <a:fld id="{E2DC191A-0AFA-4748-A17D-759B6F9426B9}" type="datetime1">
              <a:rPr lang="fr-FR" noProof="0" smtClean="0"/>
              <a:t>17/06/2026</a:t>
            </a:fld>
            <a:endParaRPr lang="fr-FR" noProof="0" dirty="0"/>
          </a:p>
        </p:txBody>
      </p:sp>
      <p:sp>
        <p:nvSpPr>
          <p:cNvPr id="5" name="Espace réservé du numéro de diapositive 4">
            <a:extLst>
              <a:ext uri="{FF2B5EF4-FFF2-40B4-BE49-F238E27FC236}">
                <a16:creationId xmlns:a16="http://schemas.microsoft.com/office/drawing/2014/main" id="{938BF042-F506-5C9C-A898-108F4BEF5151}"/>
              </a:ext>
            </a:extLst>
          </p:cNvPr>
          <p:cNvSpPr>
            <a:spLocks noGrp="1"/>
          </p:cNvSpPr>
          <p:nvPr>
            <p:ph type="sldNum" sz="quarter" idx="12"/>
          </p:nvPr>
        </p:nvSpPr>
        <p:spPr>
          <a:xfrm>
            <a:off x="9401628" y="6455811"/>
            <a:ext cx="2743200" cy="365125"/>
          </a:xfrm>
        </p:spPr>
        <p:txBody>
          <a:bodyPr/>
          <a:lstStyle/>
          <a:p>
            <a:fld id="{E3EC9F48-C5B6-4727-AEEA-2F88FA0098DB}" type="slidenum">
              <a:rPr lang="fr-FR" noProof="0" smtClean="0"/>
              <a:t>5</a:t>
            </a:fld>
            <a:endParaRPr lang="fr-FR" noProof="0" dirty="0"/>
          </a:p>
        </p:txBody>
      </p:sp>
      <p:pic>
        <p:nvPicPr>
          <p:cNvPr id="11" name="Picture 2">
            <a:extLst>
              <a:ext uri="{FF2B5EF4-FFF2-40B4-BE49-F238E27FC236}">
                <a16:creationId xmlns:a16="http://schemas.microsoft.com/office/drawing/2014/main" id="{C40331BA-F148-FBE1-F1EF-9669172B66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866A7B34-CB6E-EF6A-ADA9-A5C897CB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sp>
        <p:nvSpPr>
          <p:cNvPr id="36" name="ZoneTexte 13">
            <a:extLst>
              <a:ext uri="{FF2B5EF4-FFF2-40B4-BE49-F238E27FC236}">
                <a16:creationId xmlns:a16="http://schemas.microsoft.com/office/drawing/2014/main" id="{8A4F58C6-A4A5-839F-858A-05E65B15B39F}"/>
              </a:ext>
            </a:extLst>
          </p:cNvPr>
          <p:cNvSpPr txBox="1"/>
          <p:nvPr/>
        </p:nvSpPr>
        <p:spPr>
          <a:xfrm>
            <a:off x="7500039" y="2551771"/>
            <a:ext cx="4550164" cy="338554"/>
          </a:xfrm>
          <a:prstGeom prst="rect">
            <a:avLst/>
          </a:prstGeom>
          <a:noFill/>
        </p:spPr>
        <p:txBody>
          <a:bodyPr wrap="square" lIns="91440" tIns="45720" rIns="91440" bIns="45720" rtlCol="0" anchor="t">
            <a:spAutoFit/>
          </a:bodyPr>
          <a:lstStyle/>
          <a:p>
            <a:r>
              <a:rPr lang="fr-FR" sz="1600" b="1" noProof="0" dirty="0">
                <a:solidFill>
                  <a:schemeClr val="bg1">
                    <a:lumMod val="95000"/>
                  </a:schemeClr>
                </a:solidFill>
              </a:rPr>
              <a:t>Phase 2: Analyse et synthèse</a:t>
            </a:r>
            <a:endParaRPr lang="fr-FR" noProof="0" dirty="0">
              <a:solidFill>
                <a:schemeClr val="bg1">
                  <a:lumMod val="95000"/>
                </a:schemeClr>
              </a:solidFill>
            </a:endParaRPr>
          </a:p>
        </p:txBody>
      </p:sp>
      <p:pic>
        <p:nvPicPr>
          <p:cNvPr id="8" name="Picture 7">
            <a:extLst>
              <a:ext uri="{FF2B5EF4-FFF2-40B4-BE49-F238E27FC236}">
                <a16:creationId xmlns:a16="http://schemas.microsoft.com/office/drawing/2014/main" id="{73EECE42-1CC9-D9CF-084B-5328881526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3434" y="1880664"/>
            <a:ext cx="4550164" cy="2764550"/>
          </a:xfrm>
          <a:prstGeom prst="rect">
            <a:avLst/>
          </a:prstGeom>
        </p:spPr>
      </p:pic>
      <p:sp>
        <p:nvSpPr>
          <p:cNvPr id="13" name="Rectangle : coins arrondis 8">
            <a:extLst>
              <a:ext uri="{FF2B5EF4-FFF2-40B4-BE49-F238E27FC236}">
                <a16:creationId xmlns:a16="http://schemas.microsoft.com/office/drawing/2014/main" id="{20308675-5EDA-8399-337E-0E2E4AB261A9}"/>
              </a:ext>
            </a:extLst>
          </p:cNvPr>
          <p:cNvSpPr/>
          <p:nvPr/>
        </p:nvSpPr>
        <p:spPr>
          <a:xfrm>
            <a:off x="750278" y="1394854"/>
            <a:ext cx="4259384" cy="338555"/>
          </a:xfrm>
          <a:prstGeom prst="roundRect">
            <a:avLst/>
          </a:prstGeom>
          <a:solidFill>
            <a:srgbClr val="0F172A"/>
          </a:solidFill>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16" name="ZoneTexte 13">
            <a:extLst>
              <a:ext uri="{FF2B5EF4-FFF2-40B4-BE49-F238E27FC236}">
                <a16:creationId xmlns:a16="http://schemas.microsoft.com/office/drawing/2014/main" id="{FB4A7046-EBDE-B187-809A-D2A0BE91869E}"/>
              </a:ext>
            </a:extLst>
          </p:cNvPr>
          <p:cNvSpPr txBox="1"/>
          <p:nvPr/>
        </p:nvSpPr>
        <p:spPr>
          <a:xfrm>
            <a:off x="1529052" y="1394854"/>
            <a:ext cx="2618928" cy="338554"/>
          </a:xfrm>
          <a:prstGeom prst="rect">
            <a:avLst/>
          </a:prstGeom>
          <a:noFill/>
        </p:spPr>
        <p:txBody>
          <a:bodyPr wrap="square" lIns="91440" tIns="45720" rIns="91440" bIns="45720" rtlCol="0" anchor="t">
            <a:spAutoFit/>
          </a:bodyPr>
          <a:lstStyle/>
          <a:p>
            <a:r>
              <a:rPr lang="fr-FR" sz="1600" b="1" noProof="0" dirty="0">
                <a:solidFill>
                  <a:schemeClr val="bg1">
                    <a:lumMod val="95000"/>
                  </a:schemeClr>
                </a:solidFill>
              </a:rPr>
              <a:t>Référentiel galactocentrique</a:t>
            </a:r>
            <a:endParaRPr lang="fr-FR" noProof="0" dirty="0">
              <a:solidFill>
                <a:schemeClr val="bg1">
                  <a:lumMod val="95000"/>
                </a:schemeClr>
              </a:solidFill>
            </a:endParaRPr>
          </a:p>
        </p:txBody>
      </p:sp>
      <p:sp>
        <p:nvSpPr>
          <p:cNvPr id="21" name="Rectangle : coins arrondis 8">
            <a:extLst>
              <a:ext uri="{FF2B5EF4-FFF2-40B4-BE49-F238E27FC236}">
                <a16:creationId xmlns:a16="http://schemas.microsoft.com/office/drawing/2014/main" id="{4DEB52B2-306D-B427-8088-EC5FBCB0A57F}"/>
              </a:ext>
            </a:extLst>
          </p:cNvPr>
          <p:cNvSpPr/>
          <p:nvPr/>
        </p:nvSpPr>
        <p:spPr>
          <a:xfrm>
            <a:off x="5734953" y="1342606"/>
            <a:ext cx="5972493" cy="1605599"/>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22" name="ZoneTexte 13">
            <a:extLst>
              <a:ext uri="{FF2B5EF4-FFF2-40B4-BE49-F238E27FC236}">
                <a16:creationId xmlns:a16="http://schemas.microsoft.com/office/drawing/2014/main" id="{A709B8AB-1962-AA7F-B7C8-473D8BDA4995}"/>
              </a:ext>
            </a:extLst>
          </p:cNvPr>
          <p:cNvSpPr txBox="1"/>
          <p:nvPr/>
        </p:nvSpPr>
        <p:spPr>
          <a:xfrm>
            <a:off x="6157726" y="1415846"/>
            <a:ext cx="4534212"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Composantes de vitesse particulière</a:t>
            </a:r>
            <a:endParaRPr lang="fr-FR" noProof="0" dirty="0">
              <a:solidFill>
                <a:schemeClr val="bg2">
                  <a:lumMod val="25000"/>
                </a:schemeClr>
              </a:solidFill>
            </a:endParaRPr>
          </a:p>
        </p:txBody>
      </p:sp>
      <mc:AlternateContent xmlns:mc="http://schemas.openxmlformats.org/markup-compatibility/2006">
        <mc:Choice xmlns:a14="http://schemas.microsoft.com/office/drawing/2010/main" Requires="a14">
          <p:sp>
            <p:nvSpPr>
              <p:cNvPr id="41" name="ZoneTexte 14">
                <a:extLst>
                  <a:ext uri="{FF2B5EF4-FFF2-40B4-BE49-F238E27FC236}">
                    <a16:creationId xmlns:a16="http://schemas.microsoft.com/office/drawing/2014/main" id="{2FC1BB77-3A1C-82BA-A5B2-3C9EEE144745}"/>
                  </a:ext>
                </a:extLst>
              </p:cNvPr>
              <p:cNvSpPr txBox="1"/>
              <p:nvPr/>
            </p:nvSpPr>
            <p:spPr>
              <a:xfrm>
                <a:off x="6084786" y="1880513"/>
                <a:ext cx="5295757" cy="975011"/>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rPr>
                  <a:t>U: Composante </a:t>
                </a:r>
                <a:r>
                  <a:rPr lang="fr-FR" sz="1100" b="1" noProof="0" dirty="0">
                    <a:solidFill>
                      <a:schemeClr val="bg2">
                        <a:lumMod val="25000"/>
                      </a:schemeClr>
                    </a:solidFill>
                  </a:rPr>
                  <a:t>radiale</a:t>
                </a:r>
                <a:r>
                  <a:rPr lang="fr-FR" sz="1100" noProof="0" dirty="0">
                    <a:solidFill>
                      <a:schemeClr val="bg2">
                        <a:lumMod val="25000"/>
                      </a:schemeClr>
                    </a:solidFill>
                  </a:rPr>
                  <a:t> galactique, selon l’axe </a:t>
                </a:r>
                <a14:m>
                  <m:oMath xmlns:m="http://schemas.openxmlformats.org/officeDocument/2006/math">
                    <m:acc>
                      <m:accPr>
                        <m:chr m:val="⃗"/>
                        <m:ctrlPr>
                          <a:rPr lang="fr-FR" sz="1100" i="1" noProof="0" smtClean="0">
                            <a:solidFill>
                              <a:schemeClr val="bg2">
                                <a:lumMod val="25000"/>
                              </a:schemeClr>
                            </a:solidFill>
                            <a:latin typeface="Cambria Math" panose="02040503050406030204" pitchFamily="18" charset="0"/>
                          </a:rPr>
                        </m:ctrlPr>
                      </m:accPr>
                      <m:e>
                        <m:r>
                          <a:rPr lang="fr-FR" sz="1100" b="0" i="1" noProof="0" smtClean="0">
                            <a:solidFill>
                              <a:schemeClr val="bg2">
                                <a:lumMod val="25000"/>
                              </a:schemeClr>
                            </a:solidFill>
                            <a:latin typeface="Cambria Math" panose="02040503050406030204" pitchFamily="18" charset="0"/>
                          </a:rPr>
                          <m:t>𝑥</m:t>
                        </m:r>
                      </m:e>
                    </m:acc>
                  </m:oMath>
                </a14:m>
                <a:endParaRPr lang="fr-FR" noProof="0" dirty="0">
                  <a:solidFill>
                    <a:schemeClr val="bg2">
                      <a:lumMod val="25000"/>
                    </a:schemeClr>
                  </a:solidFill>
                </a:endParaRPr>
              </a:p>
              <a:p>
                <a:endParaRPr lang="fr-FR" sz="1100"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V: Composante </a:t>
                </a:r>
                <a:r>
                  <a:rPr lang="fr-FR" sz="1100" b="1" noProof="0" dirty="0">
                    <a:solidFill>
                      <a:schemeClr val="bg2">
                        <a:lumMod val="25000"/>
                      </a:schemeClr>
                    </a:solidFill>
                    <a:ea typeface="Calibri"/>
                    <a:cs typeface="Calibri"/>
                  </a:rPr>
                  <a:t>tangentielle</a:t>
                </a:r>
                <a:r>
                  <a:rPr lang="fr-FR" sz="1100" noProof="0" dirty="0">
                    <a:solidFill>
                      <a:schemeClr val="bg2">
                        <a:lumMod val="25000"/>
                      </a:schemeClr>
                    </a:solidFill>
                    <a:ea typeface="Calibri"/>
                    <a:cs typeface="Calibri"/>
                  </a:rPr>
                  <a:t> orientée dans le sens de la </a:t>
                </a:r>
                <a:r>
                  <a:rPr lang="fr-FR" sz="1100" b="1" noProof="0" dirty="0">
                    <a:solidFill>
                      <a:schemeClr val="bg2">
                        <a:lumMod val="25000"/>
                      </a:schemeClr>
                    </a:solidFill>
                    <a:ea typeface="Calibri"/>
                    <a:cs typeface="Calibri"/>
                  </a:rPr>
                  <a:t>rotation galactique</a:t>
                </a:r>
                <a:r>
                  <a:rPr lang="fr-FR" sz="1100" noProof="0" dirty="0">
                    <a:solidFill>
                      <a:schemeClr val="bg2">
                        <a:lumMod val="25000"/>
                      </a:schemeClr>
                    </a:solidFill>
                    <a:ea typeface="Calibri"/>
                    <a:cs typeface="Calibri"/>
                  </a:rPr>
                  <a:t>, selon </a:t>
                </a:r>
                <a:r>
                  <a:rPr lang="fr-FR" sz="1100" noProof="0" dirty="0">
                    <a:solidFill>
                      <a:schemeClr val="bg2">
                        <a:lumMod val="25000"/>
                      </a:schemeClr>
                    </a:solidFill>
                  </a:rPr>
                  <a:t>l’axe </a:t>
                </a:r>
                <a14:m>
                  <m:oMath xmlns:m="http://schemas.openxmlformats.org/officeDocument/2006/math">
                    <m:acc>
                      <m:accPr>
                        <m:chr m:val="⃗"/>
                        <m:ctrlPr>
                          <a:rPr lang="fr-FR" sz="1100" i="1" noProof="0" smtClean="0">
                            <a:solidFill>
                              <a:schemeClr val="bg2">
                                <a:lumMod val="25000"/>
                              </a:schemeClr>
                            </a:solidFill>
                            <a:latin typeface="Cambria Math" panose="02040503050406030204" pitchFamily="18" charset="0"/>
                          </a:rPr>
                        </m:ctrlPr>
                      </m:accPr>
                      <m:e>
                        <m:r>
                          <a:rPr lang="fr-FR" sz="1100" b="0" i="1" noProof="0" smtClean="0">
                            <a:solidFill>
                              <a:schemeClr val="bg2">
                                <a:lumMod val="25000"/>
                              </a:schemeClr>
                            </a:solidFill>
                            <a:latin typeface="Cambria Math" panose="02040503050406030204" pitchFamily="18" charset="0"/>
                          </a:rPr>
                          <m:t>𝑦</m:t>
                        </m:r>
                      </m:e>
                    </m:acc>
                  </m:oMath>
                </a14:m>
                <a:endParaRPr lang="fr-FR" sz="1100" noProof="0" dirty="0">
                  <a:solidFill>
                    <a:schemeClr val="bg2">
                      <a:lumMod val="25000"/>
                    </a:schemeClr>
                  </a:solidFill>
                </a:endParaRPr>
              </a:p>
              <a:p>
                <a:endParaRPr lang="fr-FR" sz="1100" b="1"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W: Composante </a:t>
                </a:r>
                <a:r>
                  <a:rPr lang="fr-FR" sz="1100" b="1" noProof="0" dirty="0">
                    <a:solidFill>
                      <a:schemeClr val="bg2">
                        <a:lumMod val="25000"/>
                      </a:schemeClr>
                    </a:solidFill>
                    <a:ea typeface="Calibri"/>
                    <a:cs typeface="Calibri"/>
                  </a:rPr>
                  <a:t>perpendiculaire</a:t>
                </a:r>
                <a:r>
                  <a:rPr lang="fr-FR" sz="1100" noProof="0" dirty="0">
                    <a:solidFill>
                      <a:schemeClr val="bg2">
                        <a:lumMod val="25000"/>
                      </a:schemeClr>
                    </a:solidFill>
                    <a:ea typeface="Calibri"/>
                    <a:cs typeface="Calibri"/>
                  </a:rPr>
                  <a:t> au plan galactique, selon l’axe</a:t>
                </a:r>
                <a:r>
                  <a:rPr lang="fr-FR" sz="1100" noProof="0" dirty="0">
                    <a:solidFill>
                      <a:schemeClr val="bg2">
                        <a:lumMod val="25000"/>
                      </a:schemeClr>
                    </a:solidFill>
                  </a:rPr>
                  <a:t> </a:t>
                </a:r>
                <a14:m>
                  <m:oMath xmlns:m="http://schemas.openxmlformats.org/officeDocument/2006/math">
                    <m:acc>
                      <m:accPr>
                        <m:chr m:val="⃗"/>
                        <m:ctrlPr>
                          <a:rPr lang="fr-FR" sz="1100" i="1" noProof="0" smtClean="0">
                            <a:solidFill>
                              <a:schemeClr val="bg2">
                                <a:lumMod val="25000"/>
                              </a:schemeClr>
                            </a:solidFill>
                            <a:latin typeface="Cambria Math" panose="02040503050406030204" pitchFamily="18" charset="0"/>
                          </a:rPr>
                        </m:ctrlPr>
                      </m:accPr>
                      <m:e>
                        <m:r>
                          <a:rPr lang="fr-FR" sz="1100" b="0" i="1" noProof="0" smtClean="0">
                            <a:solidFill>
                              <a:schemeClr val="bg2">
                                <a:lumMod val="25000"/>
                              </a:schemeClr>
                            </a:solidFill>
                            <a:latin typeface="Cambria Math" panose="02040503050406030204" pitchFamily="18" charset="0"/>
                          </a:rPr>
                          <m:t>𝑧</m:t>
                        </m:r>
                      </m:e>
                    </m:acc>
                  </m:oMath>
                </a14:m>
                <a:endParaRPr lang="fr-FR" sz="1100" noProof="0" dirty="0">
                  <a:solidFill>
                    <a:schemeClr val="bg2">
                      <a:lumMod val="25000"/>
                    </a:schemeClr>
                  </a:solidFill>
                  <a:ea typeface="Calibri"/>
                  <a:cs typeface="Calibri"/>
                </a:endParaRPr>
              </a:p>
            </p:txBody>
          </p:sp>
        </mc:Choice>
        <mc:Fallback>
          <p:sp>
            <p:nvSpPr>
              <p:cNvPr id="41" name="ZoneTexte 14">
                <a:extLst>
                  <a:ext uri="{FF2B5EF4-FFF2-40B4-BE49-F238E27FC236}">
                    <a16:creationId xmlns:a16="http://schemas.microsoft.com/office/drawing/2014/main" id="{2FC1BB77-3A1C-82BA-A5B2-3C9EEE144745}"/>
                  </a:ext>
                </a:extLst>
              </p:cNvPr>
              <p:cNvSpPr txBox="1">
                <a:spLocks noRot="1" noChangeAspect="1" noMove="1" noResize="1" noEditPoints="1" noAdjustHandles="1" noChangeArrowheads="1" noChangeShapeType="1" noTextEdit="1"/>
              </p:cNvSpPr>
              <p:nvPr/>
            </p:nvSpPr>
            <p:spPr>
              <a:xfrm>
                <a:off x="6084786" y="1880513"/>
                <a:ext cx="5295757" cy="975011"/>
              </a:xfrm>
              <a:prstGeom prst="rect">
                <a:avLst/>
              </a:prstGeom>
              <a:blipFill>
                <a:blip r:embed="rId5"/>
                <a:stretch>
                  <a:fillRect t="-625" r="-1266"/>
                </a:stretch>
              </a:blipFill>
            </p:spPr>
            <p:txBody>
              <a:bodyPr/>
              <a:lstStyle/>
              <a:p>
                <a:r>
                  <a:rPr lang="fr-FR">
                    <a:noFill/>
                  </a:rPr>
                  <a:t> </a:t>
                </a:r>
              </a:p>
            </p:txBody>
          </p:sp>
        </mc:Fallback>
      </mc:AlternateContent>
      <p:pic>
        <p:nvPicPr>
          <p:cNvPr id="43" name="Graphic 42" descr="Arrow Right with solid fill">
            <a:extLst>
              <a:ext uri="{FF2B5EF4-FFF2-40B4-BE49-F238E27FC236}">
                <a16:creationId xmlns:a16="http://schemas.microsoft.com/office/drawing/2014/main" id="{E381FB28-072B-63B8-F63C-97B889457E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1575" y="1879303"/>
            <a:ext cx="244511" cy="328246"/>
          </a:xfrm>
          <a:prstGeom prst="rect">
            <a:avLst/>
          </a:prstGeom>
        </p:spPr>
      </p:pic>
      <p:pic>
        <p:nvPicPr>
          <p:cNvPr id="44" name="Graphic 43" descr="Arrow Right with solid fill">
            <a:extLst>
              <a:ext uri="{FF2B5EF4-FFF2-40B4-BE49-F238E27FC236}">
                <a16:creationId xmlns:a16="http://schemas.microsoft.com/office/drawing/2014/main" id="{66BC91E6-DA38-4CB3-7C8A-CF7705696DE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9948" y="2199736"/>
            <a:ext cx="244511" cy="328246"/>
          </a:xfrm>
          <a:prstGeom prst="rect">
            <a:avLst/>
          </a:prstGeom>
        </p:spPr>
      </p:pic>
      <p:pic>
        <p:nvPicPr>
          <p:cNvPr id="45" name="Graphic 44" descr="Fast Forward with solid fill">
            <a:extLst>
              <a:ext uri="{FF2B5EF4-FFF2-40B4-BE49-F238E27FC236}">
                <a16:creationId xmlns:a16="http://schemas.microsoft.com/office/drawing/2014/main" id="{770BD78C-27C2-B917-9374-73DE9FCB8D6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94792" y="1463997"/>
            <a:ext cx="286379" cy="252886"/>
          </a:xfrm>
          <a:prstGeom prst="rect">
            <a:avLst/>
          </a:prstGeom>
        </p:spPr>
      </p:pic>
      <p:pic>
        <p:nvPicPr>
          <p:cNvPr id="46" name="Graphic 45" descr="Arrow Right with solid fill">
            <a:extLst>
              <a:ext uri="{FF2B5EF4-FFF2-40B4-BE49-F238E27FC236}">
                <a16:creationId xmlns:a16="http://schemas.microsoft.com/office/drawing/2014/main" id="{BF93B33A-6A07-1FE0-A07C-239EDAC74C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9948" y="2522568"/>
            <a:ext cx="244511" cy="328246"/>
          </a:xfrm>
          <a:prstGeom prst="rect">
            <a:avLst/>
          </a:prstGeom>
        </p:spPr>
      </p:pic>
      <p:sp>
        <p:nvSpPr>
          <p:cNvPr id="47" name="Rectangle : coins arrondis 8">
            <a:extLst>
              <a:ext uri="{FF2B5EF4-FFF2-40B4-BE49-F238E27FC236}">
                <a16:creationId xmlns:a16="http://schemas.microsoft.com/office/drawing/2014/main" id="{BA935D1B-8947-FCBE-866E-C74F8EA752F3}"/>
              </a:ext>
            </a:extLst>
          </p:cNvPr>
          <p:cNvSpPr/>
          <p:nvPr/>
        </p:nvSpPr>
        <p:spPr>
          <a:xfrm>
            <a:off x="5727781" y="3047350"/>
            <a:ext cx="5972493" cy="1635860"/>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48" name="ZoneTexte 13">
            <a:extLst>
              <a:ext uri="{FF2B5EF4-FFF2-40B4-BE49-F238E27FC236}">
                <a16:creationId xmlns:a16="http://schemas.microsoft.com/office/drawing/2014/main" id="{C1E92487-B47E-6070-B4D6-B06AE30B9D00}"/>
              </a:ext>
            </a:extLst>
          </p:cNvPr>
          <p:cNvSpPr txBox="1"/>
          <p:nvPr/>
        </p:nvSpPr>
        <p:spPr>
          <a:xfrm>
            <a:off x="6181171" y="3128401"/>
            <a:ext cx="4534212"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LSR (Local Standard of Rest)</a:t>
            </a:r>
            <a:endParaRPr lang="fr-FR" noProof="0" dirty="0">
              <a:solidFill>
                <a:schemeClr val="bg2">
                  <a:lumMod val="25000"/>
                </a:schemeClr>
              </a:solidFill>
            </a:endParaRPr>
          </a:p>
        </p:txBody>
      </p:sp>
      <mc:AlternateContent xmlns:mc="http://schemas.openxmlformats.org/markup-compatibility/2006">
        <mc:Choice xmlns:a14="http://schemas.microsoft.com/office/drawing/2010/main" Requires="a14">
          <p:sp>
            <p:nvSpPr>
              <p:cNvPr id="49" name="ZoneTexte 14">
                <a:extLst>
                  <a:ext uri="{FF2B5EF4-FFF2-40B4-BE49-F238E27FC236}">
                    <a16:creationId xmlns:a16="http://schemas.microsoft.com/office/drawing/2014/main" id="{07BDCA01-FBA2-0DBE-1A6E-EDEB7488AA66}"/>
                  </a:ext>
                </a:extLst>
              </p:cNvPr>
              <p:cNvSpPr txBox="1"/>
              <p:nvPr/>
            </p:nvSpPr>
            <p:spPr>
              <a:xfrm>
                <a:off x="6084786" y="3593069"/>
                <a:ext cx="5747655" cy="938719"/>
              </a:xfrm>
              <a:prstGeom prst="rect">
                <a:avLst/>
              </a:prstGeom>
              <a:noFill/>
            </p:spPr>
            <p:txBody>
              <a:bodyPr wrap="square" lIns="91440" tIns="45720" rIns="91440" bIns="45720" rtlCol="0" anchor="t">
                <a:spAutoFit/>
              </a:bodyPr>
              <a:lstStyle/>
              <a:p>
                <a:r>
                  <a:rPr lang="fr-FR" sz="1100" noProof="0" dirty="0">
                    <a:solidFill>
                      <a:schemeClr val="bg2">
                        <a:lumMod val="25000"/>
                      </a:schemeClr>
                    </a:solidFill>
                    <a:ea typeface="Calibri"/>
                    <a:cs typeface="Calibri"/>
                  </a:rPr>
                  <a:t>Point </a:t>
                </a:r>
                <a:r>
                  <a:rPr lang="fr-FR" sz="1100" b="1" noProof="0" dirty="0">
                    <a:solidFill>
                      <a:schemeClr val="bg2">
                        <a:lumMod val="25000"/>
                      </a:schemeClr>
                    </a:solidFill>
                    <a:ea typeface="Calibri"/>
                    <a:cs typeface="Calibri"/>
                  </a:rPr>
                  <a:t>imaginaire</a:t>
                </a:r>
                <a:r>
                  <a:rPr lang="fr-FR" sz="1100" noProof="0" dirty="0">
                    <a:solidFill>
                      <a:schemeClr val="bg2">
                        <a:lumMod val="25000"/>
                      </a:schemeClr>
                    </a:solidFill>
                    <a:ea typeface="Calibri"/>
                    <a:cs typeface="Calibri"/>
                  </a:rPr>
                  <a:t> idéal situé à la </a:t>
                </a:r>
                <a:r>
                  <a:rPr lang="fr-FR" sz="1100" b="1" noProof="0" dirty="0">
                    <a:solidFill>
                      <a:schemeClr val="bg2">
                        <a:lumMod val="25000"/>
                      </a:schemeClr>
                    </a:solidFill>
                    <a:ea typeface="Calibri"/>
                    <a:cs typeface="Calibri"/>
                  </a:rPr>
                  <a:t>distance du Soleil du centre galactique </a:t>
                </a:r>
                <a14:m>
                  <m:oMath xmlns:m="http://schemas.openxmlformats.org/officeDocument/2006/math">
                    <m:sSub>
                      <m:sSubPr>
                        <m:ctrlPr>
                          <a:rPr lang="fr-FR" sz="1100" b="1" i="1" noProof="0" smtClean="0">
                            <a:solidFill>
                              <a:schemeClr val="bg2">
                                <a:lumMod val="25000"/>
                              </a:schemeClr>
                            </a:solidFill>
                            <a:latin typeface="Cambria Math" panose="02040503050406030204" pitchFamily="18" charset="0"/>
                            <a:ea typeface="Calibri"/>
                            <a:cs typeface="Calibri"/>
                          </a:rPr>
                        </m:ctrlPr>
                      </m:sSubPr>
                      <m:e>
                        <m:r>
                          <a:rPr lang="fr-FR" sz="1100" b="1" i="1" noProof="0" smtClean="0">
                            <a:solidFill>
                              <a:schemeClr val="bg2">
                                <a:lumMod val="25000"/>
                              </a:schemeClr>
                            </a:solidFill>
                            <a:latin typeface="Cambria Math" panose="02040503050406030204" pitchFamily="18" charset="0"/>
                            <a:ea typeface="Calibri"/>
                            <a:cs typeface="Calibri"/>
                          </a:rPr>
                          <m:t>𝑹</m:t>
                        </m:r>
                      </m:e>
                      <m:sub>
                        <m:r>
                          <a:rPr lang="fr-FR" sz="1100" b="1" i="1" noProof="0" smtClean="0">
                            <a:solidFill>
                              <a:schemeClr val="bg2">
                                <a:lumMod val="25000"/>
                              </a:schemeClr>
                            </a:solidFill>
                            <a:latin typeface="Cambria Math" panose="02040503050406030204" pitchFamily="18" charset="0"/>
                            <a:ea typeface="Calibri"/>
                            <a:cs typeface="Calibri"/>
                          </a:rPr>
                          <m:t>𝟎</m:t>
                        </m:r>
                      </m:sub>
                    </m:sSub>
                  </m:oMath>
                </a14:m>
                <a:endParaRPr lang="fr-FR" sz="1100" b="1" noProof="0" dirty="0">
                  <a:solidFill>
                    <a:schemeClr val="bg2">
                      <a:lumMod val="25000"/>
                    </a:schemeClr>
                  </a:solidFill>
                  <a:ea typeface="Calibri"/>
                  <a:cs typeface="Calibri"/>
                </a:endParaRPr>
              </a:p>
              <a:p>
                <a:endParaRPr lang="fr-FR" sz="1100" b="1"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Décrit une </a:t>
                </a:r>
                <a:r>
                  <a:rPr lang="fr-FR" sz="1100" b="1" noProof="0" dirty="0">
                    <a:solidFill>
                      <a:schemeClr val="bg2">
                        <a:lumMod val="25000"/>
                      </a:schemeClr>
                    </a:solidFill>
                    <a:ea typeface="Calibri"/>
                    <a:cs typeface="Calibri"/>
                  </a:rPr>
                  <a:t>orbite parfaitement circulaire </a:t>
                </a:r>
                <a:r>
                  <a:rPr lang="fr-FR" sz="1100" noProof="0" dirty="0">
                    <a:solidFill>
                      <a:schemeClr val="bg2">
                        <a:lumMod val="25000"/>
                      </a:schemeClr>
                    </a:solidFill>
                    <a:ea typeface="Calibri"/>
                    <a:cs typeface="Calibri"/>
                  </a:rPr>
                  <a:t>à la</a:t>
                </a:r>
                <a:r>
                  <a:rPr lang="fr-FR" sz="1100" b="1" noProof="0" dirty="0">
                    <a:solidFill>
                      <a:schemeClr val="bg2">
                        <a:lumMod val="25000"/>
                      </a:schemeClr>
                    </a:solidFill>
                    <a:ea typeface="Calibri"/>
                    <a:cs typeface="Calibri"/>
                  </a:rPr>
                  <a:t> vitesse circulaire moyenne de la galaxie </a:t>
                </a:r>
                <a14:m>
                  <m:oMath xmlns:m="http://schemas.openxmlformats.org/officeDocument/2006/math">
                    <m:sSub>
                      <m:sSubPr>
                        <m:ctrlPr>
                          <a:rPr lang="fr-FR" sz="1100" b="1" i="1" noProof="0">
                            <a:solidFill>
                              <a:schemeClr val="bg2">
                                <a:lumMod val="25000"/>
                              </a:schemeClr>
                            </a:solidFill>
                            <a:latin typeface="Cambria Math" panose="02040503050406030204" pitchFamily="18" charset="0"/>
                            <a:ea typeface="Calibri"/>
                            <a:cs typeface="Calibri"/>
                          </a:rPr>
                        </m:ctrlPr>
                      </m:sSubPr>
                      <m:e>
                        <m:r>
                          <a:rPr lang="fr-FR" sz="1100" b="1" i="1" noProof="0" smtClean="0">
                            <a:solidFill>
                              <a:schemeClr val="bg2">
                                <a:lumMod val="25000"/>
                              </a:schemeClr>
                            </a:solidFill>
                            <a:latin typeface="Cambria Math" panose="02040503050406030204" pitchFamily="18" charset="0"/>
                            <a:ea typeface="Cambria Math" panose="02040503050406030204" pitchFamily="18" charset="0"/>
                            <a:cs typeface="Calibri"/>
                          </a:rPr>
                          <m:t>𝚯</m:t>
                        </m:r>
                      </m:e>
                      <m:sub>
                        <m:r>
                          <a:rPr lang="fr-FR" sz="1100" b="1" i="1" noProof="0">
                            <a:solidFill>
                              <a:schemeClr val="bg2">
                                <a:lumMod val="25000"/>
                              </a:schemeClr>
                            </a:solidFill>
                            <a:latin typeface="Cambria Math" panose="02040503050406030204" pitchFamily="18" charset="0"/>
                            <a:ea typeface="Calibri"/>
                            <a:cs typeface="Calibri"/>
                          </a:rPr>
                          <m:t>𝟎</m:t>
                        </m:r>
                      </m:sub>
                    </m:sSub>
                  </m:oMath>
                </a14:m>
                <a:r>
                  <a:rPr lang="fr-FR" sz="1100" b="1" noProof="0" dirty="0">
                    <a:solidFill>
                      <a:schemeClr val="bg2">
                        <a:lumMod val="25000"/>
                      </a:schemeClr>
                    </a:solidFill>
                    <a:ea typeface="Calibri"/>
                    <a:cs typeface="Calibri"/>
                  </a:rPr>
                  <a:t> </a:t>
                </a:r>
                <a:r>
                  <a:rPr lang="fr-FR" sz="1100" noProof="0" dirty="0">
                    <a:solidFill>
                      <a:schemeClr val="bg2">
                        <a:lumMod val="25000"/>
                      </a:schemeClr>
                    </a:solidFill>
                    <a:ea typeface="Calibri"/>
                    <a:cs typeface="Calibri"/>
                  </a:rPr>
                  <a:t>à </a:t>
                </a:r>
                <a14:m>
                  <m:oMath xmlns:m="http://schemas.openxmlformats.org/officeDocument/2006/math">
                    <m:sSub>
                      <m:sSubPr>
                        <m:ctrlPr>
                          <a:rPr lang="fr-FR" sz="1100" i="1" noProof="0">
                            <a:solidFill>
                              <a:schemeClr val="bg2">
                                <a:lumMod val="25000"/>
                              </a:schemeClr>
                            </a:solidFill>
                            <a:latin typeface="Cambria Math" panose="02040503050406030204" pitchFamily="18" charset="0"/>
                            <a:ea typeface="Calibri"/>
                            <a:cs typeface="Calibri"/>
                          </a:rPr>
                        </m:ctrlPr>
                      </m:sSubPr>
                      <m:e>
                        <m:r>
                          <a:rPr lang="fr-FR" sz="1100" b="0" i="1" noProof="0">
                            <a:solidFill>
                              <a:schemeClr val="bg2">
                                <a:lumMod val="25000"/>
                              </a:schemeClr>
                            </a:solidFill>
                            <a:latin typeface="Cambria Math" panose="02040503050406030204" pitchFamily="18" charset="0"/>
                            <a:ea typeface="Calibri"/>
                            <a:cs typeface="Calibri"/>
                          </a:rPr>
                          <m:t>𝑅</m:t>
                        </m:r>
                      </m:e>
                      <m:sub>
                        <m:r>
                          <a:rPr lang="fr-FR" sz="1100" b="0" i="1" noProof="0">
                            <a:solidFill>
                              <a:schemeClr val="bg2">
                                <a:lumMod val="25000"/>
                              </a:schemeClr>
                            </a:solidFill>
                            <a:latin typeface="Cambria Math" panose="02040503050406030204" pitchFamily="18" charset="0"/>
                            <a:ea typeface="Calibri"/>
                            <a:cs typeface="Calibri"/>
                          </a:rPr>
                          <m:t>0</m:t>
                        </m:r>
                      </m:sub>
                    </m:sSub>
                  </m:oMath>
                </a14:m>
                <a:endParaRPr lang="fr-FR" sz="1100" noProof="0" dirty="0">
                  <a:solidFill>
                    <a:schemeClr val="bg2">
                      <a:lumMod val="25000"/>
                    </a:schemeClr>
                  </a:solidFill>
                  <a:ea typeface="Calibri"/>
                  <a:cs typeface="Calibri"/>
                </a:endParaRPr>
              </a:p>
              <a:p>
                <a:endParaRPr lang="fr-FR" sz="1100" noProof="0" dirty="0">
                  <a:solidFill>
                    <a:schemeClr val="bg2">
                      <a:lumMod val="25000"/>
                    </a:schemeClr>
                  </a:solidFill>
                  <a:ea typeface="Calibri"/>
                  <a:cs typeface="Calibri"/>
                </a:endParaRPr>
              </a:p>
              <a:p>
                <a14:m>
                  <m:oMath xmlns:m="http://schemas.openxmlformats.org/officeDocument/2006/math">
                    <m:sSub>
                      <m:sSubPr>
                        <m:ctrlPr>
                          <a:rPr lang="fr-FR" sz="1100" i="1" noProof="0" smtClean="0">
                            <a:solidFill>
                              <a:schemeClr val="bg2">
                                <a:lumMod val="25000"/>
                              </a:schemeClr>
                            </a:solidFill>
                            <a:latin typeface="Cambria Math" panose="02040503050406030204" pitchFamily="18" charset="0"/>
                            <a:ea typeface="Calibri"/>
                            <a:cs typeface="Calibri"/>
                          </a:rPr>
                        </m:ctrlPr>
                      </m:sSubPr>
                      <m:e>
                        <m:r>
                          <a:rPr lang="fr-FR" sz="1100" b="0" i="1" noProof="0" smtClean="0">
                            <a:solidFill>
                              <a:schemeClr val="bg2">
                                <a:lumMod val="25000"/>
                              </a:schemeClr>
                            </a:solidFill>
                            <a:latin typeface="Cambria Math" panose="02040503050406030204" pitchFamily="18" charset="0"/>
                            <a:ea typeface="Calibri"/>
                            <a:cs typeface="Calibri"/>
                          </a:rPr>
                          <m:t>𝑈</m:t>
                        </m:r>
                      </m:e>
                      <m:sub>
                        <m:r>
                          <a:rPr lang="fr-FR" sz="1100" b="0" i="1" noProof="0" smtClean="0">
                            <a:solidFill>
                              <a:schemeClr val="bg2">
                                <a:lumMod val="25000"/>
                              </a:schemeClr>
                            </a:solidFill>
                            <a:latin typeface="Cambria Math" panose="02040503050406030204" pitchFamily="18" charset="0"/>
                            <a:ea typeface="Calibri"/>
                            <a:cs typeface="Calibri"/>
                          </a:rPr>
                          <m:t>𝐿𝑆𝑅</m:t>
                        </m:r>
                      </m:sub>
                    </m:sSub>
                    <m:r>
                      <a:rPr lang="fr-FR" sz="1100" b="0" i="1" noProof="0" smtClean="0">
                        <a:solidFill>
                          <a:schemeClr val="bg2">
                            <a:lumMod val="25000"/>
                          </a:schemeClr>
                        </a:solidFill>
                        <a:latin typeface="Cambria Math" panose="02040503050406030204" pitchFamily="18" charset="0"/>
                        <a:ea typeface="Calibri"/>
                        <a:cs typeface="Calibri"/>
                      </a:rPr>
                      <m:t>=0</m:t>
                    </m:r>
                    <m:r>
                      <a:rPr lang="fr-FR" sz="1100" b="0" i="0" noProof="0" smtClean="0">
                        <a:solidFill>
                          <a:schemeClr val="bg2">
                            <a:lumMod val="25000"/>
                          </a:schemeClr>
                        </a:solidFill>
                        <a:latin typeface="Cambria Math" panose="02040503050406030204" pitchFamily="18" charset="0"/>
                        <a:ea typeface="Calibri"/>
                        <a:cs typeface="Calibri"/>
                      </a:rPr>
                      <m:t> </m:t>
                    </m:r>
                  </m:oMath>
                </a14:m>
                <a:r>
                  <a:rPr lang="fr-FR" sz="1100" noProof="0" dirty="0">
                    <a:solidFill>
                      <a:schemeClr val="bg2">
                        <a:lumMod val="25000"/>
                      </a:schemeClr>
                    </a:solidFill>
                    <a:ea typeface="Calibri"/>
                    <a:cs typeface="Calibri"/>
                  </a:rPr>
                  <a:t>; </a:t>
                </a:r>
                <a14:m>
                  <m:oMath xmlns:m="http://schemas.openxmlformats.org/officeDocument/2006/math">
                    <m:sSub>
                      <m:sSubPr>
                        <m:ctrlPr>
                          <a:rPr lang="fr-FR" sz="1100" i="1" noProof="0" smtClean="0">
                            <a:solidFill>
                              <a:schemeClr val="bg2">
                                <a:lumMod val="25000"/>
                              </a:schemeClr>
                            </a:solidFill>
                            <a:latin typeface="Cambria Math" panose="02040503050406030204" pitchFamily="18" charset="0"/>
                            <a:ea typeface="Calibri"/>
                            <a:cs typeface="Calibri"/>
                          </a:rPr>
                        </m:ctrlPr>
                      </m:sSubPr>
                      <m:e>
                        <m:r>
                          <a:rPr lang="fr-FR" sz="1100" b="0" i="1" noProof="0" smtClean="0">
                            <a:solidFill>
                              <a:schemeClr val="bg2">
                                <a:lumMod val="25000"/>
                              </a:schemeClr>
                            </a:solidFill>
                            <a:latin typeface="Cambria Math" panose="02040503050406030204" pitchFamily="18" charset="0"/>
                            <a:ea typeface="Calibri"/>
                            <a:cs typeface="Calibri"/>
                          </a:rPr>
                          <m:t>𝑊</m:t>
                        </m:r>
                      </m:e>
                      <m:sub>
                        <m:r>
                          <a:rPr lang="fr-FR" sz="1100" b="0" i="1" noProof="0" smtClean="0">
                            <a:solidFill>
                              <a:schemeClr val="bg2">
                                <a:lumMod val="25000"/>
                              </a:schemeClr>
                            </a:solidFill>
                            <a:latin typeface="Cambria Math" panose="02040503050406030204" pitchFamily="18" charset="0"/>
                            <a:ea typeface="Calibri"/>
                            <a:cs typeface="Calibri"/>
                          </a:rPr>
                          <m:t>𝐿𝑆𝑅</m:t>
                        </m:r>
                      </m:sub>
                    </m:sSub>
                    <m:r>
                      <a:rPr lang="fr-FR" sz="1100" b="0" i="1" noProof="0" smtClean="0">
                        <a:solidFill>
                          <a:schemeClr val="bg2">
                            <a:lumMod val="25000"/>
                          </a:schemeClr>
                        </a:solidFill>
                        <a:latin typeface="Cambria Math" panose="02040503050406030204" pitchFamily="18" charset="0"/>
                        <a:ea typeface="Calibri"/>
                        <a:cs typeface="Calibri"/>
                      </a:rPr>
                      <m:t>=0</m:t>
                    </m:r>
                  </m:oMath>
                </a14:m>
                <a:r>
                  <a:rPr lang="fr-FR" sz="1100" noProof="0" dirty="0">
                    <a:solidFill>
                      <a:schemeClr val="bg2">
                        <a:lumMod val="25000"/>
                      </a:schemeClr>
                    </a:solidFill>
                    <a:ea typeface="Calibri"/>
                    <a:cs typeface="Calibri"/>
                  </a:rPr>
                  <a:t> ; </a:t>
                </a:r>
                <a14:m>
                  <m:oMath xmlns:m="http://schemas.openxmlformats.org/officeDocument/2006/math">
                    <m:sSub>
                      <m:sSubPr>
                        <m:ctrlPr>
                          <a:rPr lang="fr-FR" sz="1100" i="1" noProof="0">
                            <a:solidFill>
                              <a:schemeClr val="bg2">
                                <a:lumMod val="25000"/>
                              </a:schemeClr>
                            </a:solidFill>
                            <a:latin typeface="Cambria Math" panose="02040503050406030204" pitchFamily="18" charset="0"/>
                            <a:ea typeface="Calibri"/>
                            <a:cs typeface="Calibri"/>
                          </a:rPr>
                        </m:ctrlPr>
                      </m:sSubPr>
                      <m:e>
                        <m:r>
                          <a:rPr lang="fr-FR" sz="1100" b="0" i="1" noProof="0" smtClean="0">
                            <a:solidFill>
                              <a:schemeClr val="bg2">
                                <a:lumMod val="25000"/>
                              </a:schemeClr>
                            </a:solidFill>
                            <a:latin typeface="Cambria Math" panose="02040503050406030204" pitchFamily="18" charset="0"/>
                            <a:ea typeface="Calibri"/>
                            <a:cs typeface="Calibri"/>
                          </a:rPr>
                          <m:t>𝑉</m:t>
                        </m:r>
                      </m:e>
                      <m:sub>
                        <m:r>
                          <a:rPr lang="fr-FR" sz="1100" i="1" noProof="0">
                            <a:solidFill>
                              <a:schemeClr val="bg2">
                                <a:lumMod val="25000"/>
                              </a:schemeClr>
                            </a:solidFill>
                            <a:latin typeface="Cambria Math" panose="02040503050406030204" pitchFamily="18" charset="0"/>
                            <a:ea typeface="Calibri"/>
                            <a:cs typeface="Calibri"/>
                          </a:rPr>
                          <m:t>𝐿𝑆𝑅</m:t>
                        </m:r>
                      </m:sub>
                    </m:sSub>
                    <m:r>
                      <a:rPr lang="fr-FR" sz="1100" i="1" noProof="0">
                        <a:solidFill>
                          <a:schemeClr val="bg2">
                            <a:lumMod val="25000"/>
                          </a:schemeClr>
                        </a:solidFill>
                        <a:latin typeface="Cambria Math" panose="02040503050406030204" pitchFamily="18" charset="0"/>
                        <a:ea typeface="Calibri"/>
                        <a:cs typeface="Calibri"/>
                      </a:rPr>
                      <m:t>=</m:t>
                    </m:r>
                  </m:oMath>
                </a14:m>
                <a:r>
                  <a:rPr lang="fr-FR" sz="1100" noProof="0" dirty="0">
                    <a:solidFill>
                      <a:schemeClr val="bg2">
                        <a:lumMod val="25000"/>
                      </a:schemeClr>
                    </a:solidFill>
                    <a:ea typeface="Calibri"/>
                    <a:cs typeface="Calibri"/>
                  </a:rPr>
                  <a:t> </a:t>
                </a:r>
                <a14:m>
                  <m:oMath xmlns:m="http://schemas.openxmlformats.org/officeDocument/2006/math">
                    <m:sSub>
                      <m:sSubPr>
                        <m:ctrlPr>
                          <a:rPr lang="fr-FR" sz="1100" b="1" i="1" noProof="0">
                            <a:solidFill>
                              <a:schemeClr val="bg2">
                                <a:lumMod val="25000"/>
                              </a:schemeClr>
                            </a:solidFill>
                            <a:latin typeface="Cambria Math" panose="02040503050406030204" pitchFamily="18" charset="0"/>
                            <a:ea typeface="Calibri"/>
                            <a:cs typeface="Calibri"/>
                          </a:rPr>
                        </m:ctrlPr>
                      </m:sSubPr>
                      <m:e>
                        <m:r>
                          <a:rPr lang="fr-FR" sz="1100" b="1" i="1" noProof="0">
                            <a:solidFill>
                              <a:schemeClr val="bg2">
                                <a:lumMod val="25000"/>
                              </a:schemeClr>
                            </a:solidFill>
                            <a:latin typeface="Cambria Math" panose="02040503050406030204" pitchFamily="18" charset="0"/>
                            <a:ea typeface="Cambria Math" panose="02040503050406030204" pitchFamily="18" charset="0"/>
                            <a:cs typeface="Calibri"/>
                          </a:rPr>
                          <m:t>𝚯</m:t>
                        </m:r>
                      </m:e>
                      <m:sub>
                        <m:r>
                          <a:rPr lang="fr-FR" sz="1100" b="1" i="1" noProof="0">
                            <a:solidFill>
                              <a:schemeClr val="bg2">
                                <a:lumMod val="25000"/>
                              </a:schemeClr>
                            </a:solidFill>
                            <a:latin typeface="Cambria Math" panose="02040503050406030204" pitchFamily="18" charset="0"/>
                            <a:ea typeface="Calibri"/>
                            <a:cs typeface="Calibri"/>
                          </a:rPr>
                          <m:t>𝟎</m:t>
                        </m:r>
                      </m:sub>
                    </m:sSub>
                  </m:oMath>
                </a14:m>
                <a:r>
                  <a:rPr lang="fr-FR" sz="1100" b="1" noProof="0" dirty="0">
                    <a:solidFill>
                      <a:schemeClr val="bg2">
                        <a:lumMod val="25000"/>
                      </a:schemeClr>
                    </a:solidFill>
                    <a:ea typeface="Calibri"/>
                    <a:cs typeface="Calibri"/>
                  </a:rPr>
                  <a:t> </a:t>
                </a:r>
                <a:endParaRPr lang="fr-FR" sz="1100" noProof="0" dirty="0">
                  <a:solidFill>
                    <a:schemeClr val="bg2">
                      <a:lumMod val="25000"/>
                    </a:schemeClr>
                  </a:solidFill>
                  <a:ea typeface="Calibri"/>
                  <a:cs typeface="Calibri"/>
                </a:endParaRPr>
              </a:p>
            </p:txBody>
          </p:sp>
        </mc:Choice>
        <mc:Fallback>
          <p:sp>
            <p:nvSpPr>
              <p:cNvPr id="49" name="ZoneTexte 14">
                <a:extLst>
                  <a:ext uri="{FF2B5EF4-FFF2-40B4-BE49-F238E27FC236}">
                    <a16:creationId xmlns:a16="http://schemas.microsoft.com/office/drawing/2014/main" id="{07BDCA01-FBA2-0DBE-1A6E-EDEB7488AA66}"/>
                  </a:ext>
                </a:extLst>
              </p:cNvPr>
              <p:cNvSpPr txBox="1">
                <a:spLocks noRot="1" noChangeAspect="1" noMove="1" noResize="1" noEditPoints="1" noAdjustHandles="1" noChangeArrowheads="1" noChangeShapeType="1" noTextEdit="1"/>
              </p:cNvSpPr>
              <p:nvPr/>
            </p:nvSpPr>
            <p:spPr>
              <a:xfrm>
                <a:off x="6084786" y="3593069"/>
                <a:ext cx="5747655" cy="938719"/>
              </a:xfrm>
              <a:prstGeom prst="rect">
                <a:avLst/>
              </a:prstGeom>
              <a:blipFill>
                <a:blip r:embed="rId8"/>
                <a:stretch>
                  <a:fillRect b="-3896"/>
                </a:stretch>
              </a:blipFill>
            </p:spPr>
            <p:txBody>
              <a:bodyPr/>
              <a:lstStyle/>
              <a:p>
                <a:r>
                  <a:rPr lang="fr-FR">
                    <a:noFill/>
                  </a:rPr>
                  <a:t> </a:t>
                </a:r>
              </a:p>
            </p:txBody>
          </p:sp>
        </mc:Fallback>
      </mc:AlternateContent>
      <p:pic>
        <p:nvPicPr>
          <p:cNvPr id="50" name="Graphic 49" descr="Arrow Right with solid fill">
            <a:extLst>
              <a:ext uri="{FF2B5EF4-FFF2-40B4-BE49-F238E27FC236}">
                <a16:creationId xmlns:a16="http://schemas.microsoft.com/office/drawing/2014/main" id="{11A4A42C-4905-4C99-633A-59ED7DDE37B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1575" y="3568414"/>
            <a:ext cx="244511" cy="328246"/>
          </a:xfrm>
          <a:prstGeom prst="rect">
            <a:avLst/>
          </a:prstGeom>
        </p:spPr>
      </p:pic>
      <p:pic>
        <p:nvPicPr>
          <p:cNvPr id="51" name="Graphic 50" descr="Arrow Right with solid fill">
            <a:extLst>
              <a:ext uri="{FF2B5EF4-FFF2-40B4-BE49-F238E27FC236}">
                <a16:creationId xmlns:a16="http://schemas.microsoft.com/office/drawing/2014/main" id="{907425DA-4060-9792-2C36-EEC1E5540AD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9948" y="3912292"/>
            <a:ext cx="244511" cy="328246"/>
          </a:xfrm>
          <a:prstGeom prst="rect">
            <a:avLst/>
          </a:prstGeom>
        </p:spPr>
      </p:pic>
      <p:pic>
        <p:nvPicPr>
          <p:cNvPr id="60" name="Graphic 59" descr="Arrow Right with solid fill">
            <a:extLst>
              <a:ext uri="{FF2B5EF4-FFF2-40B4-BE49-F238E27FC236}">
                <a16:creationId xmlns:a16="http://schemas.microsoft.com/office/drawing/2014/main" id="{46960F46-B81E-237D-CAD9-5AA6DF9C874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59948" y="4235124"/>
            <a:ext cx="244511" cy="328246"/>
          </a:xfrm>
          <a:prstGeom prst="rect">
            <a:avLst/>
          </a:prstGeom>
        </p:spPr>
      </p:pic>
      <p:pic>
        <p:nvPicPr>
          <p:cNvPr id="61" name="Graphic 60" descr="Compass with solid fill">
            <a:extLst>
              <a:ext uri="{FF2B5EF4-FFF2-40B4-BE49-F238E27FC236}">
                <a16:creationId xmlns:a16="http://schemas.microsoft.com/office/drawing/2014/main" id="{BC0EDFF4-0AB5-CDEF-6FA9-7EE4783EFC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894792" y="3150922"/>
            <a:ext cx="340548" cy="293513"/>
          </a:xfrm>
          <a:prstGeom prst="rect">
            <a:avLst/>
          </a:prstGeom>
        </p:spPr>
      </p:pic>
      <p:sp>
        <p:nvSpPr>
          <p:cNvPr id="68" name="Rectangle : coins arrondis 8">
            <a:extLst>
              <a:ext uri="{FF2B5EF4-FFF2-40B4-BE49-F238E27FC236}">
                <a16:creationId xmlns:a16="http://schemas.microsoft.com/office/drawing/2014/main" id="{574EE906-3AB1-E3F4-F77D-B2871DC1B0DA}"/>
              </a:ext>
            </a:extLst>
          </p:cNvPr>
          <p:cNvSpPr/>
          <p:nvPr/>
        </p:nvSpPr>
        <p:spPr>
          <a:xfrm>
            <a:off x="401818" y="5016808"/>
            <a:ext cx="11298455" cy="1748512"/>
          </a:xfrm>
          <a:prstGeom prst="roundRect">
            <a:avLst/>
          </a:prstGeom>
          <a:solidFill>
            <a:srgbClr val="0F172A"/>
          </a:solidFill>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pic>
        <p:nvPicPr>
          <p:cNvPr id="67" name="Picture 66">
            <a:extLst>
              <a:ext uri="{FF2B5EF4-FFF2-40B4-BE49-F238E27FC236}">
                <a16:creationId xmlns:a16="http://schemas.microsoft.com/office/drawing/2014/main" id="{1D587FA2-2DB7-4208-23E9-D03F1171E109}"/>
              </a:ext>
            </a:extLst>
          </p:cNvPr>
          <p:cNvPicPr>
            <a:picLocks noChangeAspect="1"/>
          </p:cNvPicPr>
          <p:nvPr/>
        </p:nvPicPr>
        <p:blipFill>
          <a:blip r:embed="rId10"/>
          <a:srcRect t="7213"/>
          <a:stretch>
            <a:fillRect/>
          </a:stretch>
        </p:blipFill>
        <p:spPr>
          <a:xfrm>
            <a:off x="6145846" y="5077507"/>
            <a:ext cx="5053330" cy="1596623"/>
          </a:xfrm>
          <a:prstGeom prst="rect">
            <a:avLst/>
          </a:prstGeom>
          <a:effectLst>
            <a:outerShdw blurRad="50800" dist="38100" dir="2700000" algn="tl" rotWithShape="0">
              <a:prstClr val="black">
                <a:alpha val="40000"/>
              </a:prstClr>
            </a:outerShdw>
          </a:effectLst>
        </p:spPr>
      </p:pic>
      <p:sp>
        <p:nvSpPr>
          <p:cNvPr id="69" name="ZoneTexte 13">
            <a:extLst>
              <a:ext uri="{FF2B5EF4-FFF2-40B4-BE49-F238E27FC236}">
                <a16:creationId xmlns:a16="http://schemas.microsoft.com/office/drawing/2014/main" id="{FD2A94E3-8ACD-B2BC-61D3-6BC458B22DD9}"/>
              </a:ext>
            </a:extLst>
          </p:cNvPr>
          <p:cNvSpPr txBox="1"/>
          <p:nvPr/>
        </p:nvSpPr>
        <p:spPr>
          <a:xfrm>
            <a:off x="992824" y="5616389"/>
            <a:ext cx="4785003" cy="261610"/>
          </a:xfrm>
          <a:prstGeom prst="rect">
            <a:avLst/>
          </a:prstGeom>
          <a:noFill/>
        </p:spPr>
        <p:txBody>
          <a:bodyPr wrap="square" lIns="91440" tIns="45720" rIns="91440" bIns="45720" rtlCol="0" anchor="t">
            <a:spAutoFit/>
          </a:bodyPr>
          <a:lstStyle/>
          <a:p>
            <a:r>
              <a:rPr lang="fr-FR" sz="1100" noProof="0" dirty="0">
                <a:solidFill>
                  <a:schemeClr val="bg1"/>
                </a:solidFill>
              </a:rPr>
              <a:t>Les publications de référence utilisent les paramètres de </a:t>
            </a:r>
            <a:r>
              <a:rPr lang="fr-FR" sz="1100" noProof="0" dirty="0" err="1">
                <a:solidFill>
                  <a:schemeClr val="bg1"/>
                </a:solidFill>
              </a:rPr>
              <a:t>Schönrich</a:t>
            </a:r>
            <a:r>
              <a:rPr lang="fr-FR" sz="1100" noProof="0" dirty="0">
                <a:solidFill>
                  <a:schemeClr val="bg1"/>
                </a:solidFill>
              </a:rPr>
              <a:t> et al. 2010</a:t>
            </a:r>
          </a:p>
        </p:txBody>
      </p:sp>
      <p:sp>
        <p:nvSpPr>
          <p:cNvPr id="70" name="ZoneTexte 13">
            <a:extLst>
              <a:ext uri="{FF2B5EF4-FFF2-40B4-BE49-F238E27FC236}">
                <a16:creationId xmlns:a16="http://schemas.microsoft.com/office/drawing/2014/main" id="{42DEE7DC-8230-AB30-0FFA-795BDA5A5B25}"/>
              </a:ext>
            </a:extLst>
          </p:cNvPr>
          <p:cNvSpPr txBox="1"/>
          <p:nvPr/>
        </p:nvSpPr>
        <p:spPr>
          <a:xfrm>
            <a:off x="748289" y="5095327"/>
            <a:ext cx="2618928" cy="338554"/>
          </a:xfrm>
          <a:prstGeom prst="rect">
            <a:avLst/>
          </a:prstGeom>
          <a:noFill/>
        </p:spPr>
        <p:txBody>
          <a:bodyPr wrap="square" lIns="91440" tIns="45720" rIns="91440" bIns="45720" rtlCol="0" anchor="t">
            <a:spAutoFit/>
          </a:bodyPr>
          <a:lstStyle/>
          <a:p>
            <a:r>
              <a:rPr lang="fr-FR" sz="1600" b="1" noProof="0" dirty="0">
                <a:solidFill>
                  <a:schemeClr val="bg1">
                    <a:lumMod val="95000"/>
                  </a:schemeClr>
                </a:solidFill>
              </a:rPr>
              <a:t>Paramètres fondamentaux</a:t>
            </a:r>
            <a:endParaRPr lang="fr-FR" noProof="0" dirty="0">
              <a:solidFill>
                <a:schemeClr val="bg1">
                  <a:lumMod val="95000"/>
                </a:schemeClr>
              </a:solidFill>
            </a:endParaRPr>
          </a:p>
        </p:txBody>
      </p:sp>
      <p:pic>
        <p:nvPicPr>
          <p:cNvPr id="71" name="Graphic 70" descr="Arrow Right with solid fill">
            <a:extLst>
              <a:ext uri="{FF2B5EF4-FFF2-40B4-BE49-F238E27FC236}">
                <a16:creationId xmlns:a16="http://schemas.microsoft.com/office/drawing/2014/main" id="{AB3E9ED4-F37C-8EB4-FBE9-7262C91F2D8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4162" y="5598093"/>
            <a:ext cx="244511" cy="328246"/>
          </a:xfrm>
          <a:prstGeom prst="rect">
            <a:avLst/>
          </a:prstGeom>
        </p:spPr>
      </p:pic>
      <p:sp>
        <p:nvSpPr>
          <p:cNvPr id="72" name="ZoneTexte 13">
            <a:extLst>
              <a:ext uri="{FF2B5EF4-FFF2-40B4-BE49-F238E27FC236}">
                <a16:creationId xmlns:a16="http://schemas.microsoft.com/office/drawing/2014/main" id="{39C9C1A6-00A3-3E0E-C034-11A9C15C0EC4}"/>
              </a:ext>
            </a:extLst>
          </p:cNvPr>
          <p:cNvSpPr txBox="1"/>
          <p:nvPr/>
        </p:nvSpPr>
        <p:spPr>
          <a:xfrm>
            <a:off x="992824" y="5969103"/>
            <a:ext cx="4785003" cy="261610"/>
          </a:xfrm>
          <a:prstGeom prst="rect">
            <a:avLst/>
          </a:prstGeom>
          <a:noFill/>
        </p:spPr>
        <p:txBody>
          <a:bodyPr wrap="square" lIns="91440" tIns="45720" rIns="91440" bIns="45720" rtlCol="0" anchor="t">
            <a:spAutoFit/>
          </a:bodyPr>
          <a:lstStyle/>
          <a:p>
            <a:r>
              <a:rPr lang="fr-FR" sz="1100" noProof="0" dirty="0">
                <a:solidFill>
                  <a:schemeClr val="bg1"/>
                </a:solidFill>
              </a:rPr>
              <a:t>J’ai utilisé les paramètres de Gravity Coll. 2022 et Bobylev et al. 2026</a:t>
            </a:r>
          </a:p>
        </p:txBody>
      </p:sp>
      <p:pic>
        <p:nvPicPr>
          <p:cNvPr id="73" name="Graphic 72" descr="Arrow Right with solid fill">
            <a:extLst>
              <a:ext uri="{FF2B5EF4-FFF2-40B4-BE49-F238E27FC236}">
                <a16:creationId xmlns:a16="http://schemas.microsoft.com/office/drawing/2014/main" id="{8A6CD3EF-EC56-3899-7044-B2E51145F8F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4162" y="5950807"/>
            <a:ext cx="244511" cy="328246"/>
          </a:xfrm>
          <a:prstGeom prst="rect">
            <a:avLst/>
          </a:prstGeom>
        </p:spPr>
      </p:pic>
      <p:cxnSp>
        <p:nvCxnSpPr>
          <p:cNvPr id="74" name="Connecteur droit 4">
            <a:extLst>
              <a:ext uri="{FF2B5EF4-FFF2-40B4-BE49-F238E27FC236}">
                <a16:creationId xmlns:a16="http://schemas.microsoft.com/office/drawing/2014/main" id="{5BA748D4-A50D-D39B-F85D-15860383CE3B}"/>
              </a:ext>
            </a:extLst>
          </p:cNvPr>
          <p:cNvCxnSpPr>
            <a:cxnSpLocks/>
          </p:cNvCxnSpPr>
          <p:nvPr/>
        </p:nvCxnSpPr>
        <p:spPr>
          <a:xfrm>
            <a:off x="563434" y="4836487"/>
            <a:ext cx="11136840" cy="0"/>
          </a:xfrm>
          <a:prstGeom prst="line">
            <a:avLst/>
          </a:prstGeom>
          <a:ln>
            <a:solidFill>
              <a:srgbClr val="2596B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464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81125-AC47-CA3D-6592-5DB54911FD6A}"/>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9F4026C2-DA1D-86BF-F68F-CCF7C9C1CA75}"/>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644F4A67-4BD0-F7BE-8EDD-75C8746AC7FF}"/>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Positions et vitesses dans le référentiel galactocentrique</a:t>
            </a:r>
          </a:p>
        </p:txBody>
      </p:sp>
      <p:sp>
        <p:nvSpPr>
          <p:cNvPr id="5" name="Espace réservé du numéro de diapositive 4">
            <a:extLst>
              <a:ext uri="{FF2B5EF4-FFF2-40B4-BE49-F238E27FC236}">
                <a16:creationId xmlns:a16="http://schemas.microsoft.com/office/drawing/2014/main" id="{D33A6D6C-7FC1-CB32-E1FC-4B0F482469BB}"/>
              </a:ext>
            </a:extLst>
          </p:cNvPr>
          <p:cNvSpPr>
            <a:spLocks noGrp="1"/>
          </p:cNvSpPr>
          <p:nvPr>
            <p:ph type="sldNum" sz="quarter" idx="12"/>
          </p:nvPr>
        </p:nvSpPr>
        <p:spPr>
          <a:xfrm>
            <a:off x="9401628" y="6455811"/>
            <a:ext cx="2743200" cy="365125"/>
          </a:xfrm>
        </p:spPr>
        <p:txBody>
          <a:bodyPr/>
          <a:lstStyle/>
          <a:p>
            <a:fld id="{E3EC9F48-C5B6-4727-AEEA-2F88FA0098DB}" type="slidenum">
              <a:rPr lang="fr-FR" noProof="0" smtClean="0"/>
              <a:t>6</a:t>
            </a:fld>
            <a:endParaRPr lang="fr-FR" noProof="0" dirty="0"/>
          </a:p>
        </p:txBody>
      </p:sp>
      <p:pic>
        <p:nvPicPr>
          <p:cNvPr id="11" name="Picture 2">
            <a:extLst>
              <a:ext uri="{FF2B5EF4-FFF2-40B4-BE49-F238E27FC236}">
                <a16:creationId xmlns:a16="http://schemas.microsoft.com/office/drawing/2014/main" id="{A390D81F-0A30-EEFB-2144-9CA894D383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EB6F9F71-2F1A-78AA-8B86-5061CBC7B5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 coins arrondis 8">
            <a:extLst>
              <a:ext uri="{FF2B5EF4-FFF2-40B4-BE49-F238E27FC236}">
                <a16:creationId xmlns:a16="http://schemas.microsoft.com/office/drawing/2014/main" id="{16DDA3F2-68F9-0A49-7EAA-9E7C2362C0E4}"/>
              </a:ext>
            </a:extLst>
          </p:cNvPr>
          <p:cNvSpPr/>
          <p:nvPr/>
        </p:nvSpPr>
        <p:spPr>
          <a:xfrm>
            <a:off x="1032874" y="1462290"/>
            <a:ext cx="9783620" cy="2735422"/>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7" name="ZoneTexte 13">
            <a:extLst>
              <a:ext uri="{FF2B5EF4-FFF2-40B4-BE49-F238E27FC236}">
                <a16:creationId xmlns:a16="http://schemas.microsoft.com/office/drawing/2014/main" id="{D4A39331-D4DD-F7D7-75D2-E5430D6D1598}"/>
              </a:ext>
            </a:extLst>
          </p:cNvPr>
          <p:cNvSpPr txBox="1"/>
          <p:nvPr/>
        </p:nvSpPr>
        <p:spPr>
          <a:xfrm>
            <a:off x="1396618" y="1456723"/>
            <a:ext cx="4699382" cy="338554"/>
          </a:xfrm>
          <a:prstGeom prst="rect">
            <a:avLst/>
          </a:prstGeom>
          <a:noFill/>
        </p:spPr>
        <p:txBody>
          <a:bodyPr wrap="square" lIns="91440" tIns="45720" rIns="91440" bIns="45720" rtlCol="0" anchor="t">
            <a:spAutoFit/>
          </a:bodyPr>
          <a:lstStyle/>
          <a:p>
            <a:r>
              <a:rPr lang="fr-FR" sz="1600" b="1" noProof="0" dirty="0">
                <a:solidFill>
                  <a:srgbClr val="0F172A"/>
                </a:solidFill>
              </a:rPr>
              <a:t>Méthode de changement de référentiel</a:t>
            </a:r>
            <a:endParaRPr lang="fr-FR" noProof="0" dirty="0">
              <a:solidFill>
                <a:srgbClr val="0F172A"/>
              </a:solidFill>
            </a:endParaRPr>
          </a:p>
        </p:txBody>
      </p:sp>
      <mc:AlternateContent xmlns:mc="http://schemas.openxmlformats.org/markup-compatibility/2006">
        <mc:Choice xmlns:a14="http://schemas.microsoft.com/office/drawing/2010/main" Requires="a14">
          <p:sp>
            <p:nvSpPr>
              <p:cNvPr id="9" name="ZoneTexte 13">
                <a:extLst>
                  <a:ext uri="{FF2B5EF4-FFF2-40B4-BE49-F238E27FC236}">
                    <a16:creationId xmlns:a16="http://schemas.microsoft.com/office/drawing/2014/main" id="{24DFD565-4965-5138-DA26-6F8AD186EFB9}"/>
                  </a:ext>
                </a:extLst>
              </p:cNvPr>
              <p:cNvSpPr txBox="1"/>
              <p:nvPr/>
            </p:nvSpPr>
            <p:spPr>
              <a:xfrm>
                <a:off x="1295050" y="1789709"/>
                <a:ext cx="8505443" cy="276999"/>
              </a:xfrm>
              <a:prstGeom prst="rect">
                <a:avLst/>
              </a:prstGeom>
              <a:noFill/>
            </p:spPr>
            <p:txBody>
              <a:bodyPr wrap="square" lIns="91440" tIns="45720" rIns="91440" bIns="45720" rtlCol="0" anchor="t">
                <a:spAutoFit/>
              </a:bodyPr>
              <a:lstStyle/>
              <a:p>
                <a:r>
                  <a:rPr lang="fr-FR" sz="1200" noProof="0" dirty="0">
                    <a:solidFill>
                      <a:schemeClr val="bg2">
                        <a:lumMod val="25000"/>
                      </a:schemeClr>
                    </a:solidFill>
                  </a:rPr>
                  <a:t>Convertir les </a:t>
                </a:r>
                <a:r>
                  <a:rPr lang="fr-FR" sz="1200" b="1" noProof="0" dirty="0">
                    <a:solidFill>
                      <a:schemeClr val="bg2">
                        <a:lumMod val="25000"/>
                      </a:schemeClr>
                    </a:solidFill>
                  </a:rPr>
                  <a:t>mouvements propres </a:t>
                </a:r>
                <a14:m>
                  <m:oMath xmlns:m="http://schemas.openxmlformats.org/officeDocument/2006/math">
                    <m:sSub>
                      <m:sSubPr>
                        <m:ctrlPr>
                          <a:rPr lang="fr-FR" sz="1200" i="1" noProof="0" smtClean="0">
                            <a:solidFill>
                              <a:schemeClr val="bg2">
                                <a:lumMod val="25000"/>
                              </a:schemeClr>
                            </a:solidFill>
                            <a:latin typeface="Cambria Math" panose="02040503050406030204" pitchFamily="18" charset="0"/>
                          </a:rPr>
                        </m:ctrlPr>
                      </m:sSubPr>
                      <m:e>
                        <m:r>
                          <a:rPr lang="fr-FR" sz="1200" i="1" noProof="0" smtClean="0">
                            <a:solidFill>
                              <a:schemeClr val="bg2">
                                <a:lumMod val="25000"/>
                              </a:schemeClr>
                            </a:solidFill>
                            <a:latin typeface="Cambria Math" panose="02040503050406030204" pitchFamily="18" charset="0"/>
                            <a:ea typeface="Cambria Math" panose="02040503050406030204" pitchFamily="18" charset="0"/>
                          </a:rPr>
                          <m:t>𝜇</m:t>
                        </m:r>
                      </m:e>
                      <m:sub>
                        <m:r>
                          <a:rPr lang="fr-FR" sz="1200" b="0" i="1" noProof="0" smtClean="0">
                            <a:solidFill>
                              <a:schemeClr val="bg2">
                                <a:lumMod val="25000"/>
                              </a:schemeClr>
                            </a:solidFill>
                            <a:latin typeface="Cambria Math" panose="02040503050406030204" pitchFamily="18" charset="0"/>
                          </a:rPr>
                          <m:t>𝑙</m:t>
                        </m:r>
                      </m:sub>
                    </m:sSub>
                  </m:oMath>
                </a14:m>
                <a:r>
                  <a:rPr lang="fr-FR" sz="1200" noProof="0" dirty="0">
                    <a:solidFill>
                      <a:schemeClr val="bg2">
                        <a:lumMod val="25000"/>
                      </a:schemeClr>
                    </a:solidFill>
                  </a:rPr>
                  <a:t> et </a:t>
                </a:r>
                <a14:m>
                  <m:oMath xmlns:m="http://schemas.openxmlformats.org/officeDocument/2006/math">
                    <m:sSub>
                      <m:sSubPr>
                        <m:ctrlPr>
                          <a:rPr lang="fr-FR" sz="1200" i="1" noProof="0" smtClean="0">
                            <a:solidFill>
                              <a:schemeClr val="bg2">
                                <a:lumMod val="25000"/>
                              </a:schemeClr>
                            </a:solidFill>
                            <a:latin typeface="Cambria Math" panose="02040503050406030204" pitchFamily="18" charset="0"/>
                          </a:rPr>
                        </m:ctrlPr>
                      </m:sSubPr>
                      <m:e>
                        <m:r>
                          <a:rPr lang="fr-FR" sz="1200" i="1" noProof="0" smtClean="0">
                            <a:solidFill>
                              <a:schemeClr val="bg2">
                                <a:lumMod val="25000"/>
                              </a:schemeClr>
                            </a:solidFill>
                            <a:latin typeface="Cambria Math" panose="02040503050406030204" pitchFamily="18" charset="0"/>
                            <a:ea typeface="Cambria Math" panose="02040503050406030204" pitchFamily="18" charset="0"/>
                          </a:rPr>
                          <m:t>𝜇</m:t>
                        </m:r>
                      </m:e>
                      <m:sub>
                        <m:r>
                          <a:rPr lang="fr-FR" sz="1200" b="0" i="1" noProof="0" smtClean="0">
                            <a:solidFill>
                              <a:schemeClr val="bg2">
                                <a:lumMod val="25000"/>
                              </a:schemeClr>
                            </a:solidFill>
                            <a:latin typeface="Cambria Math" panose="02040503050406030204" pitchFamily="18" charset="0"/>
                            <a:ea typeface="Cambria Math" panose="02040503050406030204" pitchFamily="18" charset="0"/>
                          </a:rPr>
                          <m:t>𝑏</m:t>
                        </m:r>
                      </m:sub>
                    </m:sSub>
                  </m:oMath>
                </a14:m>
                <a:r>
                  <a:rPr lang="fr-FR" sz="1200" noProof="0" dirty="0">
                    <a:solidFill>
                      <a:schemeClr val="bg2">
                        <a:lumMod val="25000"/>
                      </a:schemeClr>
                    </a:solidFill>
                  </a:rPr>
                  <a:t> en </a:t>
                </a:r>
                <a:r>
                  <a:rPr lang="fr-FR" sz="1200" b="1" noProof="0" dirty="0">
                    <a:solidFill>
                      <a:schemeClr val="bg2">
                        <a:lumMod val="25000"/>
                      </a:schemeClr>
                    </a:solidFill>
                  </a:rPr>
                  <a:t>vitesses particulières observées </a:t>
                </a:r>
                <a14:m>
                  <m:oMath xmlns:m="http://schemas.openxmlformats.org/officeDocument/2006/math">
                    <m:sSub>
                      <m:sSubPr>
                        <m:ctrlPr>
                          <a:rPr lang="fr-FR" sz="1200" i="1" noProof="0" smtClean="0">
                            <a:solidFill>
                              <a:schemeClr val="bg2">
                                <a:lumMod val="25000"/>
                              </a:schemeClr>
                            </a:solidFill>
                            <a:latin typeface="Cambria Math" panose="02040503050406030204" pitchFamily="18" charset="0"/>
                          </a:rPr>
                        </m:ctrlPr>
                      </m:sSubPr>
                      <m:e>
                        <m:r>
                          <a:rPr lang="fr-FR" sz="1200" b="0" i="1" noProof="0" smtClean="0">
                            <a:solidFill>
                              <a:schemeClr val="bg2">
                                <a:lumMod val="25000"/>
                              </a:schemeClr>
                            </a:solidFill>
                            <a:latin typeface="Cambria Math" panose="02040503050406030204" pitchFamily="18" charset="0"/>
                          </a:rPr>
                          <m:t>𝑈</m:t>
                        </m:r>
                      </m:e>
                      <m:sub>
                        <m:r>
                          <a:rPr lang="fr-FR" sz="1200" b="0" i="1" noProof="0" smtClean="0">
                            <a:solidFill>
                              <a:schemeClr val="bg2">
                                <a:lumMod val="25000"/>
                              </a:schemeClr>
                            </a:solidFill>
                            <a:latin typeface="Cambria Math" panose="02040503050406030204" pitchFamily="18" charset="0"/>
                          </a:rPr>
                          <m:t>𝑜𝑏𝑠</m:t>
                        </m:r>
                        <m:r>
                          <a:rPr lang="fr-FR" sz="1200" b="0" i="1" noProof="0" smtClean="0">
                            <a:solidFill>
                              <a:schemeClr val="bg2">
                                <a:lumMod val="25000"/>
                              </a:schemeClr>
                            </a:solidFill>
                            <a:latin typeface="Cambria Math" panose="02040503050406030204" pitchFamily="18" charset="0"/>
                          </a:rPr>
                          <m:t> </m:t>
                        </m:r>
                      </m:sub>
                    </m:sSub>
                  </m:oMath>
                </a14:m>
                <a:r>
                  <a:rPr lang="fr-FR" sz="1200" noProof="0" dirty="0">
                    <a:solidFill>
                      <a:schemeClr val="bg2">
                        <a:lumMod val="25000"/>
                      </a:schemeClr>
                    </a:solidFill>
                  </a:rPr>
                  <a:t>,</a:t>
                </a:r>
                <a:r>
                  <a:rPr lang="fr-FR" sz="1200" dirty="0">
                    <a:solidFill>
                      <a:schemeClr val="bg2">
                        <a:lumMod val="25000"/>
                      </a:schemeClr>
                    </a:solidFill>
                  </a:rPr>
                  <a:t> </a:t>
                </a:r>
                <a14:m>
                  <m:oMath xmlns:m="http://schemas.openxmlformats.org/officeDocument/2006/math">
                    <m:sSub>
                      <m:sSubPr>
                        <m:ctrlPr>
                          <a:rPr lang="fr-FR" sz="1200" i="1">
                            <a:solidFill>
                              <a:schemeClr val="bg2">
                                <a:lumMod val="25000"/>
                              </a:schemeClr>
                            </a:solidFill>
                            <a:latin typeface="Cambria Math" panose="02040503050406030204" pitchFamily="18" charset="0"/>
                          </a:rPr>
                        </m:ctrlPr>
                      </m:sSubPr>
                      <m:e>
                        <m:r>
                          <a:rPr lang="fr-FR" sz="1200" b="0" i="1" smtClean="0">
                            <a:solidFill>
                              <a:schemeClr val="bg2">
                                <a:lumMod val="25000"/>
                              </a:schemeClr>
                            </a:solidFill>
                            <a:latin typeface="Cambria Math" panose="02040503050406030204" pitchFamily="18" charset="0"/>
                          </a:rPr>
                          <m:t>𝑉</m:t>
                        </m:r>
                      </m:e>
                      <m:sub>
                        <m:r>
                          <a:rPr lang="fr-FR" sz="1200" b="0" i="1">
                            <a:solidFill>
                              <a:schemeClr val="bg2">
                                <a:lumMod val="25000"/>
                              </a:schemeClr>
                            </a:solidFill>
                            <a:latin typeface="Cambria Math" panose="02040503050406030204" pitchFamily="18" charset="0"/>
                          </a:rPr>
                          <m:t>𝑜𝑏𝑠</m:t>
                        </m:r>
                        <m:r>
                          <a:rPr lang="fr-FR" sz="1200" b="0" i="1">
                            <a:solidFill>
                              <a:schemeClr val="bg2">
                                <a:lumMod val="25000"/>
                              </a:schemeClr>
                            </a:solidFill>
                            <a:latin typeface="Cambria Math" panose="02040503050406030204" pitchFamily="18" charset="0"/>
                          </a:rPr>
                          <m:t> </m:t>
                        </m:r>
                      </m:sub>
                    </m:sSub>
                  </m:oMath>
                </a14:m>
                <a:r>
                  <a:rPr lang="fr-FR" sz="1200" noProof="0" dirty="0">
                    <a:solidFill>
                      <a:schemeClr val="bg2">
                        <a:lumMod val="25000"/>
                      </a:schemeClr>
                    </a:solidFill>
                  </a:rPr>
                  <a:t>, </a:t>
                </a:r>
                <a14:m>
                  <m:oMath xmlns:m="http://schemas.openxmlformats.org/officeDocument/2006/math">
                    <m:sSub>
                      <m:sSubPr>
                        <m:ctrlPr>
                          <a:rPr lang="fr-FR" sz="1200" i="1">
                            <a:solidFill>
                              <a:schemeClr val="bg2">
                                <a:lumMod val="25000"/>
                              </a:schemeClr>
                            </a:solidFill>
                            <a:latin typeface="Cambria Math" panose="02040503050406030204" pitchFamily="18" charset="0"/>
                          </a:rPr>
                        </m:ctrlPr>
                      </m:sSubPr>
                      <m:e>
                        <m:r>
                          <a:rPr lang="fr-FR" sz="1200" b="0" i="1" smtClean="0">
                            <a:solidFill>
                              <a:schemeClr val="bg2">
                                <a:lumMod val="25000"/>
                              </a:schemeClr>
                            </a:solidFill>
                            <a:latin typeface="Cambria Math" panose="02040503050406030204" pitchFamily="18" charset="0"/>
                          </a:rPr>
                          <m:t>𝑊</m:t>
                        </m:r>
                      </m:e>
                      <m:sub>
                        <m:r>
                          <a:rPr lang="fr-FR" sz="1200" b="0" i="1">
                            <a:solidFill>
                              <a:schemeClr val="bg2">
                                <a:lumMod val="25000"/>
                              </a:schemeClr>
                            </a:solidFill>
                            <a:latin typeface="Cambria Math" panose="02040503050406030204" pitchFamily="18" charset="0"/>
                          </a:rPr>
                          <m:t>𝑜𝑏𝑠</m:t>
                        </m:r>
                        <m:r>
                          <a:rPr lang="fr-FR" sz="1200" b="0" i="1">
                            <a:solidFill>
                              <a:schemeClr val="bg2">
                                <a:lumMod val="25000"/>
                              </a:schemeClr>
                            </a:solidFill>
                            <a:latin typeface="Cambria Math" panose="02040503050406030204" pitchFamily="18" charset="0"/>
                          </a:rPr>
                          <m:t> </m:t>
                        </m:r>
                      </m:sub>
                    </m:sSub>
                  </m:oMath>
                </a14:m>
                <a:r>
                  <a:rPr lang="fr-FR" sz="1200" noProof="0" dirty="0">
                    <a:solidFill>
                      <a:schemeClr val="bg2">
                        <a:lumMod val="25000"/>
                      </a:schemeClr>
                    </a:solidFill>
                  </a:rPr>
                  <a:t> à l’aide de python </a:t>
                </a:r>
                <a:r>
                  <a:rPr lang="fr-FR" sz="1200" i="1" noProof="0" dirty="0">
                    <a:solidFill>
                      <a:schemeClr val="bg2">
                        <a:lumMod val="25000"/>
                      </a:schemeClr>
                    </a:solidFill>
                  </a:rPr>
                  <a:t>astropy</a:t>
                </a:r>
                <a:r>
                  <a:rPr lang="fr-FR" sz="1200" noProof="0" dirty="0">
                    <a:solidFill>
                      <a:schemeClr val="bg2">
                        <a:lumMod val="25000"/>
                      </a:schemeClr>
                    </a:solidFill>
                  </a:rPr>
                  <a:t>   </a:t>
                </a:r>
              </a:p>
            </p:txBody>
          </p:sp>
        </mc:Choice>
        <mc:Fallback>
          <p:sp>
            <p:nvSpPr>
              <p:cNvPr id="9" name="ZoneTexte 13">
                <a:extLst>
                  <a:ext uri="{FF2B5EF4-FFF2-40B4-BE49-F238E27FC236}">
                    <a16:creationId xmlns:a16="http://schemas.microsoft.com/office/drawing/2014/main" id="{24DFD565-4965-5138-DA26-6F8AD186EFB9}"/>
                  </a:ext>
                </a:extLst>
              </p:cNvPr>
              <p:cNvSpPr txBox="1">
                <a:spLocks noRot="1" noChangeAspect="1" noMove="1" noResize="1" noEditPoints="1" noAdjustHandles="1" noChangeArrowheads="1" noChangeShapeType="1" noTextEdit="1"/>
              </p:cNvSpPr>
              <p:nvPr/>
            </p:nvSpPr>
            <p:spPr>
              <a:xfrm>
                <a:off x="1295050" y="1789709"/>
                <a:ext cx="8505443" cy="276999"/>
              </a:xfrm>
              <a:prstGeom prst="rect">
                <a:avLst/>
              </a:prstGeom>
              <a:blipFill>
                <a:blip r:embed="rId4"/>
                <a:stretch>
                  <a:fillRect t="-2222" b="-17778"/>
                </a:stretch>
              </a:blipFill>
            </p:spPr>
            <p:txBody>
              <a:bodyPr/>
              <a:lstStyle/>
              <a:p>
                <a:r>
                  <a:rPr lang="fr-FR">
                    <a:noFill/>
                  </a:rPr>
                  <a:t> </a:t>
                </a:r>
              </a:p>
            </p:txBody>
          </p:sp>
        </mc:Fallback>
      </mc:AlternateContent>
      <p:sp>
        <p:nvSpPr>
          <p:cNvPr id="10" name="L-Shape 9">
            <a:extLst>
              <a:ext uri="{FF2B5EF4-FFF2-40B4-BE49-F238E27FC236}">
                <a16:creationId xmlns:a16="http://schemas.microsoft.com/office/drawing/2014/main" id="{9FFE4238-EAF8-1057-C07C-82B0688FBCED}"/>
              </a:ext>
            </a:extLst>
          </p:cNvPr>
          <p:cNvSpPr/>
          <p:nvPr/>
        </p:nvSpPr>
        <p:spPr>
          <a:xfrm rot="13691150">
            <a:off x="1247731" y="1901783"/>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ZoneTexte 13">
            <a:extLst>
              <a:ext uri="{FF2B5EF4-FFF2-40B4-BE49-F238E27FC236}">
                <a16:creationId xmlns:a16="http://schemas.microsoft.com/office/drawing/2014/main" id="{9746A3E9-DC68-E77D-F85C-57BC1EBB6651}"/>
              </a:ext>
            </a:extLst>
          </p:cNvPr>
          <p:cNvSpPr txBox="1"/>
          <p:nvPr/>
        </p:nvSpPr>
        <p:spPr>
          <a:xfrm>
            <a:off x="1295051" y="2354201"/>
            <a:ext cx="7778612" cy="276999"/>
          </a:xfrm>
          <a:prstGeom prst="rect">
            <a:avLst/>
          </a:prstGeom>
          <a:noFill/>
        </p:spPr>
        <p:txBody>
          <a:bodyPr wrap="square" lIns="91440" tIns="45720" rIns="91440" bIns="45720" rtlCol="0" anchor="t">
            <a:spAutoFit/>
          </a:bodyPr>
          <a:lstStyle/>
          <a:p>
            <a:r>
              <a:rPr lang="fr-FR" sz="1200" b="1" noProof="0" dirty="0">
                <a:solidFill>
                  <a:schemeClr val="bg2">
                    <a:lumMod val="25000"/>
                  </a:schemeClr>
                </a:solidFill>
              </a:rPr>
              <a:t>Correction</a:t>
            </a:r>
            <a:r>
              <a:rPr lang="fr-FR" sz="1200" noProof="0" dirty="0">
                <a:solidFill>
                  <a:schemeClr val="bg2">
                    <a:lumMod val="25000"/>
                  </a:schemeClr>
                </a:solidFill>
              </a:rPr>
              <a:t> des vitesses par la </a:t>
            </a:r>
            <a:r>
              <a:rPr lang="fr-FR" sz="1200" b="1" noProof="0" dirty="0">
                <a:solidFill>
                  <a:schemeClr val="bg2">
                    <a:lumMod val="25000"/>
                  </a:schemeClr>
                </a:solidFill>
              </a:rPr>
              <a:t>vitesse particulière du Soleil</a:t>
            </a:r>
            <a:r>
              <a:rPr lang="fr-FR" sz="1200" noProof="0" dirty="0">
                <a:solidFill>
                  <a:schemeClr val="bg2">
                    <a:lumMod val="25000"/>
                  </a:schemeClr>
                </a:solidFill>
              </a:rPr>
              <a:t>:</a:t>
            </a:r>
            <a:endParaRPr lang="fr-FR" sz="1200" b="1" noProof="0" dirty="0">
              <a:solidFill>
                <a:schemeClr val="bg2">
                  <a:lumMod val="25000"/>
                </a:schemeClr>
              </a:solidFill>
            </a:endParaRPr>
          </a:p>
        </p:txBody>
      </p:sp>
      <p:sp>
        <p:nvSpPr>
          <p:cNvPr id="15" name="L-Shape 14">
            <a:extLst>
              <a:ext uri="{FF2B5EF4-FFF2-40B4-BE49-F238E27FC236}">
                <a16:creationId xmlns:a16="http://schemas.microsoft.com/office/drawing/2014/main" id="{AB800A07-2F6A-62D1-83D2-0FB9096EF70A}"/>
              </a:ext>
            </a:extLst>
          </p:cNvPr>
          <p:cNvSpPr/>
          <p:nvPr/>
        </p:nvSpPr>
        <p:spPr>
          <a:xfrm rot="13691150">
            <a:off x="1247731" y="2466275"/>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ZoneTexte 13">
            <a:extLst>
              <a:ext uri="{FF2B5EF4-FFF2-40B4-BE49-F238E27FC236}">
                <a16:creationId xmlns:a16="http://schemas.microsoft.com/office/drawing/2014/main" id="{C4E0F95B-1079-A18A-AF80-BDDE3DC3107C}"/>
              </a:ext>
            </a:extLst>
          </p:cNvPr>
          <p:cNvSpPr txBox="1"/>
          <p:nvPr/>
        </p:nvSpPr>
        <p:spPr>
          <a:xfrm>
            <a:off x="1295050" y="2922315"/>
            <a:ext cx="6231167" cy="276999"/>
          </a:xfrm>
          <a:prstGeom prst="rect">
            <a:avLst/>
          </a:prstGeom>
          <a:noFill/>
        </p:spPr>
        <p:txBody>
          <a:bodyPr wrap="square" lIns="91440" tIns="45720" rIns="91440" bIns="45720" rtlCol="0" anchor="t">
            <a:spAutoFit/>
          </a:bodyPr>
          <a:lstStyle/>
          <a:p>
            <a:r>
              <a:rPr lang="fr-FR" sz="1200" b="1" noProof="0" dirty="0">
                <a:solidFill>
                  <a:schemeClr val="bg2">
                    <a:lumMod val="25000"/>
                  </a:schemeClr>
                </a:solidFill>
              </a:rPr>
              <a:t>Rotation</a:t>
            </a:r>
            <a:r>
              <a:rPr lang="fr-FR" sz="1200" noProof="0" dirty="0">
                <a:solidFill>
                  <a:schemeClr val="bg2">
                    <a:lumMod val="25000"/>
                  </a:schemeClr>
                </a:solidFill>
              </a:rPr>
              <a:t> du repère LSR pour se placer dans le </a:t>
            </a:r>
            <a:r>
              <a:rPr lang="fr-FR" sz="1200" b="1" noProof="0" dirty="0">
                <a:solidFill>
                  <a:schemeClr val="bg2">
                    <a:lumMod val="25000"/>
                  </a:schemeClr>
                </a:solidFill>
              </a:rPr>
              <a:t>référentiel galactocentrique particulier de l’objet</a:t>
            </a:r>
          </a:p>
        </p:txBody>
      </p:sp>
      <p:sp>
        <p:nvSpPr>
          <p:cNvPr id="18" name="L-Shape 17">
            <a:extLst>
              <a:ext uri="{FF2B5EF4-FFF2-40B4-BE49-F238E27FC236}">
                <a16:creationId xmlns:a16="http://schemas.microsoft.com/office/drawing/2014/main" id="{D50BAF89-9751-1BE8-E7B7-411B1A2279A0}"/>
              </a:ext>
            </a:extLst>
          </p:cNvPr>
          <p:cNvSpPr/>
          <p:nvPr/>
        </p:nvSpPr>
        <p:spPr>
          <a:xfrm rot="13691150">
            <a:off x="1247731" y="3034389"/>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pic>
        <p:nvPicPr>
          <p:cNvPr id="24" name="Picture 23">
            <a:extLst>
              <a:ext uri="{FF2B5EF4-FFF2-40B4-BE49-F238E27FC236}">
                <a16:creationId xmlns:a16="http://schemas.microsoft.com/office/drawing/2014/main" id="{7B483D86-1BFD-8A74-0DA7-C3661F92C2C5}"/>
              </a:ext>
            </a:extLst>
          </p:cNvPr>
          <p:cNvPicPr>
            <a:picLocks noChangeAspect="1"/>
          </p:cNvPicPr>
          <p:nvPr/>
        </p:nvPicPr>
        <p:blipFill>
          <a:blip r:embed="rId5"/>
          <a:stretch>
            <a:fillRect/>
          </a:stretch>
        </p:blipFill>
        <p:spPr>
          <a:xfrm>
            <a:off x="5094561" y="2321321"/>
            <a:ext cx="4268270" cy="324218"/>
          </a:xfrm>
          <a:prstGeom prst="rect">
            <a:avLst/>
          </a:prstGeom>
        </p:spPr>
      </p:pic>
      <p:pic>
        <p:nvPicPr>
          <p:cNvPr id="26" name="Picture 25">
            <a:extLst>
              <a:ext uri="{FF2B5EF4-FFF2-40B4-BE49-F238E27FC236}">
                <a16:creationId xmlns:a16="http://schemas.microsoft.com/office/drawing/2014/main" id="{650FD11D-2E23-9DD9-7B0E-4E9AB05FD4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50904" y="2718656"/>
            <a:ext cx="2845517" cy="1248752"/>
          </a:xfrm>
          <a:prstGeom prst="rect">
            <a:avLst/>
          </a:prstGeom>
        </p:spPr>
      </p:pic>
      <p:pic>
        <p:nvPicPr>
          <p:cNvPr id="28" name="Picture 27">
            <a:extLst>
              <a:ext uri="{FF2B5EF4-FFF2-40B4-BE49-F238E27FC236}">
                <a16:creationId xmlns:a16="http://schemas.microsoft.com/office/drawing/2014/main" id="{632FC7C7-53F8-7916-EB51-3589DDFEE21C}"/>
              </a:ext>
            </a:extLst>
          </p:cNvPr>
          <p:cNvPicPr>
            <a:picLocks noChangeAspect="1"/>
          </p:cNvPicPr>
          <p:nvPr/>
        </p:nvPicPr>
        <p:blipFill>
          <a:blip r:embed="rId7"/>
          <a:stretch>
            <a:fillRect/>
          </a:stretch>
        </p:blipFill>
        <p:spPr>
          <a:xfrm>
            <a:off x="3120386" y="3199314"/>
            <a:ext cx="2978783" cy="869235"/>
          </a:xfrm>
          <a:prstGeom prst="rect">
            <a:avLst/>
          </a:prstGeom>
        </p:spPr>
      </p:pic>
      <p:pic>
        <p:nvPicPr>
          <p:cNvPr id="30" name="Picture 29">
            <a:extLst>
              <a:ext uri="{FF2B5EF4-FFF2-40B4-BE49-F238E27FC236}">
                <a16:creationId xmlns:a16="http://schemas.microsoft.com/office/drawing/2014/main" id="{B5F279BD-E25E-DDAA-CA37-F8B0DB72BF35}"/>
              </a:ext>
            </a:extLst>
          </p:cNvPr>
          <p:cNvPicPr>
            <a:picLocks noChangeAspect="1"/>
          </p:cNvPicPr>
          <p:nvPr/>
        </p:nvPicPr>
        <p:blipFill>
          <a:blip r:embed="rId8"/>
          <a:stretch>
            <a:fillRect/>
          </a:stretch>
        </p:blipFill>
        <p:spPr>
          <a:xfrm>
            <a:off x="5578116" y="4356797"/>
            <a:ext cx="5709365" cy="2309101"/>
          </a:xfrm>
          <a:prstGeom prst="rect">
            <a:avLst/>
          </a:prstGeom>
        </p:spPr>
      </p:pic>
      <p:sp>
        <p:nvSpPr>
          <p:cNvPr id="31" name="Rectangle : coins arrondis 8">
            <a:extLst>
              <a:ext uri="{FF2B5EF4-FFF2-40B4-BE49-F238E27FC236}">
                <a16:creationId xmlns:a16="http://schemas.microsoft.com/office/drawing/2014/main" id="{BFECE0C4-DC44-30B7-9CFB-6249D43E32FE}"/>
              </a:ext>
            </a:extLst>
          </p:cNvPr>
          <p:cNvSpPr/>
          <p:nvPr/>
        </p:nvSpPr>
        <p:spPr>
          <a:xfrm>
            <a:off x="278301" y="4480431"/>
            <a:ext cx="4997083" cy="1931835"/>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lIns="91440" tIns="45720" rIns="91440" bIns="45720" rtlCol="0" anchor="ctr"/>
          <a:lstStyle/>
          <a:p>
            <a:pPr algn="ctr"/>
            <a:endParaRPr lang="fr-FR" sz="1200" noProof="0" dirty="0">
              <a:ea typeface="Calibri"/>
              <a:cs typeface="Calibri"/>
            </a:endParaRPr>
          </a:p>
        </p:txBody>
      </p:sp>
      <p:sp>
        <p:nvSpPr>
          <p:cNvPr id="32" name="ZoneTexte 13">
            <a:extLst>
              <a:ext uri="{FF2B5EF4-FFF2-40B4-BE49-F238E27FC236}">
                <a16:creationId xmlns:a16="http://schemas.microsoft.com/office/drawing/2014/main" id="{E1D5AFD5-7B07-3541-16DE-35674BE0C825}"/>
              </a:ext>
            </a:extLst>
          </p:cNvPr>
          <p:cNvSpPr txBox="1"/>
          <p:nvPr/>
        </p:nvSpPr>
        <p:spPr>
          <a:xfrm>
            <a:off x="407584" y="4474488"/>
            <a:ext cx="3781462" cy="338554"/>
          </a:xfrm>
          <a:prstGeom prst="rect">
            <a:avLst/>
          </a:prstGeom>
          <a:noFill/>
        </p:spPr>
        <p:txBody>
          <a:bodyPr wrap="square" lIns="91440" tIns="45720" rIns="91440" bIns="45720" rtlCol="0" anchor="t">
            <a:spAutoFit/>
          </a:bodyPr>
          <a:lstStyle/>
          <a:p>
            <a:r>
              <a:rPr lang="fr-FR" sz="1600" b="1" noProof="0" dirty="0">
                <a:solidFill>
                  <a:srgbClr val="0F172A"/>
                </a:solidFill>
              </a:rPr>
              <a:t>Projection en coordonnées galactique</a:t>
            </a:r>
            <a:endParaRPr lang="fr-FR" noProof="0" dirty="0">
              <a:solidFill>
                <a:srgbClr val="0F172A"/>
              </a:solidFill>
            </a:endParaRPr>
          </a:p>
        </p:txBody>
      </p:sp>
      <p:sp>
        <p:nvSpPr>
          <p:cNvPr id="33" name="ZoneTexte 13">
            <a:extLst>
              <a:ext uri="{FF2B5EF4-FFF2-40B4-BE49-F238E27FC236}">
                <a16:creationId xmlns:a16="http://schemas.microsoft.com/office/drawing/2014/main" id="{1AF3468D-DB1B-D2A1-6148-1EE8193826D6}"/>
              </a:ext>
            </a:extLst>
          </p:cNvPr>
          <p:cNvSpPr txBox="1"/>
          <p:nvPr/>
        </p:nvSpPr>
        <p:spPr>
          <a:xfrm>
            <a:off x="540478" y="4807849"/>
            <a:ext cx="4002216" cy="461665"/>
          </a:xfrm>
          <a:prstGeom prst="rect">
            <a:avLst/>
          </a:prstGeom>
          <a:noFill/>
        </p:spPr>
        <p:txBody>
          <a:bodyPr wrap="square" lIns="91440" tIns="45720" rIns="91440" bIns="45720" rtlCol="0" anchor="t">
            <a:spAutoFit/>
          </a:bodyPr>
          <a:lstStyle/>
          <a:p>
            <a:r>
              <a:rPr lang="fr-FR" sz="1200" noProof="0" dirty="0">
                <a:solidFill>
                  <a:srgbClr val="0F172A"/>
                </a:solidFill>
              </a:rPr>
              <a:t>Utile pour placer les vecteurs vitesses et les positions des objets sur un fond de carte de Cygnus</a:t>
            </a:r>
            <a:endParaRPr lang="fr-FR" sz="1400" b="1" noProof="0" dirty="0">
              <a:solidFill>
                <a:srgbClr val="0F172A"/>
              </a:solidFill>
            </a:endParaRPr>
          </a:p>
        </p:txBody>
      </p:sp>
      <p:sp>
        <p:nvSpPr>
          <p:cNvPr id="34" name="L-Shape 33">
            <a:extLst>
              <a:ext uri="{FF2B5EF4-FFF2-40B4-BE49-F238E27FC236}">
                <a16:creationId xmlns:a16="http://schemas.microsoft.com/office/drawing/2014/main" id="{97D1A331-E73E-C8EC-0431-196B8210C3EB}"/>
              </a:ext>
            </a:extLst>
          </p:cNvPr>
          <p:cNvSpPr/>
          <p:nvPr/>
        </p:nvSpPr>
        <p:spPr>
          <a:xfrm rot="13691150">
            <a:off x="493158" y="4919923"/>
            <a:ext cx="59202" cy="62439"/>
          </a:xfrm>
          <a:prstGeom prst="corner">
            <a:avLst>
              <a:gd name="adj1" fmla="val 18232"/>
              <a:gd name="adj2" fmla="val 15227"/>
            </a:avLst>
          </a:prstGeom>
          <a:ln>
            <a:solidFill>
              <a:srgbClr val="2596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pic>
        <p:nvPicPr>
          <p:cNvPr id="39" name="Picture 38">
            <a:extLst>
              <a:ext uri="{FF2B5EF4-FFF2-40B4-BE49-F238E27FC236}">
                <a16:creationId xmlns:a16="http://schemas.microsoft.com/office/drawing/2014/main" id="{F71D0688-CCD6-9713-4030-69FBEF62E2D3}"/>
              </a:ext>
            </a:extLst>
          </p:cNvPr>
          <p:cNvPicPr>
            <a:picLocks noChangeAspect="1"/>
          </p:cNvPicPr>
          <p:nvPr/>
        </p:nvPicPr>
        <p:blipFill>
          <a:blip r:embed="rId9"/>
          <a:stretch>
            <a:fillRect/>
          </a:stretch>
        </p:blipFill>
        <p:spPr>
          <a:xfrm>
            <a:off x="811114" y="5298241"/>
            <a:ext cx="3574886" cy="597382"/>
          </a:xfrm>
          <a:prstGeom prst="rect">
            <a:avLst/>
          </a:prstGeom>
        </p:spPr>
      </p:pic>
    </p:spTree>
    <p:extLst>
      <p:ext uri="{BB962C8B-B14F-4D97-AF65-F5344CB8AC3E}">
        <p14:creationId xmlns:p14="http://schemas.microsoft.com/office/powerpoint/2010/main" val="3432518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48009-A311-8BDA-08C8-A613E002441E}"/>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7F9ADE3-17D3-2324-8D8C-960C1420F3DF}"/>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9302284E-E87F-537E-0E01-09D78EAD3274}"/>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Visualisation des vitesses et des positions</a:t>
            </a:r>
          </a:p>
        </p:txBody>
      </p:sp>
      <p:sp>
        <p:nvSpPr>
          <p:cNvPr id="5" name="Espace réservé du numéro de diapositive 4">
            <a:extLst>
              <a:ext uri="{FF2B5EF4-FFF2-40B4-BE49-F238E27FC236}">
                <a16:creationId xmlns:a16="http://schemas.microsoft.com/office/drawing/2014/main" id="{89557C79-3067-E134-9920-77CADFE90A8D}"/>
              </a:ext>
            </a:extLst>
          </p:cNvPr>
          <p:cNvSpPr>
            <a:spLocks noGrp="1"/>
          </p:cNvSpPr>
          <p:nvPr>
            <p:ph type="sldNum" sz="quarter" idx="12"/>
          </p:nvPr>
        </p:nvSpPr>
        <p:spPr>
          <a:xfrm>
            <a:off x="9401628" y="6455811"/>
            <a:ext cx="2743200" cy="365125"/>
          </a:xfrm>
        </p:spPr>
        <p:txBody>
          <a:bodyPr/>
          <a:lstStyle/>
          <a:p>
            <a:fld id="{E3EC9F48-C5B6-4727-AEEA-2F88FA0098DB}" type="slidenum">
              <a:rPr lang="fr-FR" noProof="0" smtClean="0"/>
              <a:t>7</a:t>
            </a:fld>
            <a:endParaRPr lang="fr-FR" noProof="0" dirty="0"/>
          </a:p>
        </p:txBody>
      </p:sp>
      <p:pic>
        <p:nvPicPr>
          <p:cNvPr id="11" name="Picture 2">
            <a:extLst>
              <a:ext uri="{FF2B5EF4-FFF2-40B4-BE49-F238E27FC236}">
                <a16:creationId xmlns:a16="http://schemas.microsoft.com/office/drawing/2014/main" id="{E542B563-F28A-6222-BA0C-A66420B90B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A1A8073D-0A2E-3AD9-4237-6DE520900F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1C5097CD-5C11-337C-031E-E7C06578C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3070" y="1368466"/>
            <a:ext cx="4253823" cy="3191715"/>
          </a:xfrm>
          <a:prstGeom prst="rect">
            <a:avLst/>
          </a:prstGeom>
          <a:effectLst>
            <a:outerShdw blurRad="50800" dist="38100" dir="2700000" algn="tl" rotWithShape="0">
              <a:prstClr val="black">
                <a:alpha val="40000"/>
              </a:prstClr>
            </a:outerShdw>
          </a:effectLst>
        </p:spPr>
      </p:pic>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3810D7A-278C-50FC-A95A-CF5BF3840B46}"/>
                  </a:ext>
                </a:extLst>
              </p:cNvPr>
              <p:cNvSpPr txBox="1"/>
              <p:nvPr/>
            </p:nvSpPr>
            <p:spPr>
              <a:xfrm>
                <a:off x="176673" y="4567996"/>
                <a:ext cx="5646615" cy="584775"/>
              </a:xfrm>
              <a:prstGeom prst="rect">
                <a:avLst/>
              </a:prstGeom>
              <a:noFill/>
            </p:spPr>
            <p:txBody>
              <a:bodyPr wrap="square" rtlCol="0">
                <a:spAutoFit/>
              </a:bodyPr>
              <a:lstStyle/>
              <a:p>
                <a:pPr algn="just"/>
                <a:r>
                  <a:rPr lang="fr-FR" sz="800" i="1" dirty="0">
                    <a:solidFill>
                      <a:srgbClr val="0F172A"/>
                    </a:solidFill>
                  </a:rPr>
                  <a:t>Projection des positions et des vitesses des nuages moléculaires et des groupes d'étoiles massives sur une image WISE à 12 µm. L'abscisse est la longitude galactique et l'ordonnée la latitude galactique. Les nuages moléculaires sont en bleus et les groupes d'étoiles en vert et rouge. Les vitesses sont corrigées de la vitesse particulière du Soleil et de la vitesse de rotation moyenne de la galaxie </a:t>
                </a:r>
                <a14:m>
                  <m:oMath xmlns:m="http://schemas.openxmlformats.org/officeDocument/2006/math">
                    <m:sSub>
                      <m:sSubPr>
                        <m:ctrlPr>
                          <a:rPr lang="fr-FR" sz="800" i="1" smtClean="0">
                            <a:solidFill>
                              <a:srgbClr val="0F172A"/>
                            </a:solidFill>
                            <a:latin typeface="Cambria Math" panose="02040503050406030204" pitchFamily="18" charset="0"/>
                          </a:rPr>
                        </m:ctrlPr>
                      </m:sSubPr>
                      <m:e>
                        <m:r>
                          <m:rPr>
                            <m:sty m:val="p"/>
                          </m:rPr>
                          <a:rPr lang="el-GR" sz="800" i="1" smtClean="0">
                            <a:solidFill>
                              <a:srgbClr val="0F172A"/>
                            </a:solidFill>
                            <a:latin typeface="Cambria Math" panose="02040503050406030204" pitchFamily="18" charset="0"/>
                            <a:ea typeface="Cambria Math" panose="02040503050406030204" pitchFamily="18" charset="0"/>
                          </a:rPr>
                          <m:t>Θ</m:t>
                        </m:r>
                      </m:e>
                      <m:sub>
                        <m:r>
                          <a:rPr lang="fr-FR" sz="800" b="0" i="1" smtClean="0">
                            <a:solidFill>
                              <a:srgbClr val="0F172A"/>
                            </a:solidFill>
                            <a:latin typeface="Cambria Math" panose="02040503050406030204" pitchFamily="18" charset="0"/>
                          </a:rPr>
                          <m:t>0</m:t>
                        </m:r>
                      </m:sub>
                    </m:sSub>
                  </m:oMath>
                </a14:m>
                <a:endParaRPr lang="fr-FR" sz="800" i="1" dirty="0">
                  <a:solidFill>
                    <a:srgbClr val="0F172A"/>
                  </a:solidFill>
                </a:endParaRPr>
              </a:p>
            </p:txBody>
          </p:sp>
        </mc:Choice>
        <mc:Fallback>
          <p:sp>
            <p:nvSpPr>
              <p:cNvPr id="13" name="TextBox 12">
                <a:extLst>
                  <a:ext uri="{FF2B5EF4-FFF2-40B4-BE49-F238E27FC236}">
                    <a16:creationId xmlns:a16="http://schemas.microsoft.com/office/drawing/2014/main" id="{53810D7A-278C-50FC-A95A-CF5BF3840B46}"/>
                  </a:ext>
                </a:extLst>
              </p:cNvPr>
              <p:cNvSpPr txBox="1">
                <a:spLocks noRot="1" noChangeAspect="1" noMove="1" noResize="1" noEditPoints="1" noAdjustHandles="1" noChangeArrowheads="1" noChangeShapeType="1" noTextEdit="1"/>
              </p:cNvSpPr>
              <p:nvPr/>
            </p:nvSpPr>
            <p:spPr>
              <a:xfrm>
                <a:off x="176673" y="4567996"/>
                <a:ext cx="5646615" cy="584775"/>
              </a:xfrm>
              <a:prstGeom prst="rect">
                <a:avLst/>
              </a:prstGeom>
              <a:blipFill>
                <a:blip r:embed="rId5"/>
                <a:stretch>
                  <a:fillRect b="-3125"/>
                </a:stretch>
              </a:blipFill>
            </p:spPr>
            <p:txBody>
              <a:bodyPr/>
              <a:lstStyle/>
              <a:p>
                <a:r>
                  <a:rPr lang="fr-FR">
                    <a:noFill/>
                  </a:rPr>
                  <a:t> </a:t>
                </a:r>
              </a:p>
            </p:txBody>
          </p:sp>
        </mc:Fallback>
      </mc:AlternateContent>
      <p:pic>
        <p:nvPicPr>
          <p:cNvPr id="19" name="Picture 18">
            <a:extLst>
              <a:ext uri="{FF2B5EF4-FFF2-40B4-BE49-F238E27FC236}">
                <a16:creationId xmlns:a16="http://schemas.microsoft.com/office/drawing/2014/main" id="{D825846E-C04B-739C-74A2-B0C7275DA37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0" y="5037009"/>
            <a:ext cx="5657024" cy="1569050"/>
          </a:xfrm>
          <a:prstGeom prst="rect">
            <a:avLst/>
          </a:prstGeom>
        </p:spPr>
      </p:pic>
      <p:pic>
        <p:nvPicPr>
          <p:cNvPr id="21" name="Picture 20">
            <a:extLst>
              <a:ext uri="{FF2B5EF4-FFF2-40B4-BE49-F238E27FC236}">
                <a16:creationId xmlns:a16="http://schemas.microsoft.com/office/drawing/2014/main" id="{60CAA38A-01D1-361E-E904-5652F0392AA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516391" y="1368466"/>
            <a:ext cx="4989046" cy="3064969"/>
          </a:xfrm>
          <a:prstGeom prst="rect">
            <a:avLst/>
          </a:prstGeom>
        </p:spPr>
      </p:pic>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2C531BDC-F62D-1C23-D94A-1D1AE6F1E814}"/>
                  </a:ext>
                </a:extLst>
              </p:cNvPr>
              <p:cNvSpPr txBox="1"/>
              <p:nvPr/>
            </p:nvSpPr>
            <p:spPr>
              <a:xfrm>
                <a:off x="6167992" y="4460368"/>
                <a:ext cx="5646615" cy="471283"/>
              </a:xfrm>
              <a:prstGeom prst="rect">
                <a:avLst/>
              </a:prstGeom>
              <a:noFill/>
            </p:spPr>
            <p:txBody>
              <a:bodyPr wrap="square" rtlCol="0">
                <a:spAutoFit/>
              </a:bodyPr>
              <a:lstStyle/>
              <a:p>
                <a:pPr algn="just"/>
                <a:r>
                  <a:rPr lang="fr-FR" sz="800" i="1" dirty="0">
                    <a:solidFill>
                      <a:srgbClr val="0F172A"/>
                    </a:solidFill>
                  </a:rPr>
                  <a:t>Projection des vitesses </a:t>
                </a:r>
                <a14:m>
                  <m:oMath xmlns:m="http://schemas.openxmlformats.org/officeDocument/2006/math">
                    <m:sSub>
                      <m:sSubPr>
                        <m:ctrlPr>
                          <a:rPr lang="fr-FR" sz="800" i="1" smtClean="0">
                            <a:solidFill>
                              <a:srgbClr val="0F172A"/>
                            </a:solidFill>
                            <a:latin typeface="Cambria Math" panose="02040503050406030204" pitchFamily="18" charset="0"/>
                          </a:rPr>
                        </m:ctrlPr>
                      </m:sSubPr>
                      <m:e>
                        <m:r>
                          <a:rPr lang="fr-FR" sz="800" b="0" i="1" smtClean="0">
                            <a:solidFill>
                              <a:srgbClr val="0F172A"/>
                            </a:solidFill>
                            <a:latin typeface="Cambria Math" panose="02040503050406030204" pitchFamily="18" charset="0"/>
                          </a:rPr>
                          <m:t>𝑈</m:t>
                        </m:r>
                      </m:e>
                      <m:sub>
                        <m:r>
                          <a:rPr lang="fr-FR" sz="800" b="0" i="1" smtClean="0">
                            <a:solidFill>
                              <a:srgbClr val="0F172A"/>
                            </a:solidFill>
                            <a:latin typeface="Cambria Math" panose="02040503050406030204" pitchFamily="18" charset="0"/>
                          </a:rPr>
                          <m:t>𝑝𝑒𝑐</m:t>
                        </m:r>
                      </m:sub>
                    </m:sSub>
                  </m:oMath>
                </a14:m>
                <a:r>
                  <a:rPr lang="fr-FR" sz="800" i="1" dirty="0">
                    <a:solidFill>
                      <a:srgbClr val="0F172A"/>
                    </a:solidFill>
                  </a:rPr>
                  <a:t> et </a:t>
                </a:r>
                <a14:m>
                  <m:oMath xmlns:m="http://schemas.openxmlformats.org/officeDocument/2006/math">
                    <m:sSub>
                      <m:sSubPr>
                        <m:ctrlPr>
                          <a:rPr lang="fr-FR" sz="800" i="1">
                            <a:solidFill>
                              <a:srgbClr val="0F172A"/>
                            </a:solidFill>
                            <a:latin typeface="Cambria Math" panose="02040503050406030204" pitchFamily="18" charset="0"/>
                          </a:rPr>
                        </m:ctrlPr>
                      </m:sSubPr>
                      <m:e>
                        <m:r>
                          <a:rPr lang="fr-FR" sz="800" b="0" i="1" smtClean="0">
                            <a:solidFill>
                              <a:srgbClr val="0F172A"/>
                            </a:solidFill>
                            <a:latin typeface="Cambria Math" panose="02040503050406030204" pitchFamily="18" charset="0"/>
                          </a:rPr>
                          <m:t>𝑉</m:t>
                        </m:r>
                      </m:e>
                      <m:sub>
                        <m:r>
                          <a:rPr lang="fr-FR" sz="800" b="0" i="1" smtClean="0">
                            <a:solidFill>
                              <a:srgbClr val="0F172A"/>
                            </a:solidFill>
                            <a:latin typeface="Cambria Math" panose="02040503050406030204" pitchFamily="18" charset="0"/>
                          </a:rPr>
                          <m:t>𝑝𝑒𝑐</m:t>
                        </m:r>
                      </m:sub>
                    </m:sSub>
                  </m:oMath>
                </a14:m>
                <a:r>
                  <a:rPr lang="fr-FR" sz="800" i="1" dirty="0">
                    <a:solidFill>
                      <a:srgbClr val="0F172A"/>
                    </a:solidFill>
                  </a:rPr>
                  <a:t>des nuages moléculaires et des groupes d'étoiles massives sur le plan galactique. L'abscisse est la distance selon la rotation de la galaxie et l'ordonnée est la distance vers le centre galactique. La ligne jaune indique la direction du Soleil. Les nuages moléculaires sont en bleu et les groupes d'étoiles en rouge et vert.</a:t>
                </a:r>
              </a:p>
            </p:txBody>
          </p:sp>
        </mc:Choice>
        <mc:Fallback>
          <p:sp>
            <p:nvSpPr>
              <p:cNvPr id="22" name="TextBox 21">
                <a:extLst>
                  <a:ext uri="{FF2B5EF4-FFF2-40B4-BE49-F238E27FC236}">
                    <a16:creationId xmlns:a16="http://schemas.microsoft.com/office/drawing/2014/main" id="{2C531BDC-F62D-1C23-D94A-1D1AE6F1E814}"/>
                  </a:ext>
                </a:extLst>
              </p:cNvPr>
              <p:cNvSpPr txBox="1">
                <a:spLocks noRot="1" noChangeAspect="1" noMove="1" noResize="1" noEditPoints="1" noAdjustHandles="1" noChangeArrowheads="1" noChangeShapeType="1" noTextEdit="1"/>
              </p:cNvSpPr>
              <p:nvPr/>
            </p:nvSpPr>
            <p:spPr>
              <a:xfrm>
                <a:off x="6167992" y="4460368"/>
                <a:ext cx="5646615" cy="471283"/>
              </a:xfrm>
              <a:prstGeom prst="rect">
                <a:avLst/>
              </a:prstGeom>
              <a:blipFill>
                <a:blip r:embed="rId8"/>
                <a:stretch>
                  <a:fillRect b="-3896"/>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417C62E5-648B-52A8-F712-723660A86B48}"/>
                  </a:ext>
                </a:extLst>
              </p:cNvPr>
              <p:cNvSpPr txBox="1"/>
              <p:nvPr/>
            </p:nvSpPr>
            <p:spPr>
              <a:xfrm>
                <a:off x="3165231" y="5462782"/>
                <a:ext cx="2840892" cy="717504"/>
              </a:xfrm>
              <a:prstGeom prst="rect">
                <a:avLst/>
              </a:prstGeom>
              <a:noFill/>
            </p:spPr>
            <p:txBody>
              <a:bodyPr wrap="square" rtlCol="0">
                <a:spAutoFit/>
              </a:bodyPr>
              <a:lstStyle/>
              <a:p>
                <a:pPr algn="just"/>
                <a:r>
                  <a:rPr lang="fr-FR" sz="800" i="1" dirty="0">
                    <a:solidFill>
                      <a:srgbClr val="0F172A"/>
                    </a:solidFill>
                  </a:rPr>
                  <a:t>Projection des vitesses </a:t>
                </a:r>
                <a14:m>
                  <m:oMath xmlns:m="http://schemas.openxmlformats.org/officeDocument/2006/math">
                    <m:sSub>
                      <m:sSubPr>
                        <m:ctrlPr>
                          <a:rPr lang="fr-FR" sz="800" i="1">
                            <a:solidFill>
                              <a:srgbClr val="0F172A"/>
                            </a:solidFill>
                            <a:latin typeface="Cambria Math" panose="02040503050406030204" pitchFamily="18" charset="0"/>
                          </a:rPr>
                        </m:ctrlPr>
                      </m:sSubPr>
                      <m:e>
                        <m:r>
                          <a:rPr lang="fr-FR" sz="800" i="1">
                            <a:solidFill>
                              <a:srgbClr val="0F172A"/>
                            </a:solidFill>
                            <a:latin typeface="Cambria Math" panose="02040503050406030204" pitchFamily="18" charset="0"/>
                          </a:rPr>
                          <m:t>𝑈</m:t>
                        </m:r>
                      </m:e>
                      <m:sub>
                        <m:r>
                          <a:rPr lang="fr-FR" sz="800" i="1">
                            <a:solidFill>
                              <a:srgbClr val="0F172A"/>
                            </a:solidFill>
                            <a:latin typeface="Cambria Math" panose="02040503050406030204" pitchFamily="18" charset="0"/>
                          </a:rPr>
                          <m:t>𝑝𝑒𝑐</m:t>
                        </m:r>
                      </m:sub>
                    </m:sSub>
                  </m:oMath>
                </a14:m>
                <a:r>
                  <a:rPr lang="fr-FR" sz="800" i="1" dirty="0">
                    <a:solidFill>
                      <a:srgbClr val="0F172A"/>
                    </a:solidFill>
                  </a:rPr>
                  <a:t> et </a:t>
                </a:r>
                <a14:m>
                  <m:oMath xmlns:m="http://schemas.openxmlformats.org/officeDocument/2006/math">
                    <m:sSub>
                      <m:sSubPr>
                        <m:ctrlPr>
                          <a:rPr lang="fr-FR" sz="800" i="1">
                            <a:solidFill>
                              <a:srgbClr val="0F172A"/>
                            </a:solidFill>
                            <a:latin typeface="Cambria Math" panose="02040503050406030204" pitchFamily="18" charset="0"/>
                          </a:rPr>
                        </m:ctrlPr>
                      </m:sSubPr>
                      <m:e>
                        <m:r>
                          <a:rPr lang="fr-FR" sz="800" b="0" i="1" smtClean="0">
                            <a:solidFill>
                              <a:srgbClr val="0F172A"/>
                            </a:solidFill>
                            <a:latin typeface="Cambria Math" panose="02040503050406030204" pitchFamily="18" charset="0"/>
                          </a:rPr>
                          <m:t>𝑊</m:t>
                        </m:r>
                      </m:e>
                      <m:sub>
                        <m:r>
                          <a:rPr lang="fr-FR" sz="800" i="1">
                            <a:solidFill>
                              <a:srgbClr val="0F172A"/>
                            </a:solidFill>
                            <a:latin typeface="Cambria Math" panose="02040503050406030204" pitchFamily="18" charset="0"/>
                          </a:rPr>
                          <m:t>𝑝𝑒𝑐</m:t>
                        </m:r>
                      </m:sub>
                    </m:sSub>
                  </m:oMath>
                </a14:m>
                <a:r>
                  <a:rPr lang="fr-FR" sz="800" i="1" dirty="0">
                    <a:solidFill>
                      <a:srgbClr val="0F172A"/>
                    </a:solidFill>
                  </a:rPr>
                  <a:t>des nuages moléculaires et des groupes d'étoiles massives sur le plan (X,Z). L'abscisse est la distance vers le centre Galactique et l'ordonnée est la distance vers le pôle Nord Galactique. . Les nuages moléculaires sont en bleu et les groupes d'étoiles en rouge et vert.</a:t>
                </a:r>
              </a:p>
            </p:txBody>
          </p:sp>
        </mc:Choice>
        <mc:Fallback>
          <p:sp>
            <p:nvSpPr>
              <p:cNvPr id="23" name="TextBox 22">
                <a:extLst>
                  <a:ext uri="{FF2B5EF4-FFF2-40B4-BE49-F238E27FC236}">
                    <a16:creationId xmlns:a16="http://schemas.microsoft.com/office/drawing/2014/main" id="{417C62E5-648B-52A8-F712-723660A86B48}"/>
                  </a:ext>
                </a:extLst>
              </p:cNvPr>
              <p:cNvSpPr txBox="1">
                <a:spLocks noRot="1" noChangeAspect="1" noMove="1" noResize="1" noEditPoints="1" noAdjustHandles="1" noChangeArrowheads="1" noChangeShapeType="1" noTextEdit="1"/>
              </p:cNvSpPr>
              <p:nvPr/>
            </p:nvSpPr>
            <p:spPr>
              <a:xfrm>
                <a:off x="3165231" y="5462782"/>
                <a:ext cx="2840892" cy="717504"/>
              </a:xfrm>
              <a:prstGeom prst="rect">
                <a:avLst/>
              </a:prstGeom>
              <a:blipFill>
                <a:blip r:embed="rId9"/>
                <a:stretch>
                  <a:fillRect b="-1695"/>
                </a:stretch>
              </a:blipFill>
            </p:spPr>
            <p:txBody>
              <a:bodyPr/>
              <a:lstStyle/>
              <a:p>
                <a:r>
                  <a:rPr lang="fr-FR">
                    <a:noFill/>
                  </a:rPr>
                  <a:t> </a:t>
                </a:r>
              </a:p>
            </p:txBody>
          </p:sp>
        </mc:Fallback>
      </mc:AlternateContent>
    </p:spTree>
    <p:extLst>
      <p:ext uri="{BB962C8B-B14F-4D97-AF65-F5344CB8AC3E}">
        <p14:creationId xmlns:p14="http://schemas.microsoft.com/office/powerpoint/2010/main" val="17245742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9EC76-2C25-2C41-A257-8F5B88463B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EBE94A41-26E6-FABE-4564-DFB73D1D4A73}"/>
              </a:ext>
            </a:extLst>
          </p:cNvPr>
          <p:cNvSpPr/>
          <p:nvPr/>
        </p:nvSpPr>
        <p:spPr>
          <a:xfrm>
            <a:off x="-76201" y="619129"/>
            <a:ext cx="12327467" cy="642407"/>
          </a:xfrm>
          <a:prstGeom prst="rect">
            <a:avLst/>
          </a:prstGeom>
          <a:solidFill>
            <a:srgbClr val="0F172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 name="Titre 1">
            <a:extLst>
              <a:ext uri="{FF2B5EF4-FFF2-40B4-BE49-F238E27FC236}">
                <a16:creationId xmlns:a16="http://schemas.microsoft.com/office/drawing/2014/main" id="{49E31428-AA45-CBB9-709D-96DD20DFBC76}"/>
              </a:ext>
            </a:extLst>
          </p:cNvPr>
          <p:cNvSpPr>
            <a:spLocks noGrp="1"/>
          </p:cNvSpPr>
          <p:nvPr>
            <p:ph type="title"/>
          </p:nvPr>
        </p:nvSpPr>
        <p:spPr>
          <a:xfrm>
            <a:off x="152400" y="619129"/>
            <a:ext cx="10515600" cy="642407"/>
          </a:xfrm>
        </p:spPr>
        <p:txBody>
          <a:bodyPr>
            <a:normAutofit/>
          </a:bodyPr>
          <a:lstStyle/>
          <a:p>
            <a:r>
              <a:rPr lang="fr-FR" sz="3200" noProof="0" dirty="0">
                <a:solidFill>
                  <a:schemeClr val="bg1"/>
                </a:solidFill>
              </a:rPr>
              <a:t>Traceback des objets du Cygne</a:t>
            </a:r>
          </a:p>
        </p:txBody>
      </p:sp>
      <p:sp>
        <p:nvSpPr>
          <p:cNvPr id="5" name="Espace réservé du numéro de diapositive 4">
            <a:extLst>
              <a:ext uri="{FF2B5EF4-FFF2-40B4-BE49-F238E27FC236}">
                <a16:creationId xmlns:a16="http://schemas.microsoft.com/office/drawing/2014/main" id="{B621097E-7FC3-FBEF-FA5C-A776F668C2F6}"/>
              </a:ext>
            </a:extLst>
          </p:cNvPr>
          <p:cNvSpPr>
            <a:spLocks noGrp="1"/>
          </p:cNvSpPr>
          <p:nvPr>
            <p:ph type="sldNum" sz="quarter" idx="12"/>
          </p:nvPr>
        </p:nvSpPr>
        <p:spPr>
          <a:xfrm>
            <a:off x="9401628" y="6455811"/>
            <a:ext cx="2743200" cy="365125"/>
          </a:xfrm>
        </p:spPr>
        <p:txBody>
          <a:bodyPr/>
          <a:lstStyle/>
          <a:p>
            <a:fld id="{E3EC9F48-C5B6-4727-AEEA-2F88FA0098DB}" type="slidenum">
              <a:rPr lang="fr-FR" noProof="0" smtClean="0"/>
              <a:t>8</a:t>
            </a:fld>
            <a:endParaRPr lang="fr-FR" noProof="0" dirty="0"/>
          </a:p>
        </p:txBody>
      </p:sp>
      <p:pic>
        <p:nvPicPr>
          <p:cNvPr id="11" name="Picture 2">
            <a:extLst>
              <a:ext uri="{FF2B5EF4-FFF2-40B4-BE49-F238E27FC236}">
                <a16:creationId xmlns:a16="http://schemas.microsoft.com/office/drawing/2014/main" id="{383EC5D6-48C9-E6E0-9F2E-E7D4B0374A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64034"/>
            <a:ext cx="1540933" cy="5393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aboratoire d'Astrophysique de Bordeaux - LAB">
            <a:extLst>
              <a:ext uri="{FF2B5EF4-FFF2-40B4-BE49-F238E27FC236}">
                <a16:creationId xmlns:a16="http://schemas.microsoft.com/office/drawing/2014/main" id="{B9AEF2F2-8DDD-8C29-1F6E-1D6EA61EB4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47399" y="1"/>
            <a:ext cx="925513" cy="62725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 coins arrondis 8">
            <a:extLst>
              <a:ext uri="{FF2B5EF4-FFF2-40B4-BE49-F238E27FC236}">
                <a16:creationId xmlns:a16="http://schemas.microsoft.com/office/drawing/2014/main" id="{AF1206A5-7267-B4C4-E785-3A18FCB853CF}"/>
              </a:ext>
            </a:extLst>
          </p:cNvPr>
          <p:cNvSpPr/>
          <p:nvPr/>
        </p:nvSpPr>
        <p:spPr>
          <a:xfrm>
            <a:off x="123507" y="1366053"/>
            <a:ext cx="9200247" cy="1605599"/>
          </a:xfrm>
          <a:prstGeom prst="roundRect">
            <a:avLst/>
          </a:prstGeom>
          <a:ln>
            <a:solidFill>
              <a:srgbClr val="0F172A"/>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fr-FR" noProof="0" dirty="0"/>
          </a:p>
        </p:txBody>
      </p:sp>
      <p:sp>
        <p:nvSpPr>
          <p:cNvPr id="7" name="ZoneTexte 13">
            <a:extLst>
              <a:ext uri="{FF2B5EF4-FFF2-40B4-BE49-F238E27FC236}">
                <a16:creationId xmlns:a16="http://schemas.microsoft.com/office/drawing/2014/main" id="{79B23339-950C-A924-BF93-599AD1E89054}"/>
              </a:ext>
            </a:extLst>
          </p:cNvPr>
          <p:cNvSpPr txBox="1"/>
          <p:nvPr/>
        </p:nvSpPr>
        <p:spPr>
          <a:xfrm>
            <a:off x="546280" y="1439293"/>
            <a:ext cx="4534212" cy="338554"/>
          </a:xfrm>
          <a:prstGeom prst="rect">
            <a:avLst/>
          </a:prstGeom>
          <a:noFill/>
        </p:spPr>
        <p:txBody>
          <a:bodyPr wrap="square" lIns="91440" tIns="45720" rIns="91440" bIns="45720" rtlCol="0" anchor="t">
            <a:spAutoFit/>
          </a:bodyPr>
          <a:lstStyle/>
          <a:p>
            <a:r>
              <a:rPr lang="fr-FR" sz="1600" b="1" noProof="0" dirty="0">
                <a:solidFill>
                  <a:schemeClr val="bg2">
                    <a:lumMod val="25000"/>
                  </a:schemeClr>
                </a:solidFill>
              </a:rPr>
              <a:t>Motivations</a:t>
            </a:r>
            <a:endParaRPr lang="fr-FR" noProof="0" dirty="0">
              <a:solidFill>
                <a:schemeClr val="bg2">
                  <a:lumMod val="25000"/>
                </a:schemeClr>
              </a:solidFill>
            </a:endParaRPr>
          </a:p>
        </p:txBody>
      </p:sp>
      <mc:AlternateContent xmlns:mc="http://schemas.openxmlformats.org/markup-compatibility/2006">
        <mc:Choice xmlns:a14="http://schemas.microsoft.com/office/drawing/2010/main" Requires="a14">
          <p:sp>
            <p:nvSpPr>
              <p:cNvPr id="9" name="ZoneTexte 14">
                <a:extLst>
                  <a:ext uri="{FF2B5EF4-FFF2-40B4-BE49-F238E27FC236}">
                    <a16:creationId xmlns:a16="http://schemas.microsoft.com/office/drawing/2014/main" id="{69AF5769-431C-843E-2C32-BE4D3524500A}"/>
                  </a:ext>
                </a:extLst>
              </p:cNvPr>
              <p:cNvSpPr txBox="1"/>
              <p:nvPr/>
            </p:nvSpPr>
            <p:spPr>
              <a:xfrm>
                <a:off x="473340" y="1903960"/>
                <a:ext cx="7787522" cy="938719"/>
              </a:xfrm>
              <a:prstGeom prst="rect">
                <a:avLst/>
              </a:prstGeom>
              <a:noFill/>
            </p:spPr>
            <p:txBody>
              <a:bodyPr wrap="square" lIns="91440" tIns="45720" rIns="91440" bIns="45720" rtlCol="0" anchor="t">
                <a:spAutoFit/>
              </a:bodyPr>
              <a:lstStyle/>
              <a:p>
                <a:r>
                  <a:rPr lang="fr-FR" sz="1100" dirty="0">
                    <a:solidFill>
                      <a:schemeClr val="bg2">
                        <a:lumMod val="25000"/>
                      </a:schemeClr>
                    </a:solidFill>
                  </a:rPr>
                  <a:t>Déterminer les instants où les amas d’un même super-groupe étaient les plus proches (TCA: Time of Closest Approach)</a:t>
                </a:r>
                <a:endParaRPr lang="fr-FR" noProof="0" dirty="0">
                  <a:solidFill>
                    <a:schemeClr val="bg2">
                      <a:lumMod val="25000"/>
                    </a:schemeClr>
                  </a:solidFill>
                </a:endParaRPr>
              </a:p>
              <a:p>
                <a:endParaRPr lang="fr-FR" sz="1100"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V: Composante </a:t>
                </a:r>
                <a:r>
                  <a:rPr lang="fr-FR" sz="1100" b="1" noProof="0" dirty="0">
                    <a:solidFill>
                      <a:schemeClr val="bg2">
                        <a:lumMod val="25000"/>
                      </a:schemeClr>
                    </a:solidFill>
                    <a:ea typeface="Calibri"/>
                    <a:cs typeface="Calibri"/>
                  </a:rPr>
                  <a:t>tangentielle</a:t>
                </a:r>
                <a:r>
                  <a:rPr lang="fr-FR" sz="1100" noProof="0" dirty="0">
                    <a:solidFill>
                      <a:schemeClr val="bg2">
                        <a:lumMod val="25000"/>
                      </a:schemeClr>
                    </a:solidFill>
                    <a:ea typeface="Calibri"/>
                    <a:cs typeface="Calibri"/>
                  </a:rPr>
                  <a:t> orientée dans le sens de la </a:t>
                </a:r>
                <a:r>
                  <a:rPr lang="fr-FR" sz="1100" b="1" noProof="0" dirty="0">
                    <a:solidFill>
                      <a:schemeClr val="bg2">
                        <a:lumMod val="25000"/>
                      </a:schemeClr>
                    </a:solidFill>
                    <a:ea typeface="Calibri"/>
                    <a:cs typeface="Calibri"/>
                  </a:rPr>
                  <a:t>rotation galactique</a:t>
                </a:r>
                <a:r>
                  <a:rPr lang="fr-FR" sz="1100" noProof="0" dirty="0">
                    <a:solidFill>
                      <a:schemeClr val="bg2">
                        <a:lumMod val="25000"/>
                      </a:schemeClr>
                    </a:solidFill>
                    <a:ea typeface="Calibri"/>
                    <a:cs typeface="Calibri"/>
                  </a:rPr>
                  <a:t>, selon </a:t>
                </a:r>
                <a:r>
                  <a:rPr lang="fr-FR" sz="1100" noProof="0" dirty="0">
                    <a:solidFill>
                      <a:schemeClr val="bg2">
                        <a:lumMod val="25000"/>
                      </a:schemeClr>
                    </a:solidFill>
                  </a:rPr>
                  <a:t>l’axe </a:t>
                </a:r>
                <a14:m>
                  <m:oMath xmlns:m="http://schemas.openxmlformats.org/officeDocument/2006/math">
                    <m:acc>
                      <m:accPr>
                        <m:chr m:val="⃗"/>
                        <m:ctrlPr>
                          <a:rPr lang="fr-FR" sz="1100" i="1" noProof="0" smtClean="0">
                            <a:solidFill>
                              <a:schemeClr val="bg2">
                                <a:lumMod val="25000"/>
                              </a:schemeClr>
                            </a:solidFill>
                            <a:latin typeface="Cambria Math" panose="02040503050406030204" pitchFamily="18" charset="0"/>
                          </a:rPr>
                        </m:ctrlPr>
                      </m:accPr>
                      <m:e>
                        <m:r>
                          <a:rPr lang="fr-FR" sz="1100" b="0" i="1" noProof="0" smtClean="0">
                            <a:solidFill>
                              <a:schemeClr val="bg2">
                                <a:lumMod val="25000"/>
                              </a:schemeClr>
                            </a:solidFill>
                            <a:latin typeface="Cambria Math" panose="02040503050406030204" pitchFamily="18" charset="0"/>
                          </a:rPr>
                          <m:t>𝑦</m:t>
                        </m:r>
                      </m:e>
                    </m:acc>
                  </m:oMath>
                </a14:m>
                <a:endParaRPr lang="fr-FR" sz="1100" noProof="0" dirty="0">
                  <a:solidFill>
                    <a:schemeClr val="bg2">
                      <a:lumMod val="25000"/>
                    </a:schemeClr>
                  </a:solidFill>
                </a:endParaRPr>
              </a:p>
              <a:p>
                <a:endParaRPr lang="fr-FR" sz="1100" b="1" noProof="0" dirty="0">
                  <a:solidFill>
                    <a:schemeClr val="bg2">
                      <a:lumMod val="25000"/>
                    </a:schemeClr>
                  </a:solidFill>
                  <a:ea typeface="Calibri"/>
                  <a:cs typeface="Calibri"/>
                </a:endParaRPr>
              </a:p>
              <a:p>
                <a:r>
                  <a:rPr lang="fr-FR" sz="1100" noProof="0" dirty="0">
                    <a:solidFill>
                      <a:schemeClr val="bg2">
                        <a:lumMod val="25000"/>
                      </a:schemeClr>
                    </a:solidFill>
                    <a:ea typeface="Calibri"/>
                    <a:cs typeface="Calibri"/>
                  </a:rPr>
                  <a:t>W: Composante </a:t>
                </a:r>
                <a:r>
                  <a:rPr lang="fr-FR" sz="1100" b="1" noProof="0" dirty="0">
                    <a:solidFill>
                      <a:schemeClr val="bg2">
                        <a:lumMod val="25000"/>
                      </a:schemeClr>
                    </a:solidFill>
                    <a:ea typeface="Calibri"/>
                    <a:cs typeface="Calibri"/>
                  </a:rPr>
                  <a:t>perpendiculaire</a:t>
                </a:r>
                <a:r>
                  <a:rPr lang="fr-FR" sz="1100" noProof="0" dirty="0">
                    <a:solidFill>
                      <a:schemeClr val="bg2">
                        <a:lumMod val="25000"/>
                      </a:schemeClr>
                    </a:solidFill>
                    <a:ea typeface="Calibri"/>
                    <a:cs typeface="Calibri"/>
                  </a:rPr>
                  <a:t> au plan galactique, selon l’axe</a:t>
                </a:r>
                <a:r>
                  <a:rPr lang="fr-FR" sz="1100" noProof="0" dirty="0">
                    <a:solidFill>
                      <a:schemeClr val="bg2">
                        <a:lumMod val="25000"/>
                      </a:schemeClr>
                    </a:solidFill>
                  </a:rPr>
                  <a:t> </a:t>
                </a:r>
                <a14:m>
                  <m:oMath xmlns:m="http://schemas.openxmlformats.org/officeDocument/2006/math">
                    <m:acc>
                      <m:accPr>
                        <m:chr m:val="⃗"/>
                        <m:ctrlPr>
                          <a:rPr lang="fr-FR" sz="1100" i="1" noProof="0" smtClean="0">
                            <a:solidFill>
                              <a:schemeClr val="bg2">
                                <a:lumMod val="25000"/>
                              </a:schemeClr>
                            </a:solidFill>
                            <a:latin typeface="Cambria Math" panose="02040503050406030204" pitchFamily="18" charset="0"/>
                          </a:rPr>
                        </m:ctrlPr>
                      </m:accPr>
                      <m:e>
                        <m:r>
                          <a:rPr lang="fr-FR" sz="1100" b="0" i="1" noProof="0" smtClean="0">
                            <a:solidFill>
                              <a:schemeClr val="bg2">
                                <a:lumMod val="25000"/>
                              </a:schemeClr>
                            </a:solidFill>
                            <a:latin typeface="Cambria Math" panose="02040503050406030204" pitchFamily="18" charset="0"/>
                          </a:rPr>
                          <m:t>𝑧</m:t>
                        </m:r>
                      </m:e>
                    </m:acc>
                  </m:oMath>
                </a14:m>
                <a:endParaRPr lang="fr-FR" sz="1100" noProof="0" dirty="0">
                  <a:solidFill>
                    <a:schemeClr val="bg2">
                      <a:lumMod val="25000"/>
                    </a:schemeClr>
                  </a:solidFill>
                  <a:ea typeface="Calibri"/>
                  <a:cs typeface="Calibri"/>
                </a:endParaRPr>
              </a:p>
            </p:txBody>
          </p:sp>
        </mc:Choice>
        <mc:Fallback>
          <p:sp>
            <p:nvSpPr>
              <p:cNvPr id="9" name="ZoneTexte 14">
                <a:extLst>
                  <a:ext uri="{FF2B5EF4-FFF2-40B4-BE49-F238E27FC236}">
                    <a16:creationId xmlns:a16="http://schemas.microsoft.com/office/drawing/2014/main" id="{69AF5769-431C-843E-2C32-BE4D3524500A}"/>
                  </a:ext>
                </a:extLst>
              </p:cNvPr>
              <p:cNvSpPr txBox="1">
                <a:spLocks noRot="1" noChangeAspect="1" noMove="1" noResize="1" noEditPoints="1" noAdjustHandles="1" noChangeArrowheads="1" noChangeShapeType="1" noTextEdit="1"/>
              </p:cNvSpPr>
              <p:nvPr/>
            </p:nvSpPr>
            <p:spPr>
              <a:xfrm>
                <a:off x="473340" y="1903960"/>
                <a:ext cx="7787522" cy="938719"/>
              </a:xfrm>
              <a:prstGeom prst="rect">
                <a:avLst/>
              </a:prstGeom>
              <a:blipFill>
                <a:blip r:embed="rId4"/>
                <a:stretch>
                  <a:fillRect t="-649" b="-3896"/>
                </a:stretch>
              </a:blipFill>
            </p:spPr>
            <p:txBody>
              <a:bodyPr/>
              <a:lstStyle/>
              <a:p>
                <a:r>
                  <a:rPr lang="fr-FR">
                    <a:noFill/>
                  </a:rPr>
                  <a:t> </a:t>
                </a:r>
              </a:p>
            </p:txBody>
          </p:sp>
        </mc:Fallback>
      </mc:AlternateContent>
      <p:pic>
        <p:nvPicPr>
          <p:cNvPr id="10" name="Graphic 9" descr="Arrow Right with solid fill">
            <a:extLst>
              <a:ext uri="{FF2B5EF4-FFF2-40B4-BE49-F238E27FC236}">
                <a16:creationId xmlns:a16="http://schemas.microsoft.com/office/drawing/2014/main" id="{7912AFD7-2C4C-30C1-1A12-2C885F67A27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0129" y="1902750"/>
            <a:ext cx="244511" cy="328246"/>
          </a:xfrm>
          <a:prstGeom prst="rect">
            <a:avLst/>
          </a:prstGeom>
        </p:spPr>
      </p:pic>
      <p:pic>
        <p:nvPicPr>
          <p:cNvPr id="14" name="Graphic 13" descr="Arrow Right with solid fill">
            <a:extLst>
              <a:ext uri="{FF2B5EF4-FFF2-40B4-BE49-F238E27FC236}">
                <a16:creationId xmlns:a16="http://schemas.microsoft.com/office/drawing/2014/main" id="{A80A81DF-6D98-D4B9-595B-19BFA52837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8502" y="2223183"/>
            <a:ext cx="244511" cy="328246"/>
          </a:xfrm>
          <a:prstGeom prst="rect">
            <a:avLst/>
          </a:prstGeom>
        </p:spPr>
      </p:pic>
      <p:pic>
        <p:nvPicPr>
          <p:cNvPr id="15" name="Graphic 14" descr="Fast Forward with solid fill">
            <a:extLst>
              <a:ext uri="{FF2B5EF4-FFF2-40B4-BE49-F238E27FC236}">
                <a16:creationId xmlns:a16="http://schemas.microsoft.com/office/drawing/2014/main" id="{27B14FEB-9804-0B77-B0F6-E9CACC9C368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3346" y="1487444"/>
            <a:ext cx="286379" cy="252886"/>
          </a:xfrm>
          <a:prstGeom prst="rect">
            <a:avLst/>
          </a:prstGeom>
        </p:spPr>
      </p:pic>
      <p:pic>
        <p:nvPicPr>
          <p:cNvPr id="16" name="Graphic 15" descr="Arrow Right with solid fill">
            <a:extLst>
              <a:ext uri="{FF2B5EF4-FFF2-40B4-BE49-F238E27FC236}">
                <a16:creationId xmlns:a16="http://schemas.microsoft.com/office/drawing/2014/main" id="{4E49DED4-736C-026F-EF1C-FCB8ECF447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8502" y="2546015"/>
            <a:ext cx="244511" cy="328246"/>
          </a:xfrm>
          <a:prstGeom prst="rect">
            <a:avLst/>
          </a:prstGeom>
        </p:spPr>
      </p:pic>
    </p:spTree>
    <p:extLst>
      <p:ext uri="{BB962C8B-B14F-4D97-AF65-F5344CB8AC3E}">
        <p14:creationId xmlns:p14="http://schemas.microsoft.com/office/powerpoint/2010/main" val="750507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101EBD-5CD5-FE07-0506-74F6FC4B284C}"/>
              </a:ext>
            </a:extLst>
          </p:cNvPr>
          <p:cNvSpPr>
            <a:spLocks noGrp="1"/>
          </p:cNvSpPr>
          <p:nvPr>
            <p:ph type="title"/>
          </p:nvPr>
        </p:nvSpPr>
        <p:spPr/>
        <p:txBody>
          <a:bodyPr/>
          <a:lstStyle/>
          <a:p>
            <a:endParaRPr lang="fr-FR" noProof="0" dirty="0"/>
          </a:p>
        </p:txBody>
      </p:sp>
      <p:sp>
        <p:nvSpPr>
          <p:cNvPr id="3" name="Espace réservé du contenu 2">
            <a:extLst>
              <a:ext uri="{FF2B5EF4-FFF2-40B4-BE49-F238E27FC236}">
                <a16:creationId xmlns:a16="http://schemas.microsoft.com/office/drawing/2014/main" id="{CA3BEE2F-5916-EEF5-980A-3F17E8C86BEB}"/>
              </a:ext>
            </a:extLst>
          </p:cNvPr>
          <p:cNvSpPr>
            <a:spLocks noGrp="1"/>
          </p:cNvSpPr>
          <p:nvPr>
            <p:ph idx="1"/>
          </p:nvPr>
        </p:nvSpPr>
        <p:spPr/>
        <p:txBody>
          <a:bodyPr vert="horz" lIns="91440" tIns="45720" rIns="91440" bIns="45720" rtlCol="0" anchor="t">
            <a:normAutofit/>
          </a:bodyPr>
          <a:lstStyle/>
          <a:p>
            <a:r>
              <a:rPr lang="fr-FR" noProof="0" dirty="0">
                <a:ea typeface="+mn-lt"/>
                <a:cs typeface="+mn-lt"/>
              </a:rPr>
              <a:t>#2596be bleu clair</a:t>
            </a:r>
            <a:endParaRPr lang="fr-FR" noProof="0" dirty="0">
              <a:ea typeface="Calibri" panose="020F0502020204030204"/>
              <a:cs typeface="Calibri" panose="020F0502020204030204"/>
            </a:endParaRPr>
          </a:p>
          <a:p>
            <a:r>
              <a:rPr lang="fr-FR" noProof="0" dirty="0">
                <a:ea typeface="+mn-lt"/>
                <a:cs typeface="+mn-lt"/>
              </a:rPr>
              <a:t>#0f172a bleu foncé</a:t>
            </a:r>
            <a:endParaRPr lang="fr-FR" noProof="0" dirty="0"/>
          </a:p>
        </p:txBody>
      </p:sp>
      <p:sp>
        <p:nvSpPr>
          <p:cNvPr id="4" name="Espace réservé de la date 3">
            <a:extLst>
              <a:ext uri="{FF2B5EF4-FFF2-40B4-BE49-F238E27FC236}">
                <a16:creationId xmlns:a16="http://schemas.microsoft.com/office/drawing/2014/main" id="{458461B9-75F1-5C61-12B5-5EFABC746720}"/>
              </a:ext>
            </a:extLst>
          </p:cNvPr>
          <p:cNvSpPr>
            <a:spLocks noGrp="1"/>
          </p:cNvSpPr>
          <p:nvPr>
            <p:ph type="dt" sz="half" idx="10"/>
          </p:nvPr>
        </p:nvSpPr>
        <p:spPr/>
        <p:txBody>
          <a:bodyPr/>
          <a:lstStyle/>
          <a:p>
            <a:fld id="{E2DC191A-0AFA-4748-A17D-759B6F9426B9}" type="datetime1">
              <a:rPr lang="fr-FR" noProof="0" smtClean="0"/>
              <a:t>17/06/2026</a:t>
            </a:fld>
            <a:endParaRPr lang="fr-FR" noProof="0" dirty="0"/>
          </a:p>
        </p:txBody>
      </p:sp>
      <p:sp>
        <p:nvSpPr>
          <p:cNvPr id="5" name="Espace réservé du numéro de diapositive 4">
            <a:extLst>
              <a:ext uri="{FF2B5EF4-FFF2-40B4-BE49-F238E27FC236}">
                <a16:creationId xmlns:a16="http://schemas.microsoft.com/office/drawing/2014/main" id="{65CA3C87-2E51-A82C-29E9-240117CBEF98}"/>
              </a:ext>
            </a:extLst>
          </p:cNvPr>
          <p:cNvSpPr>
            <a:spLocks noGrp="1"/>
          </p:cNvSpPr>
          <p:nvPr>
            <p:ph type="sldNum" sz="quarter" idx="12"/>
          </p:nvPr>
        </p:nvSpPr>
        <p:spPr/>
        <p:txBody>
          <a:bodyPr/>
          <a:lstStyle/>
          <a:p>
            <a:fld id="{E3EC9F48-C5B6-4727-AEEA-2F88FA0098DB}" type="slidenum">
              <a:rPr lang="fr-FR" noProof="0" smtClean="0"/>
              <a:t>9</a:t>
            </a:fld>
            <a:endParaRPr lang="fr-FR" noProof="0" dirty="0"/>
          </a:p>
        </p:txBody>
      </p:sp>
    </p:spTree>
    <p:extLst>
      <p:ext uri="{BB962C8B-B14F-4D97-AF65-F5344CB8AC3E}">
        <p14:creationId xmlns:p14="http://schemas.microsoft.com/office/powerpoint/2010/main" val="174856404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213</TotalTime>
  <Words>831</Words>
  <Application>Microsoft Office PowerPoint</Application>
  <PresentationFormat>Widescreen</PresentationFormat>
  <Paragraphs>112</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Cambria Math</vt:lpstr>
      <vt:lpstr>Thème Office</vt:lpstr>
      <vt:lpstr>Lien entre la cinématique des étoiles jeunes et la cinématique du gaz moléculaire dans le complexe géant Cygnus-X</vt:lpstr>
      <vt:lpstr>Table des matières</vt:lpstr>
      <vt:lpstr>Introduction</vt:lpstr>
      <vt:lpstr>Enjeux et Objectifs</vt:lpstr>
      <vt:lpstr>Notions cinématiques et paramètres fondamentaux</vt:lpstr>
      <vt:lpstr>Positions et vitesses dans le référentiel galactocentrique</vt:lpstr>
      <vt:lpstr>Visualisation des vitesses et des positions</vt:lpstr>
      <vt:lpstr>Traceback des objets du Cygne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Sulwen de la Croix</dc:creator>
  <cp:lastModifiedBy>Sulwen de la Croix</cp:lastModifiedBy>
  <cp:revision>242</cp:revision>
  <dcterms:created xsi:type="dcterms:W3CDTF">2026-06-17T09:07:02Z</dcterms:created>
  <dcterms:modified xsi:type="dcterms:W3CDTF">2026-06-17T15:38:38Z</dcterms:modified>
</cp:coreProperties>
</file>