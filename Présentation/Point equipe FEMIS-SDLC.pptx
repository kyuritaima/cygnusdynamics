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2" r:id="rId4"/>
    <p:sldId id="263" r:id="rId5"/>
    <p:sldId id="264" r:id="rId6"/>
    <p:sldId id="265" r:id="rId7"/>
    <p:sldId id="266" r:id="rId8"/>
    <p:sldId id="268" r:id="rId9"/>
    <p:sldId id="269" r:id="rId10"/>
    <p:sldId id="270" r:id="rId11"/>
    <p:sldId id="271" r:id="rId12"/>
    <p:sldId id="272" r:id="rId13"/>
    <p:sldId id="273" r:id="rId14"/>
    <p:sldId id="274"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172A"/>
    <a:srgbClr val="D9D9D9"/>
    <a:srgbClr val="2596BE"/>
    <a:srgbClr val="FAFB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40" autoAdjust="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1816B-A750-4302-ACC4-566E27459A99}" type="datetimeFigureOut">
              <a:rPr lang="fr-FR" smtClean="0"/>
              <a:t>17/06/2026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E0DA8-2B20-4836-8258-3A727D9337DF}" type="slidenum">
              <a:rPr lang="fr-FR" smtClean="0"/>
              <a:t>‹#›</a:t>
            </a:fld>
            <a:endParaRPr lang="fr-FR"/>
          </a:p>
        </p:txBody>
      </p:sp>
    </p:spTree>
    <p:extLst>
      <p:ext uri="{BB962C8B-B14F-4D97-AF65-F5344CB8AC3E}">
        <p14:creationId xmlns:p14="http://schemas.microsoft.com/office/powerpoint/2010/main" val="3640526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6E1F8B-6E6F-9471-77DD-65A0FFD1F17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6A71A03-72D0-EA97-FF4A-121DF49EB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3631B5C-645B-890A-F890-BBF10404CA97}"/>
              </a:ext>
            </a:extLst>
          </p:cNvPr>
          <p:cNvSpPr>
            <a:spLocks noGrp="1"/>
          </p:cNvSpPr>
          <p:nvPr>
            <p:ph type="dt" sz="half" idx="10"/>
          </p:nvPr>
        </p:nvSpPr>
        <p:spPr/>
        <p:txBody>
          <a:bodyPr/>
          <a:lstStyle/>
          <a:p>
            <a:fld id="{68792BBE-8CD2-4D5F-B9C3-E87C65F5BFA5}" type="datetime1">
              <a:rPr lang="fr-FR" smtClean="0"/>
              <a:t>17/06/2026</a:t>
            </a:fld>
            <a:endParaRPr lang="fr-FR"/>
          </a:p>
        </p:txBody>
      </p:sp>
      <p:sp>
        <p:nvSpPr>
          <p:cNvPr id="5" name="Espace réservé du pied de page 4">
            <a:extLst>
              <a:ext uri="{FF2B5EF4-FFF2-40B4-BE49-F238E27FC236}">
                <a16:creationId xmlns:a16="http://schemas.microsoft.com/office/drawing/2014/main" id="{D054B76C-0B96-852F-CEC0-E65850D91D4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AB22201-871B-A848-329D-1750A975BBE8}"/>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2568913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71146E-5E86-7DEE-6D65-2A28A8AAE7D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60AA00C-C642-9875-328A-5CA9B32E252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0355AD-675F-2A79-5188-2BCFEBFD58F7}"/>
              </a:ext>
            </a:extLst>
          </p:cNvPr>
          <p:cNvSpPr>
            <a:spLocks noGrp="1"/>
          </p:cNvSpPr>
          <p:nvPr>
            <p:ph type="dt" sz="half" idx="10"/>
          </p:nvPr>
        </p:nvSpPr>
        <p:spPr/>
        <p:txBody>
          <a:bodyPr/>
          <a:lstStyle/>
          <a:p>
            <a:fld id="{E2DC191A-0AFA-4748-A17D-759B6F9426B9}" type="datetime1">
              <a:rPr lang="fr-FR" smtClean="0"/>
              <a:t>17/06/2026</a:t>
            </a:fld>
            <a:endParaRPr lang="fr-FR"/>
          </a:p>
        </p:txBody>
      </p:sp>
      <p:sp>
        <p:nvSpPr>
          <p:cNvPr id="5" name="Espace réservé du pied de page 4">
            <a:extLst>
              <a:ext uri="{FF2B5EF4-FFF2-40B4-BE49-F238E27FC236}">
                <a16:creationId xmlns:a16="http://schemas.microsoft.com/office/drawing/2014/main" id="{62C6AC6B-0F74-60C4-EB9C-1A189018379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6AA749D-9EA9-A58A-AC49-B6265934CCF6}"/>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3960019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742154-B9D7-C04B-95C9-8ECAC78D661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FF25A79-1F38-CD16-28D8-8044C7A75B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FEE447F-DD8F-C7F3-5458-BAE9E63B171E}"/>
              </a:ext>
            </a:extLst>
          </p:cNvPr>
          <p:cNvSpPr>
            <a:spLocks noGrp="1"/>
          </p:cNvSpPr>
          <p:nvPr>
            <p:ph type="dt" sz="half" idx="10"/>
          </p:nvPr>
        </p:nvSpPr>
        <p:spPr/>
        <p:txBody>
          <a:bodyPr/>
          <a:lstStyle/>
          <a:p>
            <a:fld id="{C39DE3E4-3F5B-41E0-B65C-8D5A5500660D}" type="datetime1">
              <a:rPr lang="fr-FR" smtClean="0"/>
              <a:t>17/06/2026</a:t>
            </a:fld>
            <a:endParaRPr lang="fr-FR"/>
          </a:p>
        </p:txBody>
      </p:sp>
      <p:sp>
        <p:nvSpPr>
          <p:cNvPr id="5" name="Espace réservé du pied de page 4">
            <a:extLst>
              <a:ext uri="{FF2B5EF4-FFF2-40B4-BE49-F238E27FC236}">
                <a16:creationId xmlns:a16="http://schemas.microsoft.com/office/drawing/2014/main" id="{ECA36BE8-1421-BF30-AADF-833B99CB880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8832AE-D16D-50B5-A14F-FF589EF6499E}"/>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1281443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9909CE-5A8F-3F5D-0E9F-7FCDD534AB2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9EB6C15-9B99-E604-443F-6CB75DC11C5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7271AD0-9442-E8FE-DBB6-E6A6621A2F5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2D54C4D-FDD6-995F-BAC6-C6D79871CB13}"/>
              </a:ext>
            </a:extLst>
          </p:cNvPr>
          <p:cNvSpPr>
            <a:spLocks noGrp="1"/>
          </p:cNvSpPr>
          <p:nvPr>
            <p:ph type="dt" sz="half" idx="10"/>
          </p:nvPr>
        </p:nvSpPr>
        <p:spPr/>
        <p:txBody>
          <a:bodyPr/>
          <a:lstStyle/>
          <a:p>
            <a:fld id="{F3C7C6FC-C27A-43DF-8FCA-84485A42867B}" type="datetime1">
              <a:rPr lang="fr-FR" smtClean="0"/>
              <a:t>17/06/2026</a:t>
            </a:fld>
            <a:endParaRPr lang="fr-FR"/>
          </a:p>
        </p:txBody>
      </p:sp>
      <p:sp>
        <p:nvSpPr>
          <p:cNvPr id="6" name="Espace réservé du pied de page 5">
            <a:extLst>
              <a:ext uri="{FF2B5EF4-FFF2-40B4-BE49-F238E27FC236}">
                <a16:creationId xmlns:a16="http://schemas.microsoft.com/office/drawing/2014/main" id="{03093558-CD8B-CCEA-BC8D-56933CEDB4F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39E4A8A-E50C-4BB4-4AB4-72D699C8DC84}"/>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187927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B90E25-52C0-C0D5-360F-F4D10345C84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03860DC-9C3B-773C-B3EB-C4851763C7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9380607-6490-E9A6-28F7-9247B37695F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ED26F45-12CF-E4E6-6F9B-DC939FE586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A4C608F-9CC5-92E7-F197-C992FE39E4C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2EECE21-C192-0732-FA1C-E109E276D00E}"/>
              </a:ext>
            </a:extLst>
          </p:cNvPr>
          <p:cNvSpPr>
            <a:spLocks noGrp="1"/>
          </p:cNvSpPr>
          <p:nvPr>
            <p:ph type="dt" sz="half" idx="10"/>
          </p:nvPr>
        </p:nvSpPr>
        <p:spPr/>
        <p:txBody>
          <a:bodyPr/>
          <a:lstStyle/>
          <a:p>
            <a:fld id="{2F4A12E1-FD07-4F69-BD0F-94284078C0F1}" type="datetime1">
              <a:rPr lang="fr-FR" smtClean="0"/>
              <a:t>17/06/2026</a:t>
            </a:fld>
            <a:endParaRPr lang="fr-FR"/>
          </a:p>
        </p:txBody>
      </p:sp>
      <p:sp>
        <p:nvSpPr>
          <p:cNvPr id="8" name="Espace réservé du pied de page 7">
            <a:extLst>
              <a:ext uri="{FF2B5EF4-FFF2-40B4-BE49-F238E27FC236}">
                <a16:creationId xmlns:a16="http://schemas.microsoft.com/office/drawing/2014/main" id="{9E1598A9-018B-60B9-114D-5973048D572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BA0BE18-6759-2547-E1E2-D4B876188240}"/>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1127903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CE4728-CE44-4A9C-09B7-E6C4388E769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36108B0-E139-94DF-B3BE-14B53B375E78}"/>
              </a:ext>
            </a:extLst>
          </p:cNvPr>
          <p:cNvSpPr>
            <a:spLocks noGrp="1"/>
          </p:cNvSpPr>
          <p:nvPr>
            <p:ph type="dt" sz="half" idx="10"/>
          </p:nvPr>
        </p:nvSpPr>
        <p:spPr/>
        <p:txBody>
          <a:bodyPr/>
          <a:lstStyle/>
          <a:p>
            <a:fld id="{AD7CAE0E-9EAD-4293-86B4-CDC3427F3799}" type="datetime1">
              <a:rPr lang="fr-FR" smtClean="0"/>
              <a:t>17/06/2026</a:t>
            </a:fld>
            <a:endParaRPr lang="fr-FR"/>
          </a:p>
        </p:txBody>
      </p:sp>
      <p:sp>
        <p:nvSpPr>
          <p:cNvPr id="4" name="Espace réservé du pied de page 3">
            <a:extLst>
              <a:ext uri="{FF2B5EF4-FFF2-40B4-BE49-F238E27FC236}">
                <a16:creationId xmlns:a16="http://schemas.microsoft.com/office/drawing/2014/main" id="{1D9732BF-DDF8-4C6C-2E23-00477A98C71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AF25414-A48A-6E18-E77F-CE47F250173A}"/>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264903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E29E603-A9FF-3946-524F-EE64CA04DC83}"/>
              </a:ext>
            </a:extLst>
          </p:cNvPr>
          <p:cNvSpPr>
            <a:spLocks noGrp="1"/>
          </p:cNvSpPr>
          <p:nvPr>
            <p:ph type="dt" sz="half" idx="10"/>
          </p:nvPr>
        </p:nvSpPr>
        <p:spPr/>
        <p:txBody>
          <a:bodyPr/>
          <a:lstStyle/>
          <a:p>
            <a:fld id="{59256E1A-D5A3-4067-B5C3-32F6FBE01BC4}" type="datetime1">
              <a:rPr lang="fr-FR" smtClean="0"/>
              <a:t>17/06/2026</a:t>
            </a:fld>
            <a:endParaRPr lang="fr-FR"/>
          </a:p>
        </p:txBody>
      </p:sp>
      <p:sp>
        <p:nvSpPr>
          <p:cNvPr id="3" name="Espace réservé du pied de page 2">
            <a:extLst>
              <a:ext uri="{FF2B5EF4-FFF2-40B4-BE49-F238E27FC236}">
                <a16:creationId xmlns:a16="http://schemas.microsoft.com/office/drawing/2014/main" id="{6ECAC3A8-BB47-EFB7-B644-F75A290DDAB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926D7CD-9A53-2AD2-3095-2B66A25B4071}"/>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2568223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02188D-BEA0-8914-E68A-E84E0381646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08E7193-3091-B517-F9C4-579E61EE55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F0B173-07F8-23F5-305E-7E70A546A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A671E5-8C2F-7E5A-C38C-56AD87A67C8D}"/>
              </a:ext>
            </a:extLst>
          </p:cNvPr>
          <p:cNvSpPr>
            <a:spLocks noGrp="1"/>
          </p:cNvSpPr>
          <p:nvPr>
            <p:ph type="dt" sz="half" idx="10"/>
          </p:nvPr>
        </p:nvSpPr>
        <p:spPr/>
        <p:txBody>
          <a:bodyPr/>
          <a:lstStyle/>
          <a:p>
            <a:fld id="{AE30FE77-D051-422F-A884-8FA0AE0B1134}" type="datetime1">
              <a:rPr lang="fr-FR" smtClean="0"/>
              <a:t>17/06/2026</a:t>
            </a:fld>
            <a:endParaRPr lang="fr-FR"/>
          </a:p>
        </p:txBody>
      </p:sp>
      <p:sp>
        <p:nvSpPr>
          <p:cNvPr id="6" name="Espace réservé du pied de page 5">
            <a:extLst>
              <a:ext uri="{FF2B5EF4-FFF2-40B4-BE49-F238E27FC236}">
                <a16:creationId xmlns:a16="http://schemas.microsoft.com/office/drawing/2014/main" id="{2DA4FC9E-E020-9D5F-C0DC-8B0DD879A8A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72BA170-5551-BE29-58DE-76F8D792F98A}"/>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2014117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E22DD3-D345-D8F2-70CF-CD32DCFE638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3E72001-D0A1-F097-1825-3196AB8879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DEB5B9A-86C8-E6B6-F03C-EE8CC016C6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F3F36F5-6120-55EC-F527-3FA95A669DAA}"/>
              </a:ext>
            </a:extLst>
          </p:cNvPr>
          <p:cNvSpPr>
            <a:spLocks noGrp="1"/>
          </p:cNvSpPr>
          <p:nvPr>
            <p:ph type="dt" sz="half" idx="10"/>
          </p:nvPr>
        </p:nvSpPr>
        <p:spPr/>
        <p:txBody>
          <a:bodyPr/>
          <a:lstStyle/>
          <a:p>
            <a:fld id="{7C022066-D204-4F74-8D08-306B03196036}" type="datetime1">
              <a:rPr lang="fr-FR" smtClean="0"/>
              <a:t>17/06/2026</a:t>
            </a:fld>
            <a:endParaRPr lang="fr-FR"/>
          </a:p>
        </p:txBody>
      </p:sp>
      <p:sp>
        <p:nvSpPr>
          <p:cNvPr id="6" name="Espace réservé du pied de page 5">
            <a:extLst>
              <a:ext uri="{FF2B5EF4-FFF2-40B4-BE49-F238E27FC236}">
                <a16:creationId xmlns:a16="http://schemas.microsoft.com/office/drawing/2014/main" id="{78EA316D-1D21-DA32-C65E-B821D1E90D9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EC64AD-A0DA-0E98-8136-B1380E083111}"/>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3017719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AFCF91-523B-F92F-1C84-5594489A289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93AC87D-4D8A-BB06-5722-3DB7CF36D61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E0938A-531B-D2F1-2948-1807F78AF32F}"/>
              </a:ext>
            </a:extLst>
          </p:cNvPr>
          <p:cNvSpPr>
            <a:spLocks noGrp="1"/>
          </p:cNvSpPr>
          <p:nvPr>
            <p:ph type="dt" sz="half" idx="10"/>
          </p:nvPr>
        </p:nvSpPr>
        <p:spPr/>
        <p:txBody>
          <a:bodyPr/>
          <a:lstStyle/>
          <a:p>
            <a:fld id="{C63960EF-6162-4CC1-B493-F088202D1750}" type="datetime1">
              <a:rPr lang="fr-FR" smtClean="0"/>
              <a:t>17/06/2026</a:t>
            </a:fld>
            <a:endParaRPr lang="fr-FR"/>
          </a:p>
        </p:txBody>
      </p:sp>
      <p:sp>
        <p:nvSpPr>
          <p:cNvPr id="5" name="Espace réservé du pied de page 4">
            <a:extLst>
              <a:ext uri="{FF2B5EF4-FFF2-40B4-BE49-F238E27FC236}">
                <a16:creationId xmlns:a16="http://schemas.microsoft.com/office/drawing/2014/main" id="{4FB937BA-9006-2185-FBD0-C351623158C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C89C6B9-8C01-9BC5-DFFD-BF37F6250E19}"/>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1293024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BB145C6-151E-0E3B-B79E-BFDBC1D8609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C5D5233-C415-CFEF-68A0-391ED4B09E8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6EF1297-BD9E-113F-C873-742B7B436B41}"/>
              </a:ext>
            </a:extLst>
          </p:cNvPr>
          <p:cNvSpPr>
            <a:spLocks noGrp="1"/>
          </p:cNvSpPr>
          <p:nvPr>
            <p:ph type="dt" sz="half" idx="10"/>
          </p:nvPr>
        </p:nvSpPr>
        <p:spPr/>
        <p:txBody>
          <a:bodyPr/>
          <a:lstStyle/>
          <a:p>
            <a:fld id="{C98E6EFF-4E6F-4E05-831E-2C6740B12277}" type="datetime1">
              <a:rPr lang="fr-FR" smtClean="0"/>
              <a:t>17/06/2026</a:t>
            </a:fld>
            <a:endParaRPr lang="fr-FR"/>
          </a:p>
        </p:txBody>
      </p:sp>
      <p:sp>
        <p:nvSpPr>
          <p:cNvPr id="5" name="Espace réservé du pied de page 4">
            <a:extLst>
              <a:ext uri="{FF2B5EF4-FFF2-40B4-BE49-F238E27FC236}">
                <a16:creationId xmlns:a16="http://schemas.microsoft.com/office/drawing/2014/main" id="{FF7F156F-B62E-7074-1FE9-6845A745F3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74A1764-07DC-15F4-1BA9-4A6640339C65}"/>
              </a:ext>
            </a:extLst>
          </p:cNvPr>
          <p:cNvSpPr>
            <a:spLocks noGrp="1"/>
          </p:cNvSpPr>
          <p:nvPr>
            <p:ph type="sldNum" sz="quarter" idx="12"/>
          </p:nvPr>
        </p:nvSpPr>
        <p:spPr/>
        <p:txBody>
          <a:bodyPr/>
          <a:lstStyle/>
          <a:p>
            <a:fld id="{E3EC9F48-C5B6-4727-AEEA-2F88FA0098DB}" type="slidenum">
              <a:rPr lang="fr-FR" smtClean="0"/>
              <a:t>‹#›</a:t>
            </a:fld>
            <a:endParaRPr lang="fr-FR"/>
          </a:p>
        </p:txBody>
      </p:sp>
    </p:spTree>
    <p:extLst>
      <p:ext uri="{BB962C8B-B14F-4D97-AF65-F5344CB8AC3E}">
        <p14:creationId xmlns:p14="http://schemas.microsoft.com/office/powerpoint/2010/main" val="4090076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9D9D9">
            <a:alpha val="39000"/>
          </a:srgbClr>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EA1AAB4-F789-EC81-285F-DD5320FB41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970A029-9FD1-6060-D531-90B5D8A488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20B43EF-54A7-A627-CA28-02D9C5E733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9A74D8-0D09-47FF-A0A2-BEA285C1A5DF}" type="datetime1">
              <a:rPr lang="fr-FR" smtClean="0"/>
              <a:t>17/06/2026</a:t>
            </a:fld>
            <a:endParaRPr lang="fr-FR"/>
          </a:p>
        </p:txBody>
      </p:sp>
      <p:sp>
        <p:nvSpPr>
          <p:cNvPr id="5" name="Espace réservé du pied de page 4">
            <a:extLst>
              <a:ext uri="{FF2B5EF4-FFF2-40B4-BE49-F238E27FC236}">
                <a16:creationId xmlns:a16="http://schemas.microsoft.com/office/drawing/2014/main" id="{54268637-B012-4F97-1551-FEFEEA49EB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39BDC8D-AEAA-2F25-BDCB-9D5D88145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EC9F48-C5B6-4727-AEEA-2F88FA0098DB}" type="slidenum">
              <a:rPr lang="fr-FR" smtClean="0"/>
              <a:t>‹#›</a:t>
            </a:fld>
            <a:endParaRPr lang="fr-FR"/>
          </a:p>
        </p:txBody>
      </p:sp>
    </p:spTree>
    <p:extLst>
      <p:ext uri="{BB962C8B-B14F-4D97-AF65-F5344CB8AC3E}">
        <p14:creationId xmlns:p14="http://schemas.microsoft.com/office/powerpoint/2010/main" val="2173477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svg"/><Relationship Id="rId1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9.svg"/><Relationship Id="rId5" Type="http://schemas.openxmlformats.org/officeDocument/2006/relationships/image" Target="../media/image16.pn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11.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image" Target="../media/image41.png"/><Relationship Id="rId12"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44.png"/><Relationship Id="rId5" Type="http://schemas.openxmlformats.org/officeDocument/2006/relationships/image" Target="../media/image10.svg"/><Relationship Id="rId10" Type="http://schemas.openxmlformats.org/officeDocument/2006/relationships/image" Target="../media/image5.svg"/><Relationship Id="rId4" Type="http://schemas.openxmlformats.org/officeDocument/2006/relationships/image" Target="../media/image40.png"/><Relationship Id="rId9" Type="http://schemas.openxmlformats.org/officeDocument/2006/relationships/image" Target="../media/image43.svg"/><Relationship Id="rId14" Type="http://schemas.openxmlformats.org/officeDocument/2006/relationships/image" Target="../media/image47.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gif"/><Relationship Id="rId4" Type="http://schemas.openxmlformats.org/officeDocument/2006/relationships/image" Target="../media/image49.gif"/></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52.sv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7ACE0AA-EFE0-440D-8EA3-0DDE04854F9D}"/>
              </a:ext>
            </a:extLst>
          </p:cNvPr>
          <p:cNvSpPr/>
          <p:nvPr/>
        </p:nvSpPr>
        <p:spPr>
          <a:xfrm>
            <a:off x="0" y="0"/>
            <a:ext cx="12192000" cy="11223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11680226-DE28-4D3E-86AC-C0FB5347D167}"/>
              </a:ext>
            </a:extLst>
          </p:cNvPr>
          <p:cNvSpPr>
            <a:spLocks noGrp="1"/>
          </p:cNvSpPr>
          <p:nvPr>
            <p:ph type="ctrTitle"/>
          </p:nvPr>
        </p:nvSpPr>
        <p:spPr/>
        <p:txBody>
          <a:bodyPr>
            <a:noAutofit/>
          </a:bodyPr>
          <a:lstStyle/>
          <a:p>
            <a:r>
              <a:rPr lang="fr-FR" sz="4000" noProof="0" dirty="0">
                <a:solidFill>
                  <a:schemeClr val="bg1"/>
                </a:solidFill>
              </a:rPr>
              <a:t>Lien entre la cinématique des étoiles jeunes et la cinématique du gaz moléculaire dans le complexe géant Cygnus-X</a:t>
            </a:r>
          </a:p>
        </p:txBody>
      </p:sp>
      <p:sp>
        <p:nvSpPr>
          <p:cNvPr id="3" name="Sous-titre 2">
            <a:extLst>
              <a:ext uri="{FF2B5EF4-FFF2-40B4-BE49-F238E27FC236}">
                <a16:creationId xmlns:a16="http://schemas.microsoft.com/office/drawing/2014/main" id="{8C27CBED-B9F3-16BC-378C-73129F86F20E}"/>
              </a:ext>
            </a:extLst>
          </p:cNvPr>
          <p:cNvSpPr>
            <a:spLocks noGrp="1"/>
          </p:cNvSpPr>
          <p:nvPr>
            <p:ph type="subTitle" idx="1"/>
          </p:nvPr>
        </p:nvSpPr>
        <p:spPr>
          <a:xfrm>
            <a:off x="1524000" y="3775292"/>
            <a:ext cx="9144000" cy="459823"/>
          </a:xfrm>
        </p:spPr>
        <p:txBody>
          <a:bodyPr>
            <a:normAutofit/>
          </a:bodyPr>
          <a:lstStyle/>
          <a:p>
            <a:r>
              <a:rPr lang="fr-FR" i="1" noProof="0" dirty="0">
                <a:solidFill>
                  <a:schemeClr val="bg1"/>
                </a:solidFill>
              </a:rPr>
              <a:t>Réunion d’équipe FEMIS</a:t>
            </a:r>
          </a:p>
        </p:txBody>
      </p:sp>
      <p:cxnSp>
        <p:nvCxnSpPr>
          <p:cNvPr id="5" name="Connecteur droit 4">
            <a:extLst>
              <a:ext uri="{FF2B5EF4-FFF2-40B4-BE49-F238E27FC236}">
                <a16:creationId xmlns:a16="http://schemas.microsoft.com/office/drawing/2014/main" id="{8A6321C7-04AA-76A7-85B9-A97106545E61}"/>
              </a:ext>
            </a:extLst>
          </p:cNvPr>
          <p:cNvCxnSpPr/>
          <p:nvPr/>
        </p:nvCxnSpPr>
        <p:spPr>
          <a:xfrm>
            <a:off x="2252312" y="3609473"/>
            <a:ext cx="7892715" cy="0"/>
          </a:xfrm>
          <a:prstGeom prst="line">
            <a:avLst/>
          </a:prstGeom>
          <a:ln>
            <a:solidFill>
              <a:srgbClr val="2596BE"/>
            </a:solidFill>
          </a:ln>
        </p:spPr>
        <p:style>
          <a:lnRef idx="1">
            <a:schemeClr val="accent1"/>
          </a:lnRef>
          <a:fillRef idx="0">
            <a:schemeClr val="accent1"/>
          </a:fillRef>
          <a:effectRef idx="0">
            <a:schemeClr val="accent1"/>
          </a:effectRef>
          <a:fontRef idx="minor">
            <a:schemeClr val="tx1"/>
          </a:fontRef>
        </p:style>
      </p:cxnSp>
      <p:sp>
        <p:nvSpPr>
          <p:cNvPr id="6" name="Sous-titre 2">
            <a:extLst>
              <a:ext uri="{FF2B5EF4-FFF2-40B4-BE49-F238E27FC236}">
                <a16:creationId xmlns:a16="http://schemas.microsoft.com/office/drawing/2014/main" id="{16D7DCEA-BDD2-58AB-2BF3-EB4D11917D3F}"/>
              </a:ext>
            </a:extLst>
          </p:cNvPr>
          <p:cNvSpPr txBox="1">
            <a:spLocks/>
          </p:cNvSpPr>
          <p:nvPr/>
        </p:nvSpPr>
        <p:spPr>
          <a:xfrm>
            <a:off x="1524000" y="4171021"/>
            <a:ext cx="9144000" cy="4598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1600" noProof="0" dirty="0">
                <a:solidFill>
                  <a:schemeClr val="bg1"/>
                </a:solidFill>
              </a:rPr>
              <a:t>Sulwen de la Croix</a:t>
            </a:r>
          </a:p>
        </p:txBody>
      </p:sp>
      <p:sp>
        <p:nvSpPr>
          <p:cNvPr id="7" name="Espace réservé de la date 6">
            <a:extLst>
              <a:ext uri="{FF2B5EF4-FFF2-40B4-BE49-F238E27FC236}">
                <a16:creationId xmlns:a16="http://schemas.microsoft.com/office/drawing/2014/main" id="{E6F8A662-4A90-C78C-0666-A9DF13D35C27}"/>
              </a:ext>
            </a:extLst>
          </p:cNvPr>
          <p:cNvSpPr>
            <a:spLocks noGrp="1"/>
          </p:cNvSpPr>
          <p:nvPr>
            <p:ph type="dt" sz="half" idx="10"/>
          </p:nvPr>
        </p:nvSpPr>
        <p:spPr/>
        <p:txBody>
          <a:bodyPr/>
          <a:lstStyle/>
          <a:p>
            <a:fld id="{D0A68FD8-BDF3-4509-948B-698FF07A2DF9}" type="datetime1">
              <a:rPr lang="fr-FR" noProof="0" smtClean="0"/>
              <a:t>17/06/2026</a:t>
            </a:fld>
            <a:endParaRPr lang="fr-FR" noProof="0" dirty="0"/>
          </a:p>
        </p:txBody>
      </p:sp>
      <p:sp>
        <p:nvSpPr>
          <p:cNvPr id="8" name="Espace réservé du numéro de diapositive 7">
            <a:extLst>
              <a:ext uri="{FF2B5EF4-FFF2-40B4-BE49-F238E27FC236}">
                <a16:creationId xmlns:a16="http://schemas.microsoft.com/office/drawing/2014/main" id="{1A690026-9E63-1236-3E86-469994EB1402}"/>
              </a:ext>
            </a:extLst>
          </p:cNvPr>
          <p:cNvSpPr>
            <a:spLocks noGrp="1"/>
          </p:cNvSpPr>
          <p:nvPr>
            <p:ph type="sldNum" sz="quarter" idx="12"/>
          </p:nvPr>
        </p:nvSpPr>
        <p:spPr/>
        <p:txBody>
          <a:bodyPr/>
          <a:lstStyle/>
          <a:p>
            <a:fld id="{E3EC9F48-C5B6-4727-AEEA-2F88FA0098DB}" type="slidenum">
              <a:rPr lang="fr-FR" noProof="0" smtClean="0"/>
              <a:t>1</a:t>
            </a:fld>
            <a:endParaRPr lang="fr-FR" noProof="0" dirty="0"/>
          </a:p>
        </p:txBody>
      </p:sp>
      <p:pic>
        <p:nvPicPr>
          <p:cNvPr id="9" name="Picture 2">
            <a:extLst>
              <a:ext uri="{FF2B5EF4-FFF2-40B4-BE49-F238E27FC236}">
                <a16:creationId xmlns:a16="http://schemas.microsoft.com/office/drawing/2014/main" id="{B7DFE4F0-3513-FF9A-99D3-CF6745570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2519082" cy="8816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Laboratoire d'Astrophysique de Bordeaux - LAB">
            <a:extLst>
              <a:ext uri="{FF2B5EF4-FFF2-40B4-BE49-F238E27FC236}">
                <a16:creationId xmlns:a16="http://schemas.microsoft.com/office/drawing/2014/main" id="{2EC9BD59-8D36-F297-9DAC-ECAC59B7D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4235" y="1"/>
            <a:ext cx="1518678" cy="1029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503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95E45A3F-81A2-5587-5AAA-86A49346DDC3}"/>
              </a:ext>
            </a:extLst>
          </p:cNvPr>
          <p:cNvSpPr/>
          <p:nvPr/>
        </p:nvSpPr>
        <p:spPr>
          <a:xfrm>
            <a:off x="232833" y="1840444"/>
            <a:ext cx="11120967" cy="3722159"/>
          </a:xfrm>
          <a:prstGeom prst="roundRect">
            <a:avLst/>
          </a:prstGeom>
          <a:solidFill>
            <a:schemeClr val="bg1"/>
          </a:solidFill>
          <a:ln>
            <a:solidFill>
              <a:srgbClr val="0F172A"/>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Rectangle 5">
            <a:extLst>
              <a:ext uri="{FF2B5EF4-FFF2-40B4-BE49-F238E27FC236}">
                <a16:creationId xmlns:a16="http://schemas.microsoft.com/office/drawing/2014/main" id="{B70F6B12-0FB5-0FBF-1D90-F40CBD43A2F1}"/>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583314C3-FCE5-0AE5-88FE-545ED5E72B38}"/>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Table des matières</a:t>
            </a:r>
          </a:p>
        </p:txBody>
      </p:sp>
      <p:sp>
        <p:nvSpPr>
          <p:cNvPr id="3" name="Espace réservé du contenu 2">
            <a:extLst>
              <a:ext uri="{FF2B5EF4-FFF2-40B4-BE49-F238E27FC236}">
                <a16:creationId xmlns:a16="http://schemas.microsoft.com/office/drawing/2014/main" id="{9CBF28A1-56EA-6E3F-BA28-52DBEF00DA53}"/>
              </a:ext>
            </a:extLst>
          </p:cNvPr>
          <p:cNvSpPr>
            <a:spLocks noGrp="1"/>
          </p:cNvSpPr>
          <p:nvPr>
            <p:ph idx="1"/>
          </p:nvPr>
        </p:nvSpPr>
        <p:spPr>
          <a:xfrm>
            <a:off x="431800" y="2035442"/>
            <a:ext cx="10515600" cy="3510227"/>
          </a:xfrm>
          <a:ln>
            <a:noFill/>
          </a:ln>
        </p:spPr>
        <p:txBody>
          <a:bodyPr vert="horz" lIns="91440" tIns="45720" rIns="91440" bIns="45720" rtlCol="0" anchor="t">
            <a:normAutofit/>
          </a:bodyPr>
          <a:lstStyle/>
          <a:p>
            <a:pPr marL="571500" indent="-571500">
              <a:buAutoNum type="romanUcPeriod"/>
            </a:pPr>
            <a:r>
              <a:rPr lang="fr-FR" noProof="0" dirty="0">
                <a:solidFill>
                  <a:schemeClr val="bg2">
                    <a:lumMod val="10000"/>
                  </a:schemeClr>
                </a:solidFill>
              </a:rPr>
              <a:t>Introduction</a:t>
            </a:r>
          </a:p>
          <a:p>
            <a:pPr marL="571500" indent="-571500">
              <a:buAutoNum type="romanUcPeriod"/>
            </a:pPr>
            <a:r>
              <a:rPr lang="fr-FR" noProof="0" dirty="0">
                <a:solidFill>
                  <a:schemeClr val="bg2">
                    <a:lumMod val="10000"/>
                  </a:schemeClr>
                </a:solidFill>
              </a:rPr>
              <a:t>Cinématique des nuages moléculaires et des groupes d’étoiles OB</a:t>
            </a:r>
          </a:p>
          <a:p>
            <a:pPr marL="571500" indent="-571500">
              <a:buAutoNum type="romanUcPeriod"/>
            </a:pPr>
            <a:r>
              <a:rPr lang="fr-FR" noProof="0" dirty="0">
                <a:solidFill>
                  <a:schemeClr val="bg2">
                    <a:lumMod val="10000"/>
                  </a:schemeClr>
                </a:solidFill>
              </a:rPr>
              <a:t>Visualisation des vitesses et des positions</a:t>
            </a:r>
          </a:p>
          <a:p>
            <a:pPr marL="571500" indent="-571500">
              <a:buAutoNum type="romanUcPeriod"/>
            </a:pPr>
            <a:r>
              <a:rPr lang="fr-FR" noProof="0" dirty="0">
                <a:solidFill>
                  <a:schemeClr val="bg2">
                    <a:lumMod val="10000"/>
                  </a:schemeClr>
                </a:solidFill>
              </a:rPr>
              <a:t>Traceback des objets du Cygne</a:t>
            </a:r>
            <a:endParaRPr lang="fr-FR" noProof="0" dirty="0">
              <a:solidFill>
                <a:schemeClr val="bg2">
                  <a:lumMod val="10000"/>
                </a:schemeClr>
              </a:solidFill>
              <a:ea typeface="Calibri"/>
              <a:cs typeface="Calibri"/>
            </a:endParaRPr>
          </a:p>
          <a:p>
            <a:pPr marL="571500" indent="-571500">
              <a:buAutoNum type="romanUcPeriod"/>
            </a:pPr>
            <a:r>
              <a:rPr lang="fr-FR" noProof="0" dirty="0">
                <a:solidFill>
                  <a:schemeClr val="bg2">
                    <a:lumMod val="10000"/>
                  </a:schemeClr>
                </a:solidFill>
              </a:rPr>
              <a:t>Scénario de formation de groupes d’étoiles massives au sein de la région du Cygne</a:t>
            </a:r>
          </a:p>
          <a:p>
            <a:pPr marL="571500" indent="-571500">
              <a:buAutoNum type="romanUcPeriod"/>
            </a:pPr>
            <a:r>
              <a:rPr lang="fr-FR" noProof="0" dirty="0">
                <a:solidFill>
                  <a:schemeClr val="bg2">
                    <a:lumMod val="10000"/>
                  </a:schemeClr>
                </a:solidFill>
              </a:rPr>
              <a:t>Conclusion</a:t>
            </a:r>
          </a:p>
        </p:txBody>
      </p:sp>
      <p:sp>
        <p:nvSpPr>
          <p:cNvPr id="4" name="Espace réservé de la date 3">
            <a:extLst>
              <a:ext uri="{FF2B5EF4-FFF2-40B4-BE49-F238E27FC236}">
                <a16:creationId xmlns:a16="http://schemas.microsoft.com/office/drawing/2014/main" id="{C5BC2B0A-FA2D-E719-22D7-271FD4E740DE}"/>
              </a:ext>
            </a:extLst>
          </p:cNvPr>
          <p:cNvSpPr>
            <a:spLocks noGrp="1"/>
          </p:cNvSpPr>
          <p:nvPr>
            <p:ph type="dt" sz="half" idx="10"/>
          </p:nvPr>
        </p:nvSpPr>
        <p:spPr/>
        <p:txBody>
          <a:bodyPr/>
          <a:lstStyle/>
          <a:p>
            <a:fld id="{E2DC191A-0AFA-4748-A17D-759B6F9426B9}" type="datetime1">
              <a:rPr lang="fr-FR" noProof="0" smtClean="0"/>
              <a:t>17/06/2026</a:t>
            </a:fld>
            <a:endParaRPr lang="fr-FR" noProof="0" dirty="0"/>
          </a:p>
        </p:txBody>
      </p:sp>
      <p:sp>
        <p:nvSpPr>
          <p:cNvPr id="5" name="Espace réservé du numéro de diapositive 4">
            <a:extLst>
              <a:ext uri="{FF2B5EF4-FFF2-40B4-BE49-F238E27FC236}">
                <a16:creationId xmlns:a16="http://schemas.microsoft.com/office/drawing/2014/main" id="{A3E5FCD6-1606-6E78-091A-0EE1BCEA3992}"/>
              </a:ext>
            </a:extLst>
          </p:cNvPr>
          <p:cNvSpPr>
            <a:spLocks noGrp="1"/>
          </p:cNvSpPr>
          <p:nvPr>
            <p:ph type="sldNum" sz="quarter" idx="12"/>
          </p:nvPr>
        </p:nvSpPr>
        <p:spPr/>
        <p:txBody>
          <a:bodyPr/>
          <a:lstStyle/>
          <a:p>
            <a:fld id="{E3EC9F48-C5B6-4727-AEEA-2F88FA0098DB}" type="slidenum">
              <a:rPr lang="fr-FR" noProof="0" smtClean="0"/>
              <a:t>2</a:t>
            </a:fld>
            <a:endParaRPr lang="fr-FR" noProof="0" dirty="0"/>
          </a:p>
        </p:txBody>
      </p:sp>
      <p:pic>
        <p:nvPicPr>
          <p:cNvPr id="11" name="Picture 2">
            <a:extLst>
              <a:ext uri="{FF2B5EF4-FFF2-40B4-BE49-F238E27FC236}">
                <a16:creationId xmlns:a16="http://schemas.microsoft.com/office/drawing/2014/main" id="{980824ED-43D3-DA12-99DF-D16F43275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202AE497-EFE8-A216-6FBE-6C0B44561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droit 4">
            <a:extLst>
              <a:ext uri="{FF2B5EF4-FFF2-40B4-BE49-F238E27FC236}">
                <a16:creationId xmlns:a16="http://schemas.microsoft.com/office/drawing/2014/main" id="{7C4DA5A2-A654-5A98-E50B-D15EBC898EAD}"/>
              </a:ext>
            </a:extLst>
          </p:cNvPr>
          <p:cNvCxnSpPr/>
          <p:nvPr/>
        </p:nvCxnSpPr>
        <p:spPr>
          <a:xfrm>
            <a:off x="1752127" y="5915011"/>
            <a:ext cx="7892715" cy="0"/>
          </a:xfrm>
          <a:prstGeom prst="line">
            <a:avLst/>
          </a:prstGeom>
          <a:ln>
            <a:solidFill>
              <a:srgbClr val="2596B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30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87A6C-41EC-90F1-818E-1730823A881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ACEF3A4-EB2E-FC1C-7ACD-6D311439964D}"/>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AF846627-B69E-B93F-76F0-196F4ADCD072}"/>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Introduction</a:t>
            </a:r>
          </a:p>
        </p:txBody>
      </p:sp>
      <p:sp>
        <p:nvSpPr>
          <p:cNvPr id="4" name="Espace réservé de la date 3">
            <a:extLst>
              <a:ext uri="{FF2B5EF4-FFF2-40B4-BE49-F238E27FC236}">
                <a16:creationId xmlns:a16="http://schemas.microsoft.com/office/drawing/2014/main" id="{28FE65F4-FEB2-A9EA-4B6C-63D244EC5F68}"/>
              </a:ext>
            </a:extLst>
          </p:cNvPr>
          <p:cNvSpPr>
            <a:spLocks noGrp="1"/>
          </p:cNvSpPr>
          <p:nvPr>
            <p:ph type="dt" sz="half" idx="10"/>
          </p:nvPr>
        </p:nvSpPr>
        <p:spPr>
          <a:xfrm>
            <a:off x="0" y="6515528"/>
            <a:ext cx="2743200" cy="365125"/>
          </a:xfrm>
        </p:spPr>
        <p:txBody>
          <a:bodyPr/>
          <a:lstStyle/>
          <a:p>
            <a:fld id="{E2DC191A-0AFA-4748-A17D-759B6F9426B9}" type="datetime1">
              <a:rPr lang="fr-FR" noProof="0" smtClean="0"/>
              <a:t>17/06/2026</a:t>
            </a:fld>
            <a:endParaRPr lang="fr-FR" noProof="0" dirty="0"/>
          </a:p>
        </p:txBody>
      </p:sp>
      <p:sp>
        <p:nvSpPr>
          <p:cNvPr id="5" name="Espace réservé du numéro de diapositive 4">
            <a:extLst>
              <a:ext uri="{FF2B5EF4-FFF2-40B4-BE49-F238E27FC236}">
                <a16:creationId xmlns:a16="http://schemas.microsoft.com/office/drawing/2014/main" id="{0F6D24C2-D1D9-23C4-81D0-85A8298CBB65}"/>
              </a:ext>
            </a:extLst>
          </p:cNvPr>
          <p:cNvSpPr>
            <a:spLocks noGrp="1"/>
          </p:cNvSpPr>
          <p:nvPr>
            <p:ph type="sldNum" sz="quarter" idx="12"/>
          </p:nvPr>
        </p:nvSpPr>
        <p:spPr/>
        <p:txBody>
          <a:bodyPr/>
          <a:lstStyle/>
          <a:p>
            <a:fld id="{E3EC9F48-C5B6-4727-AEEA-2F88FA0098DB}" type="slidenum">
              <a:rPr lang="fr-FR" noProof="0" smtClean="0"/>
              <a:t>3</a:t>
            </a:fld>
            <a:endParaRPr lang="fr-FR" noProof="0" dirty="0"/>
          </a:p>
        </p:txBody>
      </p:sp>
      <p:pic>
        <p:nvPicPr>
          <p:cNvPr id="11" name="Picture 2">
            <a:extLst>
              <a:ext uri="{FF2B5EF4-FFF2-40B4-BE49-F238E27FC236}">
                <a16:creationId xmlns:a16="http://schemas.microsoft.com/office/drawing/2014/main" id="{E9021D0B-0312-7B3A-1B55-57AB2E5AE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913F0E95-A9F3-91C2-87CE-E3CEC1F9A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 coins arrondis 8">
            <a:extLst>
              <a:ext uri="{FF2B5EF4-FFF2-40B4-BE49-F238E27FC236}">
                <a16:creationId xmlns:a16="http://schemas.microsoft.com/office/drawing/2014/main" id="{96BEEA47-96C0-583C-71FA-198F31A16A25}"/>
              </a:ext>
            </a:extLst>
          </p:cNvPr>
          <p:cNvSpPr/>
          <p:nvPr/>
        </p:nvSpPr>
        <p:spPr>
          <a:xfrm>
            <a:off x="452500" y="1574626"/>
            <a:ext cx="3623921" cy="1981094"/>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13" name="Rectangle : coins arrondis 12">
            <a:extLst>
              <a:ext uri="{FF2B5EF4-FFF2-40B4-BE49-F238E27FC236}">
                <a16:creationId xmlns:a16="http://schemas.microsoft.com/office/drawing/2014/main" id="{89CA50A2-1611-099B-0E03-C15241F28853}"/>
              </a:ext>
            </a:extLst>
          </p:cNvPr>
          <p:cNvSpPr/>
          <p:nvPr/>
        </p:nvSpPr>
        <p:spPr>
          <a:xfrm>
            <a:off x="4983776" y="1572973"/>
            <a:ext cx="7061054" cy="1987494"/>
          </a:xfrm>
          <a:prstGeom prst="roundRect">
            <a:avLst/>
          </a:prstGeom>
          <a:solidFill>
            <a:schemeClr val="bg1"/>
          </a:solidFill>
          <a:ln>
            <a:solidFill>
              <a:srgbClr val="0F172A"/>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ZoneTexte 13">
            <a:extLst>
              <a:ext uri="{FF2B5EF4-FFF2-40B4-BE49-F238E27FC236}">
                <a16:creationId xmlns:a16="http://schemas.microsoft.com/office/drawing/2014/main" id="{4E0999B4-F9D3-6AD5-DC3E-AF854E789146}"/>
              </a:ext>
            </a:extLst>
          </p:cNvPr>
          <p:cNvSpPr txBox="1"/>
          <p:nvPr/>
        </p:nvSpPr>
        <p:spPr>
          <a:xfrm>
            <a:off x="616878" y="1575539"/>
            <a:ext cx="1288270" cy="351922"/>
          </a:xfrm>
          <a:prstGeom prst="rect">
            <a:avLst/>
          </a:prstGeom>
          <a:noFill/>
        </p:spPr>
        <p:txBody>
          <a:bodyPr wrap="square" rtlCol="0">
            <a:spAutoFit/>
          </a:bodyPr>
          <a:lstStyle/>
          <a:p>
            <a:pPr algn="ctr"/>
            <a:r>
              <a:rPr lang="fr-FR" sz="1600" b="1" noProof="0" dirty="0">
                <a:solidFill>
                  <a:schemeClr val="bg2">
                    <a:lumMod val="25000"/>
                  </a:schemeClr>
                </a:solidFill>
              </a:rPr>
              <a:t>Cygnus-X</a:t>
            </a:r>
          </a:p>
        </p:txBody>
      </p:sp>
      <p:sp>
        <p:nvSpPr>
          <p:cNvPr id="15" name="ZoneTexte 14">
            <a:extLst>
              <a:ext uri="{FF2B5EF4-FFF2-40B4-BE49-F238E27FC236}">
                <a16:creationId xmlns:a16="http://schemas.microsoft.com/office/drawing/2014/main" id="{C5BA995E-63E4-14B3-39FB-0AB9E64C9019}"/>
              </a:ext>
            </a:extLst>
          </p:cNvPr>
          <p:cNvSpPr txBox="1"/>
          <p:nvPr/>
        </p:nvSpPr>
        <p:spPr>
          <a:xfrm>
            <a:off x="805968" y="1884439"/>
            <a:ext cx="3627743" cy="1446550"/>
          </a:xfrm>
          <a:prstGeom prst="rect">
            <a:avLst/>
          </a:prstGeom>
          <a:noFill/>
        </p:spPr>
        <p:txBody>
          <a:bodyPr wrap="square" lIns="91440" tIns="45720" rIns="91440" bIns="45720" rtlCol="0" anchor="t">
            <a:spAutoFit/>
          </a:bodyPr>
          <a:lstStyle/>
          <a:p>
            <a:r>
              <a:rPr lang="fr-FR" sz="1100" b="1" noProof="0" dirty="0">
                <a:solidFill>
                  <a:schemeClr val="bg2">
                    <a:lumMod val="25000"/>
                  </a:schemeClr>
                </a:solidFill>
              </a:rPr>
              <a:t>1.5 </a:t>
            </a:r>
            <a:r>
              <a:rPr lang="fr-FR" sz="1100" b="1" noProof="0" dirty="0" err="1">
                <a:solidFill>
                  <a:schemeClr val="bg2">
                    <a:lumMod val="25000"/>
                  </a:schemeClr>
                </a:solidFill>
              </a:rPr>
              <a:t>kpc</a:t>
            </a:r>
            <a:r>
              <a:rPr lang="fr-FR" sz="1100" b="1" noProof="0" dirty="0">
                <a:solidFill>
                  <a:schemeClr val="bg2">
                    <a:lumMod val="25000"/>
                  </a:schemeClr>
                </a:solidFill>
              </a:rPr>
              <a:t> </a:t>
            </a:r>
            <a:r>
              <a:rPr lang="fr-FR" sz="1100" noProof="0" dirty="0">
                <a:solidFill>
                  <a:schemeClr val="bg2">
                    <a:lumMod val="25000"/>
                  </a:schemeClr>
                </a:solidFill>
              </a:rPr>
              <a:t>du Soleil</a:t>
            </a:r>
          </a:p>
          <a:p>
            <a:endParaRPr lang="fr-FR" sz="1100" noProof="0" dirty="0">
              <a:solidFill>
                <a:schemeClr val="bg2">
                  <a:lumMod val="25000"/>
                </a:schemeClr>
              </a:solidFill>
            </a:endParaRPr>
          </a:p>
          <a:p>
            <a:r>
              <a:rPr lang="fr-FR" sz="1100" noProof="0" dirty="0">
                <a:solidFill>
                  <a:schemeClr val="bg2">
                    <a:lumMod val="25000"/>
                  </a:schemeClr>
                </a:solidFill>
              </a:rPr>
              <a:t>Coordonnées: Entre </a:t>
            </a:r>
            <a:r>
              <a:rPr lang="fr-FR" sz="1100" b="1" noProof="0" dirty="0">
                <a:solidFill>
                  <a:schemeClr val="bg2">
                    <a:lumMod val="25000"/>
                  </a:schemeClr>
                </a:solidFill>
              </a:rPr>
              <a:t>77°</a:t>
            </a:r>
            <a:r>
              <a:rPr lang="fr-FR" sz="1100" noProof="0" dirty="0">
                <a:solidFill>
                  <a:schemeClr val="bg2">
                    <a:lumMod val="25000"/>
                  </a:schemeClr>
                </a:solidFill>
              </a:rPr>
              <a:t> et </a:t>
            </a:r>
            <a:r>
              <a:rPr lang="fr-FR" sz="1100" b="1" noProof="0" dirty="0">
                <a:solidFill>
                  <a:schemeClr val="bg2">
                    <a:lumMod val="25000"/>
                  </a:schemeClr>
                </a:solidFill>
              </a:rPr>
              <a:t>82°</a:t>
            </a:r>
            <a:endParaRPr lang="fr-FR" sz="1100" b="1" noProof="0" dirty="0">
              <a:solidFill>
                <a:schemeClr val="bg2">
                  <a:lumMod val="25000"/>
                </a:schemeClr>
              </a:solidFill>
              <a:ea typeface="Calibri"/>
              <a:cs typeface="Calibri"/>
            </a:endParaRPr>
          </a:p>
          <a:p>
            <a:endParaRPr lang="fr-FR" sz="1100" b="1" noProof="0" dirty="0">
              <a:solidFill>
                <a:schemeClr val="bg2">
                  <a:lumMod val="25000"/>
                </a:schemeClr>
              </a:solidFill>
            </a:endParaRPr>
          </a:p>
          <a:p>
            <a:r>
              <a:rPr lang="fr-FR" sz="1100" b="1" noProof="0" dirty="0">
                <a:solidFill>
                  <a:schemeClr val="bg2">
                    <a:lumMod val="25000"/>
                  </a:schemeClr>
                </a:solidFill>
              </a:rPr>
              <a:t>Nuage moléculaire </a:t>
            </a:r>
            <a:r>
              <a:rPr lang="fr-FR" sz="1100" noProof="0" dirty="0">
                <a:solidFill>
                  <a:schemeClr val="bg2">
                    <a:lumMod val="25000"/>
                  </a:schemeClr>
                </a:solidFill>
              </a:rPr>
              <a:t>géant</a:t>
            </a:r>
          </a:p>
          <a:p>
            <a:endParaRPr lang="fr-FR" sz="1100" noProof="0" dirty="0">
              <a:solidFill>
                <a:schemeClr val="bg2">
                  <a:lumMod val="25000"/>
                </a:schemeClr>
              </a:solidFill>
            </a:endParaRPr>
          </a:p>
          <a:p>
            <a:r>
              <a:rPr lang="fr-FR" sz="1100" noProof="0" dirty="0">
                <a:solidFill>
                  <a:schemeClr val="bg2">
                    <a:lumMod val="25000"/>
                  </a:schemeClr>
                </a:solidFill>
              </a:rPr>
              <a:t>Région </a:t>
            </a:r>
            <a:r>
              <a:rPr lang="fr-FR" sz="1100" b="1" noProof="0" dirty="0">
                <a:solidFill>
                  <a:schemeClr val="bg2">
                    <a:lumMod val="25000"/>
                  </a:schemeClr>
                </a:solidFill>
              </a:rPr>
              <a:t>très active (</a:t>
            </a:r>
            <a:r>
              <a:rPr lang="fr-FR" sz="1100" noProof="0" dirty="0">
                <a:solidFill>
                  <a:schemeClr val="bg2">
                    <a:lumMod val="25000"/>
                  </a:schemeClr>
                </a:solidFill>
              </a:rPr>
              <a:t>Etoiles jeunes et </a:t>
            </a:r>
            <a:r>
              <a:rPr lang="fr-FR" sz="1100" b="1" noProof="0" dirty="0">
                <a:solidFill>
                  <a:schemeClr val="bg2">
                    <a:lumMod val="25000"/>
                  </a:schemeClr>
                </a:solidFill>
              </a:rPr>
              <a:t>groupes d’étoiles massives)</a:t>
            </a:r>
            <a:endParaRPr lang="fr-FR" sz="1100" b="1" noProof="0" dirty="0">
              <a:solidFill>
                <a:schemeClr val="bg2">
                  <a:lumMod val="25000"/>
                </a:schemeClr>
              </a:solidFill>
              <a:ea typeface="Calibri"/>
              <a:cs typeface="Calibri"/>
            </a:endParaRPr>
          </a:p>
        </p:txBody>
      </p:sp>
      <p:pic>
        <p:nvPicPr>
          <p:cNvPr id="1026" name="Picture 2">
            <a:extLst>
              <a:ext uri="{FF2B5EF4-FFF2-40B4-BE49-F238E27FC236}">
                <a16:creationId xmlns:a16="http://schemas.microsoft.com/office/drawing/2014/main" id="{EC5FB120-E277-055E-C744-9AFA52BEC0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451" y="3672922"/>
            <a:ext cx="3630015" cy="284260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Graphic 2" descr="Compass with solid fill">
            <a:extLst>
              <a:ext uri="{FF2B5EF4-FFF2-40B4-BE49-F238E27FC236}">
                <a16:creationId xmlns:a16="http://schemas.microsoft.com/office/drawing/2014/main" id="{8BCDB0C0-1ECF-1C37-9E90-11CCB9C21D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8464" y="2221696"/>
            <a:ext cx="340548" cy="293513"/>
          </a:xfrm>
          <a:prstGeom prst="rect">
            <a:avLst/>
          </a:prstGeom>
        </p:spPr>
      </p:pic>
      <p:pic>
        <p:nvPicPr>
          <p:cNvPr id="7" name="Graphic 6" descr="Ruler with solid fill">
            <a:extLst>
              <a:ext uri="{FF2B5EF4-FFF2-40B4-BE49-F238E27FC236}">
                <a16:creationId xmlns:a16="http://schemas.microsoft.com/office/drawing/2014/main" id="{7A6854C8-2036-27A8-EFB2-350C689E63C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9719" y="1886419"/>
            <a:ext cx="276461" cy="277637"/>
          </a:xfrm>
          <a:prstGeom prst="rect">
            <a:avLst/>
          </a:prstGeom>
        </p:spPr>
      </p:pic>
      <p:pic>
        <p:nvPicPr>
          <p:cNvPr id="8" name="Graphic 7" descr="Cloud with solid fill">
            <a:extLst>
              <a:ext uri="{FF2B5EF4-FFF2-40B4-BE49-F238E27FC236}">
                <a16:creationId xmlns:a16="http://schemas.microsoft.com/office/drawing/2014/main" id="{5CCFA18E-17C3-E891-F29B-1E6618E2A5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2272" y="2519624"/>
            <a:ext cx="328247" cy="328247"/>
          </a:xfrm>
          <a:prstGeom prst="rect">
            <a:avLst/>
          </a:prstGeom>
        </p:spPr>
      </p:pic>
      <p:pic>
        <p:nvPicPr>
          <p:cNvPr id="10" name="Graphic 9" descr="Star with solid fill">
            <a:extLst>
              <a:ext uri="{FF2B5EF4-FFF2-40B4-BE49-F238E27FC236}">
                <a16:creationId xmlns:a16="http://schemas.microsoft.com/office/drawing/2014/main" id="{DE7F4407-2FDF-4037-05B5-85EF49E2A0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0645" y="2879690"/>
            <a:ext cx="303127" cy="286379"/>
          </a:xfrm>
          <a:prstGeom prst="rect">
            <a:avLst/>
          </a:prstGeom>
        </p:spPr>
      </p:pic>
      <p:sp>
        <p:nvSpPr>
          <p:cNvPr id="20" name="ZoneTexte 13">
            <a:extLst>
              <a:ext uri="{FF2B5EF4-FFF2-40B4-BE49-F238E27FC236}">
                <a16:creationId xmlns:a16="http://schemas.microsoft.com/office/drawing/2014/main" id="{62337AE8-D007-661E-AC6C-6AFDED2C76D5}"/>
              </a:ext>
            </a:extLst>
          </p:cNvPr>
          <p:cNvSpPr txBox="1"/>
          <p:nvPr/>
        </p:nvSpPr>
        <p:spPr>
          <a:xfrm>
            <a:off x="5414965" y="1583913"/>
            <a:ext cx="3080225"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Deux articles clés de référence</a:t>
            </a:r>
            <a:endParaRPr lang="fr-FR" sz="1600" b="1" noProof="0" dirty="0">
              <a:solidFill>
                <a:schemeClr val="bg2">
                  <a:lumMod val="25000"/>
                </a:schemeClr>
              </a:solidFill>
              <a:ea typeface="Calibri"/>
              <a:cs typeface="Calibri"/>
            </a:endParaRPr>
          </a:p>
        </p:txBody>
      </p:sp>
      <p:pic>
        <p:nvPicPr>
          <p:cNvPr id="21" name="Graphic 20" descr="Open book with solid fill">
            <a:extLst>
              <a:ext uri="{FF2B5EF4-FFF2-40B4-BE49-F238E27FC236}">
                <a16:creationId xmlns:a16="http://schemas.microsoft.com/office/drawing/2014/main" id="{720EDD8C-E669-14CD-C9A5-5C92211BB4D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86140" y="1606900"/>
            <a:ext cx="353368" cy="328247"/>
          </a:xfrm>
          <a:prstGeom prst="rect">
            <a:avLst/>
          </a:prstGeom>
        </p:spPr>
      </p:pic>
      <p:sp>
        <p:nvSpPr>
          <p:cNvPr id="23" name="Rectangle : coins arrondis 12">
            <a:extLst>
              <a:ext uri="{FF2B5EF4-FFF2-40B4-BE49-F238E27FC236}">
                <a16:creationId xmlns:a16="http://schemas.microsoft.com/office/drawing/2014/main" id="{305F62FF-3BE9-5EBB-7EAE-E09CC1F26F67}"/>
              </a:ext>
            </a:extLst>
          </p:cNvPr>
          <p:cNvSpPr/>
          <p:nvPr/>
        </p:nvSpPr>
        <p:spPr>
          <a:xfrm>
            <a:off x="5151249" y="2159124"/>
            <a:ext cx="3167316" cy="1175254"/>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ZoneTexte 13">
            <a:extLst>
              <a:ext uri="{FF2B5EF4-FFF2-40B4-BE49-F238E27FC236}">
                <a16:creationId xmlns:a16="http://schemas.microsoft.com/office/drawing/2014/main" id="{CC003EEB-B52A-4A24-461E-8D8D46C88719}"/>
              </a:ext>
            </a:extLst>
          </p:cNvPr>
          <p:cNvSpPr txBox="1"/>
          <p:nvPr/>
        </p:nvSpPr>
        <p:spPr>
          <a:xfrm>
            <a:off x="5239118" y="2161693"/>
            <a:ext cx="3080225" cy="800219"/>
          </a:xfrm>
          <a:prstGeom prst="rect">
            <a:avLst/>
          </a:prstGeom>
          <a:noFill/>
        </p:spPr>
        <p:txBody>
          <a:bodyPr wrap="square" lIns="91440" tIns="45720" rIns="91440" bIns="45720" rtlCol="0" anchor="t">
            <a:spAutoFit/>
          </a:bodyPr>
          <a:lstStyle/>
          <a:p>
            <a:r>
              <a:rPr lang="fr-FR" sz="1200" b="1" noProof="0" dirty="0">
                <a:solidFill>
                  <a:schemeClr val="bg2">
                    <a:lumMod val="25000"/>
                  </a:schemeClr>
                </a:solidFill>
              </a:rPr>
              <a:t>Rygl et al.</a:t>
            </a:r>
          </a:p>
          <a:p>
            <a:endParaRPr lang="fr-FR" sz="1200" b="1" noProof="0" dirty="0">
              <a:solidFill>
                <a:schemeClr val="bg2">
                  <a:lumMod val="25000"/>
                </a:schemeClr>
              </a:solidFill>
              <a:ea typeface="Calibri"/>
              <a:cs typeface="Calibri"/>
            </a:endParaRPr>
          </a:p>
          <a:p>
            <a:r>
              <a:rPr lang="fr-FR" sz="1100" noProof="0" dirty="0">
                <a:solidFill>
                  <a:schemeClr val="bg2">
                    <a:lumMod val="25000"/>
                  </a:schemeClr>
                </a:solidFill>
                <a:ea typeface="Calibri"/>
                <a:cs typeface="Calibri"/>
              </a:rPr>
              <a:t>Déterminent les </a:t>
            </a:r>
            <a:r>
              <a:rPr lang="fr-FR" sz="1100" b="1" noProof="0" dirty="0">
                <a:solidFill>
                  <a:schemeClr val="bg2">
                    <a:lumMod val="25000"/>
                  </a:schemeClr>
                </a:solidFill>
                <a:ea typeface="Calibri"/>
                <a:cs typeface="Calibri"/>
              </a:rPr>
              <a:t>vitesses </a:t>
            </a:r>
            <a:r>
              <a:rPr lang="fr-FR" sz="1100" noProof="0" dirty="0">
                <a:solidFill>
                  <a:schemeClr val="bg2">
                    <a:lumMod val="25000"/>
                  </a:schemeClr>
                </a:solidFill>
                <a:ea typeface="Calibri"/>
                <a:cs typeface="Calibri"/>
              </a:rPr>
              <a:t>et les </a:t>
            </a:r>
            <a:r>
              <a:rPr lang="fr-FR" sz="1100" b="1" noProof="0" dirty="0">
                <a:solidFill>
                  <a:schemeClr val="bg2">
                    <a:lumMod val="25000"/>
                  </a:schemeClr>
                </a:solidFill>
                <a:ea typeface="Calibri"/>
                <a:cs typeface="Calibri"/>
              </a:rPr>
              <a:t>positions </a:t>
            </a:r>
            <a:r>
              <a:rPr lang="fr-FR" sz="1100" noProof="0" dirty="0">
                <a:solidFill>
                  <a:schemeClr val="bg2">
                    <a:lumMod val="25000"/>
                  </a:schemeClr>
                </a:solidFill>
                <a:ea typeface="Calibri"/>
                <a:cs typeface="Calibri"/>
              </a:rPr>
              <a:t>de </a:t>
            </a:r>
            <a:r>
              <a:rPr lang="fr-FR" sz="1100" b="1" noProof="0" dirty="0">
                <a:solidFill>
                  <a:schemeClr val="bg2">
                    <a:lumMod val="25000"/>
                  </a:schemeClr>
                </a:solidFill>
                <a:ea typeface="Calibri"/>
                <a:cs typeface="Calibri"/>
              </a:rPr>
              <a:t>4 nuages moléculaires </a:t>
            </a:r>
            <a:r>
              <a:rPr lang="fr-FR" sz="1100" noProof="0" dirty="0">
                <a:solidFill>
                  <a:schemeClr val="bg2">
                    <a:lumMod val="25000"/>
                  </a:schemeClr>
                </a:solidFill>
                <a:ea typeface="Calibri"/>
                <a:cs typeface="Calibri"/>
              </a:rPr>
              <a:t>grâce à des mesures</a:t>
            </a:r>
            <a:r>
              <a:rPr lang="fr-FR" sz="1100" b="1" noProof="0" dirty="0">
                <a:solidFill>
                  <a:schemeClr val="bg2">
                    <a:lumMod val="25000"/>
                  </a:schemeClr>
                </a:solidFill>
                <a:ea typeface="Calibri"/>
                <a:cs typeface="Calibri"/>
              </a:rPr>
              <a:t> masers</a:t>
            </a:r>
            <a:endParaRPr lang="fr-FR" noProof="0" dirty="0"/>
          </a:p>
        </p:txBody>
      </p:sp>
      <p:sp>
        <p:nvSpPr>
          <p:cNvPr id="28" name="TextBox 27">
            <a:extLst>
              <a:ext uri="{FF2B5EF4-FFF2-40B4-BE49-F238E27FC236}">
                <a16:creationId xmlns:a16="http://schemas.microsoft.com/office/drawing/2014/main" id="{52000229-A40C-D3DF-AF56-617CE3C1CB68}"/>
              </a:ext>
            </a:extLst>
          </p:cNvPr>
          <p:cNvSpPr txBox="1"/>
          <p:nvPr/>
        </p:nvSpPr>
        <p:spPr>
          <a:xfrm>
            <a:off x="7661868" y="2177142"/>
            <a:ext cx="83736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i="1" noProof="0" dirty="0">
                <a:ea typeface="Calibri"/>
                <a:cs typeface="Calibri"/>
              </a:rPr>
              <a:t>2018</a:t>
            </a:r>
            <a:endParaRPr lang="fr-FR" sz="1200" i="1" noProof="0" dirty="0"/>
          </a:p>
        </p:txBody>
      </p:sp>
      <p:sp>
        <p:nvSpPr>
          <p:cNvPr id="29" name="Rectangle : coins arrondis 12">
            <a:extLst>
              <a:ext uri="{FF2B5EF4-FFF2-40B4-BE49-F238E27FC236}">
                <a16:creationId xmlns:a16="http://schemas.microsoft.com/office/drawing/2014/main" id="{EF8BBA97-7758-E878-33DB-D8282782077B}"/>
              </a:ext>
            </a:extLst>
          </p:cNvPr>
          <p:cNvSpPr/>
          <p:nvPr/>
        </p:nvSpPr>
        <p:spPr>
          <a:xfrm>
            <a:off x="8643051" y="2142376"/>
            <a:ext cx="3167316" cy="118362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0" name="ZoneTexte 13">
            <a:extLst>
              <a:ext uri="{FF2B5EF4-FFF2-40B4-BE49-F238E27FC236}">
                <a16:creationId xmlns:a16="http://schemas.microsoft.com/office/drawing/2014/main" id="{40B4A972-64D9-85BC-3CEE-316C9249D55F}"/>
              </a:ext>
            </a:extLst>
          </p:cNvPr>
          <p:cNvSpPr txBox="1"/>
          <p:nvPr/>
        </p:nvSpPr>
        <p:spPr>
          <a:xfrm>
            <a:off x="8730920" y="2144944"/>
            <a:ext cx="3080225" cy="1138773"/>
          </a:xfrm>
          <a:prstGeom prst="rect">
            <a:avLst/>
          </a:prstGeom>
          <a:noFill/>
        </p:spPr>
        <p:txBody>
          <a:bodyPr wrap="square" lIns="91440" tIns="45720" rIns="91440" bIns="45720" rtlCol="0" anchor="t">
            <a:spAutoFit/>
          </a:bodyPr>
          <a:lstStyle/>
          <a:p>
            <a:r>
              <a:rPr lang="fr-FR" sz="1200" b="1" noProof="0" dirty="0">
                <a:solidFill>
                  <a:schemeClr val="bg2">
                    <a:lumMod val="25000"/>
                  </a:schemeClr>
                </a:solidFill>
              </a:rPr>
              <a:t>Quintana et Wright</a:t>
            </a:r>
          </a:p>
          <a:p>
            <a:endParaRPr lang="fr-FR" sz="1200" b="1" noProof="0" dirty="0">
              <a:solidFill>
                <a:schemeClr val="bg2">
                  <a:lumMod val="25000"/>
                </a:schemeClr>
              </a:solidFill>
              <a:ea typeface="Calibri"/>
              <a:cs typeface="Calibri"/>
            </a:endParaRPr>
          </a:p>
          <a:p>
            <a:r>
              <a:rPr lang="fr-FR" sz="1100" b="1" noProof="0" dirty="0">
                <a:solidFill>
                  <a:schemeClr val="bg2">
                    <a:lumMod val="25000"/>
                  </a:schemeClr>
                </a:solidFill>
                <a:ea typeface="Calibri"/>
                <a:cs typeface="Calibri"/>
              </a:rPr>
              <a:t>Redéfinissent les groupes</a:t>
            </a:r>
            <a:r>
              <a:rPr lang="fr-FR" sz="1100" noProof="0" dirty="0">
                <a:solidFill>
                  <a:schemeClr val="bg2">
                    <a:lumMod val="25000"/>
                  </a:schemeClr>
                </a:solidFill>
                <a:ea typeface="Calibri"/>
                <a:cs typeface="Calibri"/>
              </a:rPr>
              <a:t> d’étoiles massives historiques (</a:t>
            </a:r>
            <a:r>
              <a:rPr lang="fr-FR" sz="1100" noProof="0" dirty="0" err="1">
                <a:solidFill>
                  <a:schemeClr val="bg2">
                    <a:lumMod val="25000"/>
                  </a:schemeClr>
                </a:solidFill>
                <a:ea typeface="Calibri"/>
                <a:cs typeface="Calibri"/>
              </a:rPr>
              <a:t>Cyg</a:t>
            </a:r>
            <a:r>
              <a:rPr lang="fr-FR" sz="1100" noProof="0" dirty="0">
                <a:solidFill>
                  <a:schemeClr val="bg2">
                    <a:lumMod val="25000"/>
                  </a:schemeClr>
                </a:solidFill>
                <a:ea typeface="Calibri"/>
                <a:cs typeface="Calibri"/>
              </a:rPr>
              <a:t> OB2, etc.). </a:t>
            </a:r>
            <a:r>
              <a:rPr lang="fr-FR" sz="1100" b="1" noProof="0" dirty="0">
                <a:solidFill>
                  <a:schemeClr val="bg2">
                    <a:lumMod val="25000"/>
                  </a:schemeClr>
                </a:solidFill>
                <a:ea typeface="Calibri"/>
                <a:cs typeface="Calibri"/>
              </a:rPr>
              <a:t>6 groupes</a:t>
            </a:r>
            <a:r>
              <a:rPr lang="fr-FR" sz="1100" noProof="0" dirty="0">
                <a:solidFill>
                  <a:schemeClr val="bg2">
                    <a:lumMod val="25000"/>
                  </a:schemeClr>
                </a:solidFill>
                <a:ea typeface="Calibri"/>
                <a:cs typeface="Calibri"/>
              </a:rPr>
              <a:t> d’étoiles OB (de A à F). Déterminent leurs </a:t>
            </a:r>
            <a:r>
              <a:rPr lang="fr-FR" sz="1100" b="1" noProof="0" dirty="0">
                <a:solidFill>
                  <a:schemeClr val="bg2">
                    <a:lumMod val="25000"/>
                  </a:schemeClr>
                </a:solidFill>
                <a:ea typeface="Calibri"/>
                <a:cs typeface="Calibri"/>
              </a:rPr>
              <a:t>positions </a:t>
            </a:r>
            <a:r>
              <a:rPr lang="fr-FR" sz="1100" noProof="0" dirty="0">
                <a:solidFill>
                  <a:schemeClr val="bg2">
                    <a:lumMod val="25000"/>
                  </a:schemeClr>
                </a:solidFill>
                <a:ea typeface="Calibri"/>
                <a:cs typeface="Calibri"/>
              </a:rPr>
              <a:t>et leurs </a:t>
            </a:r>
            <a:r>
              <a:rPr lang="fr-FR" sz="1100" b="1" noProof="0" dirty="0">
                <a:solidFill>
                  <a:schemeClr val="bg2">
                    <a:lumMod val="25000"/>
                  </a:schemeClr>
                </a:solidFill>
                <a:ea typeface="Calibri"/>
                <a:cs typeface="Calibri"/>
              </a:rPr>
              <a:t>vitesses</a:t>
            </a:r>
            <a:endParaRPr lang="fr-FR" noProof="0" dirty="0">
              <a:solidFill>
                <a:schemeClr val="bg2">
                  <a:lumMod val="25000"/>
                </a:schemeClr>
              </a:solidFill>
              <a:ea typeface="Calibri"/>
              <a:cs typeface="Calibri"/>
            </a:endParaRPr>
          </a:p>
        </p:txBody>
      </p:sp>
      <p:sp>
        <p:nvSpPr>
          <p:cNvPr id="31" name="TextBox 30">
            <a:extLst>
              <a:ext uri="{FF2B5EF4-FFF2-40B4-BE49-F238E27FC236}">
                <a16:creationId xmlns:a16="http://schemas.microsoft.com/office/drawing/2014/main" id="{E276F026-CCCC-A76A-2D1E-D635DAB4970B}"/>
              </a:ext>
            </a:extLst>
          </p:cNvPr>
          <p:cNvSpPr txBox="1"/>
          <p:nvPr/>
        </p:nvSpPr>
        <p:spPr>
          <a:xfrm>
            <a:off x="11220659" y="2168767"/>
            <a:ext cx="83736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i="1" noProof="0" dirty="0">
                <a:ea typeface="Calibri"/>
                <a:cs typeface="Calibri"/>
              </a:rPr>
              <a:t>2021</a:t>
            </a:r>
            <a:endParaRPr lang="fr-FR" sz="1200" i="1" noProof="0" dirty="0"/>
          </a:p>
        </p:txBody>
      </p:sp>
      <p:sp>
        <p:nvSpPr>
          <p:cNvPr id="32" name="Rectangle : coins arrondis 8">
            <a:extLst>
              <a:ext uri="{FF2B5EF4-FFF2-40B4-BE49-F238E27FC236}">
                <a16:creationId xmlns:a16="http://schemas.microsoft.com/office/drawing/2014/main" id="{61373600-2115-1FBE-8634-7504EB28ADD2}"/>
              </a:ext>
            </a:extLst>
          </p:cNvPr>
          <p:cNvSpPr/>
          <p:nvPr/>
        </p:nvSpPr>
        <p:spPr>
          <a:xfrm>
            <a:off x="4932390" y="4053219"/>
            <a:ext cx="3590427" cy="172988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33" name="ZoneTexte 13">
            <a:extLst>
              <a:ext uri="{FF2B5EF4-FFF2-40B4-BE49-F238E27FC236}">
                <a16:creationId xmlns:a16="http://schemas.microsoft.com/office/drawing/2014/main" id="{2CAE00DF-8EF1-72F3-CA4C-BE601486FF16}"/>
              </a:ext>
            </a:extLst>
          </p:cNvPr>
          <p:cNvSpPr txBox="1"/>
          <p:nvPr/>
        </p:nvSpPr>
        <p:spPr>
          <a:xfrm>
            <a:off x="5096769" y="4070879"/>
            <a:ext cx="2602928" cy="338554"/>
          </a:xfrm>
          <a:prstGeom prst="rect">
            <a:avLst/>
          </a:prstGeom>
          <a:noFill/>
        </p:spPr>
        <p:txBody>
          <a:bodyPr wrap="square" lIns="91440" tIns="45720" rIns="91440" bIns="45720" rtlCol="0" anchor="t">
            <a:spAutoFit/>
          </a:bodyPr>
          <a:lstStyle/>
          <a:p>
            <a:pPr algn="ctr"/>
            <a:r>
              <a:rPr lang="fr-FR" sz="1600" b="1" noProof="0" dirty="0">
                <a:solidFill>
                  <a:schemeClr val="bg2">
                    <a:lumMod val="25000"/>
                  </a:schemeClr>
                </a:solidFill>
              </a:rPr>
              <a:t>Présentation des résultats</a:t>
            </a:r>
            <a:endParaRPr lang="fr-FR" noProof="0" dirty="0">
              <a:solidFill>
                <a:schemeClr val="bg2">
                  <a:lumMod val="25000"/>
                </a:schemeClr>
              </a:solidFill>
            </a:endParaRPr>
          </a:p>
        </p:txBody>
      </p:sp>
      <p:sp>
        <p:nvSpPr>
          <p:cNvPr id="34" name="ZoneTexte 14">
            <a:extLst>
              <a:ext uri="{FF2B5EF4-FFF2-40B4-BE49-F238E27FC236}">
                <a16:creationId xmlns:a16="http://schemas.microsoft.com/office/drawing/2014/main" id="{EE13E3CD-E2C0-F1D9-0281-E4D1EE402D99}"/>
              </a:ext>
            </a:extLst>
          </p:cNvPr>
          <p:cNvSpPr txBox="1"/>
          <p:nvPr/>
        </p:nvSpPr>
        <p:spPr>
          <a:xfrm>
            <a:off x="5260737" y="4538878"/>
            <a:ext cx="3627743" cy="769441"/>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Présentation dans des</a:t>
            </a:r>
            <a:r>
              <a:rPr lang="fr-FR" sz="1100" b="1" noProof="0" dirty="0">
                <a:solidFill>
                  <a:schemeClr val="bg2">
                    <a:lumMod val="25000"/>
                  </a:schemeClr>
                </a:solidFill>
              </a:rPr>
              <a:t> référentiels différents</a:t>
            </a:r>
            <a:endParaRPr lang="fr-FR" noProof="0" dirty="0">
              <a:solidFill>
                <a:schemeClr val="bg2">
                  <a:lumMod val="25000"/>
                </a:schemeClr>
              </a:solidFill>
            </a:endParaRPr>
          </a:p>
          <a:p>
            <a:endParaRPr lang="fr-FR" sz="1100" b="1" noProof="0" dirty="0">
              <a:solidFill>
                <a:schemeClr val="bg2">
                  <a:lumMod val="25000"/>
                </a:schemeClr>
              </a:solidFill>
              <a:ea typeface="Calibri"/>
              <a:cs typeface="Calibri"/>
            </a:endParaRPr>
          </a:p>
          <a:p>
            <a:endParaRPr lang="fr-FR" sz="1100" noProof="0" dirty="0">
              <a:solidFill>
                <a:schemeClr val="bg2">
                  <a:lumMod val="25000"/>
                </a:schemeClr>
              </a:solidFill>
              <a:ea typeface="Calibri"/>
              <a:cs typeface="Calibri"/>
            </a:endParaRPr>
          </a:p>
          <a:p>
            <a:r>
              <a:rPr lang="fr-FR" sz="1100" noProof="0" dirty="0">
                <a:solidFill>
                  <a:schemeClr val="bg2">
                    <a:lumMod val="25000"/>
                  </a:schemeClr>
                </a:solidFill>
                <a:ea typeface="Calibri"/>
                <a:cs typeface="Calibri"/>
              </a:rPr>
              <a:t>Intégration </a:t>
            </a:r>
            <a:r>
              <a:rPr lang="fr-FR" sz="1100" b="1" noProof="0" dirty="0">
                <a:solidFill>
                  <a:schemeClr val="bg2">
                    <a:lumMod val="25000"/>
                  </a:schemeClr>
                </a:solidFill>
                <a:ea typeface="Calibri"/>
                <a:cs typeface="Calibri"/>
              </a:rPr>
              <a:t>d'hypothèses structurantes différentes </a:t>
            </a:r>
          </a:p>
        </p:txBody>
      </p:sp>
      <p:pic>
        <p:nvPicPr>
          <p:cNvPr id="39" name="Graphic 38" descr="Upward trend with solid fill">
            <a:extLst>
              <a:ext uri="{FF2B5EF4-FFF2-40B4-BE49-F238E27FC236}">
                <a16:creationId xmlns:a16="http://schemas.microsoft.com/office/drawing/2014/main" id="{57ADDE15-31EC-E8AB-83BA-463285AE94E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85657" y="4093866"/>
            <a:ext cx="294752" cy="328246"/>
          </a:xfrm>
          <a:prstGeom prst="rect">
            <a:avLst/>
          </a:prstGeom>
        </p:spPr>
      </p:pic>
      <p:pic>
        <p:nvPicPr>
          <p:cNvPr id="40" name="Graphic 39" descr="Arrow Right with solid fill">
            <a:extLst>
              <a:ext uri="{FF2B5EF4-FFF2-40B4-BE49-F238E27FC236}">
                <a16:creationId xmlns:a16="http://schemas.microsoft.com/office/drawing/2014/main" id="{00FBB37F-262E-AF6A-98DC-600E26DBFA5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27525" y="4537668"/>
            <a:ext cx="244511" cy="328246"/>
          </a:xfrm>
          <a:prstGeom prst="rect">
            <a:avLst/>
          </a:prstGeom>
        </p:spPr>
      </p:pic>
      <p:pic>
        <p:nvPicPr>
          <p:cNvPr id="41" name="Graphic 40" descr="Arrow Right with solid fill">
            <a:extLst>
              <a:ext uri="{FF2B5EF4-FFF2-40B4-BE49-F238E27FC236}">
                <a16:creationId xmlns:a16="http://schemas.microsoft.com/office/drawing/2014/main" id="{E2280199-3076-5367-B156-C66699678BA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35898" y="5006591"/>
            <a:ext cx="244511" cy="328246"/>
          </a:xfrm>
          <a:prstGeom prst="rect">
            <a:avLst/>
          </a:prstGeom>
        </p:spPr>
      </p:pic>
      <p:sp>
        <p:nvSpPr>
          <p:cNvPr id="42" name="Rectangle : coins arrondis 8">
            <a:extLst>
              <a:ext uri="{FF2B5EF4-FFF2-40B4-BE49-F238E27FC236}">
                <a16:creationId xmlns:a16="http://schemas.microsoft.com/office/drawing/2014/main" id="{B984D074-8ECA-1BB2-A692-397B57BF8082}"/>
              </a:ext>
            </a:extLst>
          </p:cNvPr>
          <p:cNvSpPr/>
          <p:nvPr/>
        </p:nvSpPr>
        <p:spPr>
          <a:xfrm>
            <a:off x="8608410" y="4053216"/>
            <a:ext cx="3431328" cy="1729887"/>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43" name="ZoneTexte 13">
            <a:extLst>
              <a:ext uri="{FF2B5EF4-FFF2-40B4-BE49-F238E27FC236}">
                <a16:creationId xmlns:a16="http://schemas.microsoft.com/office/drawing/2014/main" id="{CDC58F9C-07CA-DC0A-47A4-B92BF13C7745}"/>
              </a:ext>
            </a:extLst>
          </p:cNvPr>
          <p:cNvSpPr txBox="1"/>
          <p:nvPr/>
        </p:nvSpPr>
        <p:spPr>
          <a:xfrm>
            <a:off x="8848153" y="4054131"/>
            <a:ext cx="2602928" cy="338554"/>
          </a:xfrm>
          <a:prstGeom prst="rect">
            <a:avLst/>
          </a:prstGeom>
          <a:noFill/>
        </p:spPr>
        <p:txBody>
          <a:bodyPr wrap="square" lIns="91440" tIns="45720" rIns="91440" bIns="45720" rtlCol="0" anchor="t">
            <a:spAutoFit/>
          </a:bodyPr>
          <a:lstStyle/>
          <a:p>
            <a:pPr algn="ctr"/>
            <a:r>
              <a:rPr lang="fr-FR" sz="1600" b="1" noProof="0" dirty="0">
                <a:solidFill>
                  <a:schemeClr val="bg2">
                    <a:lumMod val="25000"/>
                  </a:schemeClr>
                </a:solidFill>
              </a:rPr>
              <a:t>Hypothèses structurantes</a:t>
            </a:r>
            <a:endParaRPr lang="fr-FR" noProof="0" dirty="0"/>
          </a:p>
        </p:txBody>
      </p:sp>
      <p:sp>
        <p:nvSpPr>
          <p:cNvPr id="44" name="ZoneTexte 14">
            <a:extLst>
              <a:ext uri="{FF2B5EF4-FFF2-40B4-BE49-F238E27FC236}">
                <a16:creationId xmlns:a16="http://schemas.microsoft.com/office/drawing/2014/main" id="{7224A5BC-B05F-DAB6-9FBF-285055685E03}"/>
              </a:ext>
            </a:extLst>
          </p:cNvPr>
          <p:cNvSpPr txBox="1"/>
          <p:nvPr/>
        </p:nvSpPr>
        <p:spPr>
          <a:xfrm>
            <a:off x="9003747" y="4681230"/>
            <a:ext cx="1174271" cy="261610"/>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Position du Soleil</a:t>
            </a:r>
            <a:endParaRPr lang="fr-FR" noProof="0" dirty="0">
              <a:solidFill>
                <a:srgbClr val="000000"/>
              </a:solidFill>
              <a:ea typeface="Calibri"/>
              <a:cs typeface="Calibri"/>
            </a:endParaRPr>
          </a:p>
        </p:txBody>
      </p:sp>
      <p:pic>
        <p:nvPicPr>
          <p:cNvPr id="49" name="Graphic 48" descr="Compass with solid fill">
            <a:extLst>
              <a:ext uri="{FF2B5EF4-FFF2-40B4-BE49-F238E27FC236}">
                <a16:creationId xmlns:a16="http://schemas.microsoft.com/office/drawing/2014/main" id="{87F208D5-DA82-6F3A-7128-852F3FF1F6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4859" y="4666794"/>
            <a:ext cx="340548" cy="293513"/>
          </a:xfrm>
          <a:prstGeom prst="rect">
            <a:avLst/>
          </a:prstGeom>
        </p:spPr>
      </p:pic>
      <p:sp>
        <p:nvSpPr>
          <p:cNvPr id="50" name="ZoneTexte 14">
            <a:extLst>
              <a:ext uri="{FF2B5EF4-FFF2-40B4-BE49-F238E27FC236}">
                <a16:creationId xmlns:a16="http://schemas.microsoft.com/office/drawing/2014/main" id="{5A0F412D-81E8-72BD-49E7-C4C5C476D4FF}"/>
              </a:ext>
            </a:extLst>
          </p:cNvPr>
          <p:cNvSpPr txBox="1"/>
          <p:nvPr/>
        </p:nvSpPr>
        <p:spPr>
          <a:xfrm>
            <a:off x="10611483" y="4681229"/>
            <a:ext cx="1174271" cy="261610"/>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Vitesse du Soleil</a:t>
            </a:r>
            <a:endParaRPr lang="fr-FR" noProof="0" dirty="0">
              <a:solidFill>
                <a:schemeClr val="bg2">
                  <a:lumMod val="25000"/>
                </a:schemeClr>
              </a:solidFill>
            </a:endParaRPr>
          </a:p>
        </p:txBody>
      </p:sp>
      <p:pic>
        <p:nvPicPr>
          <p:cNvPr id="51" name="Graphic 50" descr="Fast Forward with solid fill">
            <a:extLst>
              <a:ext uri="{FF2B5EF4-FFF2-40B4-BE49-F238E27FC236}">
                <a16:creationId xmlns:a16="http://schemas.microsoft.com/office/drawing/2014/main" id="{326F97A6-5216-F16C-D7AF-273921EE4F7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11767" y="4688392"/>
            <a:ext cx="286379" cy="252886"/>
          </a:xfrm>
          <a:prstGeom prst="rect">
            <a:avLst/>
          </a:prstGeom>
        </p:spPr>
      </p:pic>
      <p:sp>
        <p:nvSpPr>
          <p:cNvPr id="52" name="ZoneTexte 14">
            <a:extLst>
              <a:ext uri="{FF2B5EF4-FFF2-40B4-BE49-F238E27FC236}">
                <a16:creationId xmlns:a16="http://schemas.microsoft.com/office/drawing/2014/main" id="{984AFC53-7DBA-EC1F-0CDA-2D9D42981A75}"/>
              </a:ext>
            </a:extLst>
          </p:cNvPr>
          <p:cNvSpPr txBox="1"/>
          <p:nvPr/>
        </p:nvSpPr>
        <p:spPr>
          <a:xfrm>
            <a:off x="9003747" y="5133405"/>
            <a:ext cx="1174271" cy="430887"/>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Distance au centre galactique</a:t>
            </a:r>
            <a:endParaRPr lang="fr-FR" noProof="0" dirty="0">
              <a:solidFill>
                <a:schemeClr val="bg2">
                  <a:lumMod val="25000"/>
                </a:schemeClr>
              </a:solidFill>
            </a:endParaRPr>
          </a:p>
        </p:txBody>
      </p:sp>
      <p:sp>
        <p:nvSpPr>
          <p:cNvPr id="53" name="ZoneTexte 14">
            <a:extLst>
              <a:ext uri="{FF2B5EF4-FFF2-40B4-BE49-F238E27FC236}">
                <a16:creationId xmlns:a16="http://schemas.microsoft.com/office/drawing/2014/main" id="{0AFF79BB-6CAA-FF59-D5E7-B83E5E7A2C54}"/>
              </a:ext>
            </a:extLst>
          </p:cNvPr>
          <p:cNvSpPr txBox="1"/>
          <p:nvPr/>
        </p:nvSpPr>
        <p:spPr>
          <a:xfrm>
            <a:off x="10611484" y="5133405"/>
            <a:ext cx="1433852" cy="430887"/>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Vitesse de rotation galactique</a:t>
            </a:r>
            <a:endParaRPr lang="fr-FR" noProof="0" dirty="0">
              <a:solidFill>
                <a:schemeClr val="bg2">
                  <a:lumMod val="25000"/>
                </a:schemeClr>
              </a:solidFill>
            </a:endParaRPr>
          </a:p>
        </p:txBody>
      </p:sp>
      <p:pic>
        <p:nvPicPr>
          <p:cNvPr id="54" name="Graphic 53" descr="Ruler with solid fill">
            <a:extLst>
              <a:ext uri="{FF2B5EF4-FFF2-40B4-BE49-F238E27FC236}">
                <a16:creationId xmlns:a16="http://schemas.microsoft.com/office/drawing/2014/main" id="{A189C4D6-1368-CC85-A8C6-C8776C1B5A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27740" y="5210748"/>
            <a:ext cx="276461" cy="277637"/>
          </a:xfrm>
          <a:prstGeom prst="rect">
            <a:avLst/>
          </a:prstGeom>
        </p:spPr>
      </p:pic>
      <p:pic>
        <p:nvPicPr>
          <p:cNvPr id="55" name="Graphic 54" descr="Arrow circle with solid fill">
            <a:extLst>
              <a:ext uri="{FF2B5EF4-FFF2-40B4-BE49-F238E27FC236}">
                <a16:creationId xmlns:a16="http://schemas.microsoft.com/office/drawing/2014/main" id="{BA785DBA-EC44-7421-2CF0-4787FC9FAF7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03393" y="5207557"/>
            <a:ext cx="311499" cy="328247"/>
          </a:xfrm>
          <a:prstGeom prst="rect">
            <a:avLst/>
          </a:prstGeom>
        </p:spPr>
      </p:pic>
      <p:pic>
        <p:nvPicPr>
          <p:cNvPr id="56" name="Graphic 55" descr="Gears with solid fill">
            <a:extLst>
              <a:ext uri="{FF2B5EF4-FFF2-40B4-BE49-F238E27FC236}">
                <a16:creationId xmlns:a16="http://schemas.microsoft.com/office/drawing/2014/main" id="{571A4B28-E438-BB43-24A8-44E6E0F6236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20294" y="4077118"/>
            <a:ext cx="294752" cy="328247"/>
          </a:xfrm>
          <a:prstGeom prst="rect">
            <a:avLst/>
          </a:prstGeom>
        </p:spPr>
      </p:pic>
      <p:sp>
        <p:nvSpPr>
          <p:cNvPr id="57" name="TextBox 56">
            <a:extLst>
              <a:ext uri="{FF2B5EF4-FFF2-40B4-BE49-F238E27FC236}">
                <a16:creationId xmlns:a16="http://schemas.microsoft.com/office/drawing/2014/main" id="{AF47A34B-B03D-D232-CCC1-35C4159A7B7E}"/>
              </a:ext>
            </a:extLst>
          </p:cNvPr>
          <p:cNvSpPr txBox="1"/>
          <p:nvPr/>
        </p:nvSpPr>
        <p:spPr>
          <a:xfrm>
            <a:off x="448464" y="6238528"/>
            <a:ext cx="35085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noProof="0" dirty="0">
                <a:solidFill>
                  <a:srgbClr val="FFFFFF"/>
                </a:solidFill>
                <a:ea typeface="Calibri"/>
                <a:cs typeface="Calibri"/>
              </a:rPr>
              <a:t>Cygnus X by Spitzer</a:t>
            </a:r>
            <a:endParaRPr lang="fr-FR" sz="1200" noProof="0" dirty="0">
              <a:solidFill>
                <a:srgbClr val="FFFFFF"/>
              </a:solidFill>
            </a:endParaRPr>
          </a:p>
        </p:txBody>
      </p:sp>
    </p:spTree>
    <p:extLst>
      <p:ext uri="{BB962C8B-B14F-4D97-AF65-F5344CB8AC3E}">
        <p14:creationId xmlns:p14="http://schemas.microsoft.com/office/powerpoint/2010/main" val="3542687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C214-5978-4064-393D-8174B8BA0D5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8A7F5F2-1C10-DC19-148A-F488874BFAEC}"/>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FDF7464C-5E12-E37D-71D3-F6A6D7162C1F}"/>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Enjeux et Objectifs</a:t>
            </a:r>
          </a:p>
        </p:txBody>
      </p:sp>
      <p:sp>
        <p:nvSpPr>
          <p:cNvPr id="4" name="Espace réservé de la date 3">
            <a:extLst>
              <a:ext uri="{FF2B5EF4-FFF2-40B4-BE49-F238E27FC236}">
                <a16:creationId xmlns:a16="http://schemas.microsoft.com/office/drawing/2014/main" id="{7A87F890-7A48-0C17-E90D-203B3273F870}"/>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
        <p:nvSpPr>
          <p:cNvPr id="5" name="Espace réservé du numéro de diapositive 4">
            <a:extLst>
              <a:ext uri="{FF2B5EF4-FFF2-40B4-BE49-F238E27FC236}">
                <a16:creationId xmlns:a16="http://schemas.microsoft.com/office/drawing/2014/main" id="{7F15117A-611B-65B2-3633-B69B803978FD}"/>
              </a:ext>
            </a:extLst>
          </p:cNvPr>
          <p:cNvSpPr>
            <a:spLocks noGrp="1"/>
          </p:cNvSpPr>
          <p:nvPr>
            <p:ph type="sldNum" sz="quarter" idx="12"/>
          </p:nvPr>
        </p:nvSpPr>
        <p:spPr/>
        <p:txBody>
          <a:bodyPr/>
          <a:lstStyle/>
          <a:p>
            <a:fld id="{E3EC9F48-C5B6-4727-AEEA-2F88FA0098DB}" type="slidenum">
              <a:rPr lang="fr-FR" noProof="0" smtClean="0"/>
              <a:t>4</a:t>
            </a:fld>
            <a:endParaRPr lang="fr-FR" noProof="0" dirty="0"/>
          </a:p>
        </p:txBody>
      </p:sp>
      <p:pic>
        <p:nvPicPr>
          <p:cNvPr id="11" name="Picture 2">
            <a:extLst>
              <a:ext uri="{FF2B5EF4-FFF2-40B4-BE49-F238E27FC236}">
                <a16:creationId xmlns:a16="http://schemas.microsoft.com/office/drawing/2014/main" id="{4E9FD027-0D13-FCD2-3DCD-ECFD42F98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D31EF811-8774-DC44-78AE-16573765FE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 coins arrondis 8">
            <a:extLst>
              <a:ext uri="{FF2B5EF4-FFF2-40B4-BE49-F238E27FC236}">
                <a16:creationId xmlns:a16="http://schemas.microsoft.com/office/drawing/2014/main" id="{B265415E-1753-65F8-7E10-63FB9AA207CD}"/>
              </a:ext>
            </a:extLst>
          </p:cNvPr>
          <p:cNvSpPr/>
          <p:nvPr/>
        </p:nvSpPr>
        <p:spPr>
          <a:xfrm>
            <a:off x="1969478" y="1391694"/>
            <a:ext cx="6846277" cy="588472"/>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9" name="ZoneTexte 13">
            <a:extLst>
              <a:ext uri="{FF2B5EF4-FFF2-40B4-BE49-F238E27FC236}">
                <a16:creationId xmlns:a16="http://schemas.microsoft.com/office/drawing/2014/main" id="{92974161-15BA-E6A8-6EB6-DC8F69B172B2}"/>
              </a:ext>
            </a:extLst>
          </p:cNvPr>
          <p:cNvSpPr txBox="1"/>
          <p:nvPr/>
        </p:nvSpPr>
        <p:spPr>
          <a:xfrm>
            <a:off x="2093750" y="1392606"/>
            <a:ext cx="4550164"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Objectif initial</a:t>
            </a:r>
            <a:endParaRPr lang="fr-FR" noProof="0" dirty="0">
              <a:solidFill>
                <a:schemeClr val="bg2">
                  <a:lumMod val="25000"/>
                </a:schemeClr>
              </a:solidFill>
              <a:ea typeface="Calibri"/>
              <a:cs typeface="Calibri"/>
            </a:endParaRPr>
          </a:p>
        </p:txBody>
      </p:sp>
      <p:sp>
        <p:nvSpPr>
          <p:cNvPr id="10" name="ZoneTexte 13">
            <a:extLst>
              <a:ext uri="{FF2B5EF4-FFF2-40B4-BE49-F238E27FC236}">
                <a16:creationId xmlns:a16="http://schemas.microsoft.com/office/drawing/2014/main" id="{179D2C7E-98E1-0196-D876-DD6F1293B336}"/>
              </a:ext>
            </a:extLst>
          </p:cNvPr>
          <p:cNvSpPr txBox="1"/>
          <p:nvPr/>
        </p:nvSpPr>
        <p:spPr>
          <a:xfrm>
            <a:off x="2107118" y="1665134"/>
            <a:ext cx="6503482"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Comparer la </a:t>
            </a:r>
            <a:r>
              <a:rPr lang="fr-FR" sz="1200" b="1" noProof="0" dirty="0">
                <a:solidFill>
                  <a:schemeClr val="bg2">
                    <a:lumMod val="25000"/>
                  </a:schemeClr>
                </a:solidFill>
              </a:rPr>
              <a:t>cinématique </a:t>
            </a:r>
            <a:r>
              <a:rPr lang="fr-FR" sz="1200" noProof="0" dirty="0">
                <a:solidFill>
                  <a:schemeClr val="bg2">
                    <a:lumMod val="25000"/>
                  </a:schemeClr>
                </a:solidFill>
              </a:rPr>
              <a:t>des </a:t>
            </a:r>
            <a:r>
              <a:rPr lang="fr-FR" sz="1200" b="1" noProof="0" dirty="0">
                <a:solidFill>
                  <a:schemeClr val="bg2">
                    <a:lumMod val="25000"/>
                  </a:schemeClr>
                </a:solidFill>
              </a:rPr>
              <a:t>nuages moléculaires</a:t>
            </a:r>
            <a:r>
              <a:rPr lang="fr-FR" sz="1200" noProof="0" dirty="0">
                <a:solidFill>
                  <a:schemeClr val="bg2">
                    <a:lumMod val="25000"/>
                  </a:schemeClr>
                </a:solidFill>
              </a:rPr>
              <a:t> avec la </a:t>
            </a:r>
            <a:r>
              <a:rPr lang="fr-FR" sz="1200" b="1" noProof="0" dirty="0">
                <a:solidFill>
                  <a:schemeClr val="bg2">
                    <a:lumMod val="25000"/>
                  </a:schemeClr>
                </a:solidFill>
              </a:rPr>
              <a:t>cinématique </a:t>
            </a:r>
            <a:r>
              <a:rPr lang="fr-FR" sz="1200" noProof="0" dirty="0">
                <a:solidFill>
                  <a:schemeClr val="bg2">
                    <a:lumMod val="25000"/>
                  </a:schemeClr>
                </a:solidFill>
              </a:rPr>
              <a:t>des </a:t>
            </a:r>
            <a:r>
              <a:rPr lang="fr-FR" sz="1200" b="1" noProof="0" dirty="0">
                <a:solidFill>
                  <a:schemeClr val="bg2">
                    <a:lumMod val="25000"/>
                  </a:schemeClr>
                </a:solidFill>
              </a:rPr>
              <a:t>groupes d'étoiles OB</a:t>
            </a:r>
          </a:p>
        </p:txBody>
      </p:sp>
      <p:sp>
        <p:nvSpPr>
          <p:cNvPr id="14" name="Rectangle : coins arrondis 8">
            <a:extLst>
              <a:ext uri="{FF2B5EF4-FFF2-40B4-BE49-F238E27FC236}">
                <a16:creationId xmlns:a16="http://schemas.microsoft.com/office/drawing/2014/main" id="{625B4C2C-5E61-505C-9545-D052CB8E77CB}"/>
              </a:ext>
            </a:extLst>
          </p:cNvPr>
          <p:cNvSpPr/>
          <p:nvPr/>
        </p:nvSpPr>
        <p:spPr>
          <a:xfrm>
            <a:off x="719016" y="2200087"/>
            <a:ext cx="4259384" cy="338555"/>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15" name="ZoneTexte 13">
            <a:extLst>
              <a:ext uri="{FF2B5EF4-FFF2-40B4-BE49-F238E27FC236}">
                <a16:creationId xmlns:a16="http://schemas.microsoft.com/office/drawing/2014/main" id="{179A15D3-1EBB-BDD0-1895-2C182A29BA1D}"/>
              </a:ext>
            </a:extLst>
          </p:cNvPr>
          <p:cNvSpPr txBox="1"/>
          <p:nvPr/>
        </p:nvSpPr>
        <p:spPr>
          <a:xfrm>
            <a:off x="1343472" y="2192154"/>
            <a:ext cx="4550164" cy="338554"/>
          </a:xfrm>
          <a:prstGeom prst="rect">
            <a:avLst/>
          </a:prstGeom>
          <a:noFill/>
        </p:spPr>
        <p:txBody>
          <a:bodyPr wrap="square" lIns="91440" tIns="45720" rIns="91440" bIns="45720" rtlCol="0" anchor="t">
            <a:spAutoFit/>
          </a:bodyPr>
          <a:lstStyle/>
          <a:p>
            <a:r>
              <a:rPr lang="fr-FR" sz="1600" b="1" noProof="0" dirty="0">
                <a:solidFill>
                  <a:schemeClr val="bg1">
                    <a:lumMod val="95000"/>
                  </a:schemeClr>
                </a:solidFill>
              </a:rPr>
              <a:t>Phase 1: Données et préparation</a:t>
            </a:r>
            <a:endParaRPr lang="fr-FR" noProof="0" dirty="0">
              <a:solidFill>
                <a:schemeClr val="bg1">
                  <a:lumMod val="95000"/>
                </a:schemeClr>
              </a:solidFill>
            </a:endParaRPr>
          </a:p>
        </p:txBody>
      </p:sp>
      <p:pic>
        <p:nvPicPr>
          <p:cNvPr id="18" name="Graphic 17" descr="Bullseye with solid fill">
            <a:extLst>
              <a:ext uri="{FF2B5EF4-FFF2-40B4-BE49-F238E27FC236}">
                <a16:creationId xmlns:a16="http://schemas.microsoft.com/office/drawing/2014/main" id="{2DC4ED68-867D-4176-6806-91AC1D470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7974" y="1362463"/>
            <a:ext cx="670621" cy="670621"/>
          </a:xfrm>
          <a:prstGeom prst="rect">
            <a:avLst/>
          </a:prstGeom>
        </p:spPr>
      </p:pic>
      <p:sp>
        <p:nvSpPr>
          <p:cNvPr id="17" name="Rectangle : coins arrondis 8">
            <a:extLst>
              <a:ext uri="{FF2B5EF4-FFF2-40B4-BE49-F238E27FC236}">
                <a16:creationId xmlns:a16="http://schemas.microsoft.com/office/drawing/2014/main" id="{60CC388F-A01A-D990-A66A-E965E32DEA2D}"/>
              </a:ext>
            </a:extLst>
          </p:cNvPr>
          <p:cNvSpPr/>
          <p:nvPr/>
        </p:nvSpPr>
        <p:spPr>
          <a:xfrm>
            <a:off x="678451" y="2675654"/>
            <a:ext cx="4299950" cy="1153223"/>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19" name="ZoneTexte 13">
            <a:extLst>
              <a:ext uri="{FF2B5EF4-FFF2-40B4-BE49-F238E27FC236}">
                <a16:creationId xmlns:a16="http://schemas.microsoft.com/office/drawing/2014/main" id="{A5D2649B-DDA6-4B9A-6212-E002636CE48A}"/>
              </a:ext>
            </a:extLst>
          </p:cNvPr>
          <p:cNvSpPr txBox="1"/>
          <p:nvPr/>
        </p:nvSpPr>
        <p:spPr>
          <a:xfrm>
            <a:off x="807733" y="2669711"/>
            <a:ext cx="3181634" cy="338554"/>
          </a:xfrm>
          <a:prstGeom prst="rect">
            <a:avLst/>
          </a:prstGeom>
          <a:noFill/>
        </p:spPr>
        <p:txBody>
          <a:bodyPr wrap="square" lIns="91440" tIns="45720" rIns="91440" bIns="45720" rtlCol="0" anchor="t">
            <a:spAutoFit/>
          </a:bodyPr>
          <a:lstStyle/>
          <a:p>
            <a:r>
              <a:rPr lang="fr-FR" sz="1600" b="1" noProof="0" dirty="0">
                <a:solidFill>
                  <a:srgbClr val="0F172A"/>
                </a:solidFill>
              </a:rPr>
              <a:t>Prérequis</a:t>
            </a:r>
            <a:endParaRPr lang="fr-FR" noProof="0" dirty="0">
              <a:solidFill>
                <a:srgbClr val="0F172A"/>
              </a:solidFill>
            </a:endParaRPr>
          </a:p>
        </p:txBody>
      </p:sp>
      <p:cxnSp>
        <p:nvCxnSpPr>
          <p:cNvPr id="20" name="Connecteur droit 4">
            <a:extLst>
              <a:ext uri="{FF2B5EF4-FFF2-40B4-BE49-F238E27FC236}">
                <a16:creationId xmlns:a16="http://schemas.microsoft.com/office/drawing/2014/main" id="{F4D93828-7BA6-F524-A997-4A06FEC5B08D}"/>
              </a:ext>
            </a:extLst>
          </p:cNvPr>
          <p:cNvCxnSpPr>
            <a:cxnSpLocks/>
          </p:cNvCxnSpPr>
          <p:nvPr/>
        </p:nvCxnSpPr>
        <p:spPr>
          <a:xfrm flipV="1">
            <a:off x="5814646" y="2200087"/>
            <a:ext cx="0" cy="3622375"/>
          </a:xfrm>
          <a:prstGeom prst="line">
            <a:avLst/>
          </a:prstGeom>
          <a:ln>
            <a:solidFill>
              <a:srgbClr val="2596BE"/>
            </a:solidFill>
          </a:ln>
        </p:spPr>
        <p:style>
          <a:lnRef idx="1">
            <a:schemeClr val="accent1"/>
          </a:lnRef>
          <a:fillRef idx="0">
            <a:schemeClr val="accent1"/>
          </a:fillRef>
          <a:effectRef idx="0">
            <a:schemeClr val="accent1"/>
          </a:effectRef>
          <a:fontRef idx="minor">
            <a:schemeClr val="tx1"/>
          </a:fontRef>
        </p:style>
      </p:cxnSp>
      <p:sp>
        <p:nvSpPr>
          <p:cNvPr id="23" name="ZoneTexte 13">
            <a:extLst>
              <a:ext uri="{FF2B5EF4-FFF2-40B4-BE49-F238E27FC236}">
                <a16:creationId xmlns:a16="http://schemas.microsoft.com/office/drawing/2014/main" id="{0F09AD11-8038-5854-774C-BA67A547E029}"/>
              </a:ext>
            </a:extLst>
          </p:cNvPr>
          <p:cNvSpPr txBox="1"/>
          <p:nvPr/>
        </p:nvSpPr>
        <p:spPr>
          <a:xfrm>
            <a:off x="940627" y="3003072"/>
            <a:ext cx="4002216" cy="276999"/>
          </a:xfrm>
          <a:prstGeom prst="rect">
            <a:avLst/>
          </a:prstGeom>
          <a:noFill/>
        </p:spPr>
        <p:txBody>
          <a:bodyPr wrap="square" lIns="91440" tIns="45720" rIns="91440" bIns="45720" rtlCol="0" anchor="t">
            <a:spAutoFit/>
          </a:bodyPr>
          <a:lstStyle/>
          <a:p>
            <a:r>
              <a:rPr lang="fr-FR" sz="1200" noProof="0" dirty="0">
                <a:solidFill>
                  <a:srgbClr val="0F172A"/>
                </a:solidFill>
              </a:rPr>
              <a:t>Comprendre les publications en </a:t>
            </a:r>
            <a:r>
              <a:rPr lang="fr-FR" sz="1200" b="1" noProof="0" dirty="0">
                <a:solidFill>
                  <a:srgbClr val="0F172A"/>
                </a:solidFill>
              </a:rPr>
              <a:t>recalculant les vitesses</a:t>
            </a:r>
            <a:endParaRPr lang="fr-FR" sz="1400" b="1" noProof="0" dirty="0">
              <a:solidFill>
                <a:srgbClr val="0F172A"/>
              </a:solidFill>
            </a:endParaRPr>
          </a:p>
        </p:txBody>
      </p:sp>
      <p:sp>
        <p:nvSpPr>
          <p:cNvPr id="24" name="L-Shape 23">
            <a:extLst>
              <a:ext uri="{FF2B5EF4-FFF2-40B4-BE49-F238E27FC236}">
                <a16:creationId xmlns:a16="http://schemas.microsoft.com/office/drawing/2014/main" id="{929F6A02-D26D-980C-342A-6C0F5B57E4FC}"/>
              </a:ext>
            </a:extLst>
          </p:cNvPr>
          <p:cNvSpPr/>
          <p:nvPr/>
        </p:nvSpPr>
        <p:spPr>
          <a:xfrm rot="13691150">
            <a:off x="893307" y="3115146"/>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5" name="ZoneTexte 13">
            <a:extLst>
              <a:ext uri="{FF2B5EF4-FFF2-40B4-BE49-F238E27FC236}">
                <a16:creationId xmlns:a16="http://schemas.microsoft.com/office/drawing/2014/main" id="{B8928D82-EA18-9406-58DF-8A053B26FB3E}"/>
              </a:ext>
            </a:extLst>
          </p:cNvPr>
          <p:cNvSpPr txBox="1"/>
          <p:nvPr/>
        </p:nvSpPr>
        <p:spPr>
          <a:xfrm>
            <a:off x="928045" y="3318758"/>
            <a:ext cx="4002216" cy="276999"/>
          </a:xfrm>
          <a:prstGeom prst="rect">
            <a:avLst/>
          </a:prstGeom>
          <a:noFill/>
        </p:spPr>
        <p:txBody>
          <a:bodyPr wrap="square" lIns="91440" tIns="45720" rIns="91440" bIns="45720" rtlCol="0" anchor="t">
            <a:spAutoFit/>
          </a:bodyPr>
          <a:lstStyle/>
          <a:p>
            <a:r>
              <a:rPr lang="fr-FR" sz="1200" noProof="0" dirty="0">
                <a:solidFill>
                  <a:srgbClr val="0F172A"/>
                </a:solidFill>
              </a:rPr>
              <a:t>Déterminer les </a:t>
            </a:r>
            <a:r>
              <a:rPr lang="fr-FR" sz="1200" b="1" noProof="0" dirty="0">
                <a:solidFill>
                  <a:srgbClr val="0F172A"/>
                </a:solidFill>
              </a:rPr>
              <a:t>hypothèses structurantes </a:t>
            </a:r>
            <a:r>
              <a:rPr lang="fr-FR" sz="1200" noProof="0" dirty="0">
                <a:solidFill>
                  <a:srgbClr val="0F172A"/>
                </a:solidFill>
              </a:rPr>
              <a:t>les plus à jour</a:t>
            </a:r>
          </a:p>
        </p:txBody>
      </p:sp>
      <p:sp>
        <p:nvSpPr>
          <p:cNvPr id="26" name="L-Shape 25">
            <a:extLst>
              <a:ext uri="{FF2B5EF4-FFF2-40B4-BE49-F238E27FC236}">
                <a16:creationId xmlns:a16="http://schemas.microsoft.com/office/drawing/2014/main" id="{BA18AE41-E114-9468-95BB-9043C1E6B7E0}"/>
              </a:ext>
            </a:extLst>
          </p:cNvPr>
          <p:cNvSpPr/>
          <p:nvPr/>
        </p:nvSpPr>
        <p:spPr>
          <a:xfrm rot="13691150">
            <a:off x="880725" y="343083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Rectangle : coins arrondis 8">
            <a:extLst>
              <a:ext uri="{FF2B5EF4-FFF2-40B4-BE49-F238E27FC236}">
                <a16:creationId xmlns:a16="http://schemas.microsoft.com/office/drawing/2014/main" id="{039A5409-57D5-3EE0-ECDB-3C177B88309B}"/>
              </a:ext>
            </a:extLst>
          </p:cNvPr>
          <p:cNvSpPr/>
          <p:nvPr/>
        </p:nvSpPr>
        <p:spPr>
          <a:xfrm>
            <a:off x="678451" y="4030830"/>
            <a:ext cx="4299950" cy="1856356"/>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28" name="ZoneTexte 13">
            <a:extLst>
              <a:ext uri="{FF2B5EF4-FFF2-40B4-BE49-F238E27FC236}">
                <a16:creationId xmlns:a16="http://schemas.microsoft.com/office/drawing/2014/main" id="{36FC0739-EB8B-F524-91F4-49E59BE17E80}"/>
              </a:ext>
            </a:extLst>
          </p:cNvPr>
          <p:cNvSpPr txBox="1"/>
          <p:nvPr/>
        </p:nvSpPr>
        <p:spPr>
          <a:xfrm>
            <a:off x="807733" y="4024887"/>
            <a:ext cx="3181634" cy="338554"/>
          </a:xfrm>
          <a:prstGeom prst="rect">
            <a:avLst/>
          </a:prstGeom>
          <a:noFill/>
        </p:spPr>
        <p:txBody>
          <a:bodyPr wrap="square" lIns="91440" tIns="45720" rIns="91440" bIns="45720" rtlCol="0" anchor="t">
            <a:spAutoFit/>
          </a:bodyPr>
          <a:lstStyle/>
          <a:p>
            <a:r>
              <a:rPr lang="fr-FR" sz="1600" b="1" noProof="0" dirty="0">
                <a:solidFill>
                  <a:srgbClr val="0F172A"/>
                </a:solidFill>
              </a:rPr>
              <a:t>Acquisition de données</a:t>
            </a:r>
            <a:endParaRPr lang="fr-FR" noProof="0" dirty="0">
              <a:solidFill>
                <a:srgbClr val="0F172A"/>
              </a:solidFill>
            </a:endParaRPr>
          </a:p>
        </p:txBody>
      </p:sp>
      <p:sp>
        <p:nvSpPr>
          <p:cNvPr id="29" name="ZoneTexte 13">
            <a:extLst>
              <a:ext uri="{FF2B5EF4-FFF2-40B4-BE49-F238E27FC236}">
                <a16:creationId xmlns:a16="http://schemas.microsoft.com/office/drawing/2014/main" id="{49151999-B671-3943-26F3-BCCC381A8174}"/>
              </a:ext>
            </a:extLst>
          </p:cNvPr>
          <p:cNvSpPr txBox="1"/>
          <p:nvPr/>
        </p:nvSpPr>
        <p:spPr>
          <a:xfrm>
            <a:off x="940627" y="4358248"/>
            <a:ext cx="4002216" cy="461665"/>
          </a:xfrm>
          <a:prstGeom prst="rect">
            <a:avLst/>
          </a:prstGeom>
          <a:noFill/>
        </p:spPr>
        <p:txBody>
          <a:bodyPr wrap="square" lIns="91440" tIns="45720" rIns="91440" bIns="45720" rtlCol="0" anchor="t">
            <a:spAutoFit/>
          </a:bodyPr>
          <a:lstStyle/>
          <a:p>
            <a:r>
              <a:rPr lang="fr-FR" sz="1200" b="1" noProof="0" dirty="0">
                <a:solidFill>
                  <a:srgbClr val="0F172A"/>
                </a:solidFill>
              </a:rPr>
              <a:t>Recalculer les vitesses </a:t>
            </a:r>
            <a:r>
              <a:rPr lang="fr-FR" sz="1200" noProof="0" dirty="0">
                <a:solidFill>
                  <a:srgbClr val="0F172A"/>
                </a:solidFill>
              </a:rPr>
              <a:t>et les </a:t>
            </a:r>
            <a:r>
              <a:rPr lang="fr-FR" sz="1200" b="1" noProof="0" dirty="0">
                <a:solidFill>
                  <a:srgbClr val="0F172A"/>
                </a:solidFill>
              </a:rPr>
              <a:t>positions</a:t>
            </a:r>
            <a:r>
              <a:rPr lang="fr-FR" sz="1200" noProof="0" dirty="0">
                <a:solidFill>
                  <a:srgbClr val="0F172A"/>
                </a:solidFill>
              </a:rPr>
              <a:t> des nuages et des amas</a:t>
            </a:r>
            <a:endParaRPr lang="fr-FR" sz="1400" noProof="0" dirty="0">
              <a:solidFill>
                <a:srgbClr val="0F172A"/>
              </a:solidFill>
            </a:endParaRPr>
          </a:p>
        </p:txBody>
      </p:sp>
      <p:sp>
        <p:nvSpPr>
          <p:cNvPr id="30" name="L-Shape 29">
            <a:extLst>
              <a:ext uri="{FF2B5EF4-FFF2-40B4-BE49-F238E27FC236}">
                <a16:creationId xmlns:a16="http://schemas.microsoft.com/office/drawing/2014/main" id="{1B2DAB41-35F2-BBDB-6069-C249E0518589}"/>
              </a:ext>
            </a:extLst>
          </p:cNvPr>
          <p:cNvSpPr/>
          <p:nvPr/>
        </p:nvSpPr>
        <p:spPr>
          <a:xfrm rot="13691150">
            <a:off x="893307" y="447032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1" name="ZoneTexte 13">
            <a:extLst>
              <a:ext uri="{FF2B5EF4-FFF2-40B4-BE49-F238E27FC236}">
                <a16:creationId xmlns:a16="http://schemas.microsoft.com/office/drawing/2014/main" id="{B738015C-63F2-2C91-D8AC-B315E3D0372D}"/>
              </a:ext>
            </a:extLst>
          </p:cNvPr>
          <p:cNvSpPr txBox="1"/>
          <p:nvPr/>
        </p:nvSpPr>
        <p:spPr>
          <a:xfrm>
            <a:off x="928045" y="4791165"/>
            <a:ext cx="4002216" cy="461665"/>
          </a:xfrm>
          <a:prstGeom prst="rect">
            <a:avLst/>
          </a:prstGeom>
          <a:noFill/>
        </p:spPr>
        <p:txBody>
          <a:bodyPr wrap="square" lIns="91440" tIns="45720" rIns="91440" bIns="45720" rtlCol="0" anchor="t">
            <a:spAutoFit/>
          </a:bodyPr>
          <a:lstStyle/>
          <a:p>
            <a:r>
              <a:rPr lang="fr-FR" sz="1200" noProof="0" dirty="0">
                <a:solidFill>
                  <a:srgbClr val="0F172A"/>
                </a:solidFill>
              </a:rPr>
              <a:t>Présenter les résultats dans </a:t>
            </a:r>
            <a:r>
              <a:rPr lang="fr-FR" sz="1200" b="1" noProof="0" dirty="0">
                <a:solidFill>
                  <a:srgbClr val="0F172A"/>
                </a:solidFill>
              </a:rPr>
              <a:t>différents référentiels </a:t>
            </a:r>
            <a:r>
              <a:rPr lang="fr-FR" sz="1200" noProof="0" dirty="0">
                <a:solidFill>
                  <a:srgbClr val="0F172A"/>
                </a:solidFill>
              </a:rPr>
              <a:t>et </a:t>
            </a:r>
            <a:r>
              <a:rPr lang="fr-FR" sz="1200" b="1" noProof="0" dirty="0">
                <a:solidFill>
                  <a:srgbClr val="0F172A"/>
                </a:solidFill>
              </a:rPr>
              <a:t>en 3D </a:t>
            </a:r>
            <a:r>
              <a:rPr lang="fr-FR" sz="1200" noProof="0" dirty="0">
                <a:solidFill>
                  <a:srgbClr val="0F172A"/>
                </a:solidFill>
              </a:rPr>
              <a:t>afin de s’affranchir des biais 2D</a:t>
            </a:r>
          </a:p>
        </p:txBody>
      </p:sp>
      <p:sp>
        <p:nvSpPr>
          <p:cNvPr id="32" name="L-Shape 31">
            <a:extLst>
              <a:ext uri="{FF2B5EF4-FFF2-40B4-BE49-F238E27FC236}">
                <a16:creationId xmlns:a16="http://schemas.microsoft.com/office/drawing/2014/main" id="{DF472CA2-BCDA-656E-D1A0-3FBFAF141073}"/>
              </a:ext>
            </a:extLst>
          </p:cNvPr>
          <p:cNvSpPr/>
          <p:nvPr/>
        </p:nvSpPr>
        <p:spPr>
          <a:xfrm rot="13691150">
            <a:off x="880725" y="490323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3" name="ZoneTexte 13">
            <a:extLst>
              <a:ext uri="{FF2B5EF4-FFF2-40B4-BE49-F238E27FC236}">
                <a16:creationId xmlns:a16="http://schemas.microsoft.com/office/drawing/2014/main" id="{02A1439B-C108-23D9-DA6E-29D9D185B0B3}"/>
              </a:ext>
            </a:extLst>
          </p:cNvPr>
          <p:cNvSpPr txBox="1"/>
          <p:nvPr/>
        </p:nvSpPr>
        <p:spPr>
          <a:xfrm>
            <a:off x="922866" y="5253428"/>
            <a:ext cx="4002216" cy="461665"/>
          </a:xfrm>
          <a:prstGeom prst="rect">
            <a:avLst/>
          </a:prstGeom>
          <a:noFill/>
        </p:spPr>
        <p:txBody>
          <a:bodyPr wrap="square" lIns="91440" tIns="45720" rIns="91440" bIns="45720" rtlCol="0" anchor="t">
            <a:spAutoFit/>
          </a:bodyPr>
          <a:lstStyle/>
          <a:p>
            <a:r>
              <a:rPr lang="fr-FR" sz="1200" noProof="0" dirty="0">
                <a:solidFill>
                  <a:srgbClr val="0F172A"/>
                </a:solidFill>
              </a:rPr>
              <a:t>Effectuer un </a:t>
            </a:r>
            <a:r>
              <a:rPr lang="fr-FR" sz="1200" b="1" noProof="0" dirty="0">
                <a:solidFill>
                  <a:srgbClr val="0F172A"/>
                </a:solidFill>
              </a:rPr>
              <a:t>traceback</a:t>
            </a:r>
            <a:r>
              <a:rPr lang="fr-FR" sz="1200" noProof="0" dirty="0">
                <a:solidFill>
                  <a:srgbClr val="0F172A"/>
                </a:solidFill>
              </a:rPr>
              <a:t> afin d’obtenir les </a:t>
            </a:r>
            <a:r>
              <a:rPr lang="fr-FR" sz="1200" b="1" noProof="0" dirty="0">
                <a:solidFill>
                  <a:srgbClr val="0F172A"/>
                </a:solidFill>
              </a:rPr>
              <a:t>âges cinématiques </a:t>
            </a:r>
            <a:r>
              <a:rPr lang="fr-FR" sz="1200" noProof="0" dirty="0">
                <a:solidFill>
                  <a:srgbClr val="0F172A"/>
                </a:solidFill>
              </a:rPr>
              <a:t>des amas d’étoiles</a:t>
            </a:r>
          </a:p>
        </p:txBody>
      </p:sp>
      <p:sp>
        <p:nvSpPr>
          <p:cNvPr id="34" name="L-Shape 33">
            <a:extLst>
              <a:ext uri="{FF2B5EF4-FFF2-40B4-BE49-F238E27FC236}">
                <a16:creationId xmlns:a16="http://schemas.microsoft.com/office/drawing/2014/main" id="{15D878A3-7343-C7B5-0348-95CC87165E04}"/>
              </a:ext>
            </a:extLst>
          </p:cNvPr>
          <p:cNvSpPr/>
          <p:nvPr/>
        </p:nvSpPr>
        <p:spPr>
          <a:xfrm rot="13691150">
            <a:off x="875546" y="536550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5" name="Rectangle : coins arrondis 8">
            <a:extLst>
              <a:ext uri="{FF2B5EF4-FFF2-40B4-BE49-F238E27FC236}">
                <a16:creationId xmlns:a16="http://schemas.microsoft.com/office/drawing/2014/main" id="{FE021B49-02CE-CE2B-0714-4E8F2EE0BAB9}"/>
              </a:ext>
            </a:extLst>
          </p:cNvPr>
          <p:cNvSpPr/>
          <p:nvPr/>
        </p:nvSpPr>
        <p:spPr>
          <a:xfrm>
            <a:off x="6688015" y="2200086"/>
            <a:ext cx="4259384" cy="338555"/>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36" name="ZoneTexte 13">
            <a:extLst>
              <a:ext uri="{FF2B5EF4-FFF2-40B4-BE49-F238E27FC236}">
                <a16:creationId xmlns:a16="http://schemas.microsoft.com/office/drawing/2014/main" id="{32C5FC8E-D1FE-24DD-A95A-5258D9B7AA9A}"/>
              </a:ext>
            </a:extLst>
          </p:cNvPr>
          <p:cNvSpPr txBox="1"/>
          <p:nvPr/>
        </p:nvSpPr>
        <p:spPr>
          <a:xfrm>
            <a:off x="7500039" y="2551771"/>
            <a:ext cx="4550164" cy="338554"/>
          </a:xfrm>
          <a:prstGeom prst="rect">
            <a:avLst/>
          </a:prstGeom>
          <a:noFill/>
        </p:spPr>
        <p:txBody>
          <a:bodyPr wrap="square" lIns="91440" tIns="45720" rIns="91440" bIns="45720" rtlCol="0" anchor="t">
            <a:spAutoFit/>
          </a:bodyPr>
          <a:lstStyle/>
          <a:p>
            <a:r>
              <a:rPr lang="fr-FR" sz="1600" b="1" noProof="0" dirty="0">
                <a:solidFill>
                  <a:schemeClr val="bg1">
                    <a:lumMod val="95000"/>
                  </a:schemeClr>
                </a:solidFill>
              </a:rPr>
              <a:t>Phase 2: Analyse et synthèse</a:t>
            </a:r>
            <a:endParaRPr lang="fr-FR" noProof="0" dirty="0">
              <a:solidFill>
                <a:schemeClr val="bg1">
                  <a:lumMod val="95000"/>
                </a:schemeClr>
              </a:solidFill>
            </a:endParaRPr>
          </a:p>
        </p:txBody>
      </p:sp>
      <p:sp>
        <p:nvSpPr>
          <p:cNvPr id="37" name="Rectangle : coins arrondis 8">
            <a:extLst>
              <a:ext uri="{FF2B5EF4-FFF2-40B4-BE49-F238E27FC236}">
                <a16:creationId xmlns:a16="http://schemas.microsoft.com/office/drawing/2014/main" id="{0CD72EFC-2B94-BE5A-0202-C7674A3D1B11}"/>
              </a:ext>
            </a:extLst>
          </p:cNvPr>
          <p:cNvSpPr/>
          <p:nvPr/>
        </p:nvSpPr>
        <p:spPr>
          <a:xfrm>
            <a:off x="6665780" y="2669710"/>
            <a:ext cx="4299950" cy="2684133"/>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38" name="ZoneTexte 13">
            <a:extLst>
              <a:ext uri="{FF2B5EF4-FFF2-40B4-BE49-F238E27FC236}">
                <a16:creationId xmlns:a16="http://schemas.microsoft.com/office/drawing/2014/main" id="{CEB27ACD-B5F2-F399-126C-2A915356FFC7}"/>
              </a:ext>
            </a:extLst>
          </p:cNvPr>
          <p:cNvSpPr txBox="1"/>
          <p:nvPr/>
        </p:nvSpPr>
        <p:spPr>
          <a:xfrm>
            <a:off x="6795062" y="2663768"/>
            <a:ext cx="3181634" cy="338554"/>
          </a:xfrm>
          <a:prstGeom prst="rect">
            <a:avLst/>
          </a:prstGeom>
          <a:noFill/>
        </p:spPr>
        <p:txBody>
          <a:bodyPr wrap="square" lIns="91440" tIns="45720" rIns="91440" bIns="45720" rtlCol="0" anchor="t">
            <a:spAutoFit/>
          </a:bodyPr>
          <a:lstStyle/>
          <a:p>
            <a:r>
              <a:rPr lang="fr-FR" sz="1600" b="1" noProof="0" dirty="0">
                <a:solidFill>
                  <a:srgbClr val="0F172A"/>
                </a:solidFill>
              </a:rPr>
              <a:t>Comparaison cinématique</a:t>
            </a:r>
            <a:endParaRPr lang="fr-FR" noProof="0" dirty="0">
              <a:solidFill>
                <a:srgbClr val="0F172A"/>
              </a:solidFill>
            </a:endParaRPr>
          </a:p>
        </p:txBody>
      </p:sp>
      <p:sp>
        <p:nvSpPr>
          <p:cNvPr id="39" name="ZoneTexte 13">
            <a:extLst>
              <a:ext uri="{FF2B5EF4-FFF2-40B4-BE49-F238E27FC236}">
                <a16:creationId xmlns:a16="http://schemas.microsoft.com/office/drawing/2014/main" id="{FD19FDF9-2AB7-8C5C-2FB3-475CD997384B}"/>
              </a:ext>
            </a:extLst>
          </p:cNvPr>
          <p:cNvSpPr txBox="1"/>
          <p:nvPr/>
        </p:nvSpPr>
        <p:spPr>
          <a:xfrm>
            <a:off x="6927956" y="2997129"/>
            <a:ext cx="4002216" cy="461665"/>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Comparer la </a:t>
            </a:r>
            <a:r>
              <a:rPr lang="fr-FR" sz="1200" b="1" noProof="0" dirty="0">
                <a:solidFill>
                  <a:schemeClr val="bg2">
                    <a:lumMod val="25000"/>
                  </a:schemeClr>
                </a:solidFill>
              </a:rPr>
              <a:t>cinématique </a:t>
            </a:r>
            <a:r>
              <a:rPr lang="fr-FR" sz="1200" noProof="0" dirty="0">
                <a:solidFill>
                  <a:schemeClr val="bg2">
                    <a:lumMod val="25000"/>
                  </a:schemeClr>
                </a:solidFill>
              </a:rPr>
              <a:t>des </a:t>
            </a:r>
            <a:r>
              <a:rPr lang="fr-FR" sz="1200" b="1" noProof="0" dirty="0">
                <a:solidFill>
                  <a:schemeClr val="bg2">
                    <a:lumMod val="25000"/>
                  </a:schemeClr>
                </a:solidFill>
              </a:rPr>
              <a:t>nuages moléculaires</a:t>
            </a:r>
            <a:r>
              <a:rPr lang="fr-FR" sz="1200" noProof="0" dirty="0">
                <a:solidFill>
                  <a:schemeClr val="bg2">
                    <a:lumMod val="25000"/>
                  </a:schemeClr>
                </a:solidFill>
              </a:rPr>
              <a:t> avec la </a:t>
            </a:r>
            <a:r>
              <a:rPr lang="fr-FR" sz="1200" b="1" noProof="0" dirty="0">
                <a:solidFill>
                  <a:schemeClr val="bg2">
                    <a:lumMod val="25000"/>
                  </a:schemeClr>
                </a:solidFill>
              </a:rPr>
              <a:t>cinématique </a:t>
            </a:r>
            <a:r>
              <a:rPr lang="fr-FR" sz="1200" noProof="0" dirty="0">
                <a:solidFill>
                  <a:schemeClr val="bg2">
                    <a:lumMod val="25000"/>
                  </a:schemeClr>
                </a:solidFill>
              </a:rPr>
              <a:t>des </a:t>
            </a:r>
            <a:r>
              <a:rPr lang="fr-FR" sz="1200" b="1" noProof="0" dirty="0">
                <a:solidFill>
                  <a:schemeClr val="bg2">
                    <a:lumMod val="25000"/>
                  </a:schemeClr>
                </a:solidFill>
              </a:rPr>
              <a:t>groupes d'étoiles OB</a:t>
            </a:r>
          </a:p>
        </p:txBody>
      </p:sp>
      <p:sp>
        <p:nvSpPr>
          <p:cNvPr id="40" name="L-Shape 39">
            <a:extLst>
              <a:ext uri="{FF2B5EF4-FFF2-40B4-BE49-F238E27FC236}">
                <a16:creationId xmlns:a16="http://schemas.microsoft.com/office/drawing/2014/main" id="{84CE8901-1639-8B66-DB39-E8872A3C2D5B}"/>
              </a:ext>
            </a:extLst>
          </p:cNvPr>
          <p:cNvSpPr/>
          <p:nvPr/>
        </p:nvSpPr>
        <p:spPr>
          <a:xfrm rot="13691150">
            <a:off x="6880636" y="3109203"/>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ZoneTexte 13">
            <a:extLst>
              <a:ext uri="{FF2B5EF4-FFF2-40B4-BE49-F238E27FC236}">
                <a16:creationId xmlns:a16="http://schemas.microsoft.com/office/drawing/2014/main" id="{6F19EF6E-AD01-FE75-2503-B71FE5645584}"/>
              </a:ext>
            </a:extLst>
          </p:cNvPr>
          <p:cNvSpPr txBox="1"/>
          <p:nvPr/>
        </p:nvSpPr>
        <p:spPr>
          <a:xfrm>
            <a:off x="7392229" y="2196238"/>
            <a:ext cx="2847052" cy="338554"/>
          </a:xfrm>
          <a:prstGeom prst="rect">
            <a:avLst/>
          </a:prstGeom>
          <a:noFill/>
        </p:spPr>
        <p:txBody>
          <a:bodyPr wrap="square" lIns="91440" tIns="45720" rIns="91440" bIns="45720" rtlCol="0" anchor="t">
            <a:spAutoFit/>
          </a:bodyPr>
          <a:lstStyle/>
          <a:p>
            <a:pPr algn="ctr"/>
            <a:r>
              <a:rPr lang="fr-FR" sz="1600" b="1" noProof="0" dirty="0">
                <a:solidFill>
                  <a:schemeClr val="bg1">
                    <a:lumMod val="95000"/>
                  </a:schemeClr>
                </a:solidFill>
              </a:rPr>
              <a:t>Phase 2: Analyse et synthèse</a:t>
            </a:r>
            <a:endParaRPr lang="fr-FR" noProof="0" dirty="0">
              <a:solidFill>
                <a:schemeClr val="bg1">
                  <a:lumMod val="95000"/>
                </a:schemeClr>
              </a:solidFill>
            </a:endParaRPr>
          </a:p>
        </p:txBody>
      </p:sp>
      <p:sp>
        <p:nvSpPr>
          <p:cNvPr id="54" name="Rectangle : coins arrondis 8">
            <a:extLst>
              <a:ext uri="{FF2B5EF4-FFF2-40B4-BE49-F238E27FC236}">
                <a16:creationId xmlns:a16="http://schemas.microsoft.com/office/drawing/2014/main" id="{457A81BE-3240-40C6-FA08-E3F4C303CE99}"/>
              </a:ext>
            </a:extLst>
          </p:cNvPr>
          <p:cNvSpPr/>
          <p:nvPr/>
        </p:nvSpPr>
        <p:spPr>
          <a:xfrm>
            <a:off x="1969478" y="6060853"/>
            <a:ext cx="6846276" cy="588472"/>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55" name="ZoneTexte 13">
            <a:extLst>
              <a:ext uri="{FF2B5EF4-FFF2-40B4-BE49-F238E27FC236}">
                <a16:creationId xmlns:a16="http://schemas.microsoft.com/office/drawing/2014/main" id="{1C0385C3-6725-7AD1-973B-FC30ECAA09B3}"/>
              </a:ext>
            </a:extLst>
          </p:cNvPr>
          <p:cNvSpPr txBox="1"/>
          <p:nvPr/>
        </p:nvSpPr>
        <p:spPr>
          <a:xfrm>
            <a:off x="2093749" y="6061765"/>
            <a:ext cx="4550164"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Objectif final</a:t>
            </a:r>
            <a:endParaRPr lang="fr-FR" noProof="0" dirty="0">
              <a:solidFill>
                <a:schemeClr val="bg2">
                  <a:lumMod val="25000"/>
                </a:schemeClr>
              </a:solidFill>
              <a:ea typeface="Calibri"/>
              <a:cs typeface="Calibri"/>
            </a:endParaRPr>
          </a:p>
        </p:txBody>
      </p:sp>
      <p:sp>
        <p:nvSpPr>
          <p:cNvPr id="56" name="ZoneTexte 13">
            <a:extLst>
              <a:ext uri="{FF2B5EF4-FFF2-40B4-BE49-F238E27FC236}">
                <a16:creationId xmlns:a16="http://schemas.microsoft.com/office/drawing/2014/main" id="{CE1B5D1C-CEAE-E902-256C-E599526ABDDC}"/>
              </a:ext>
            </a:extLst>
          </p:cNvPr>
          <p:cNvSpPr txBox="1"/>
          <p:nvPr/>
        </p:nvSpPr>
        <p:spPr>
          <a:xfrm>
            <a:off x="2107117" y="6334293"/>
            <a:ext cx="6503482"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Proposer un </a:t>
            </a:r>
            <a:r>
              <a:rPr lang="fr-FR" sz="1200" b="1" noProof="0" dirty="0">
                <a:solidFill>
                  <a:schemeClr val="bg2">
                    <a:lumMod val="25000"/>
                  </a:schemeClr>
                </a:solidFill>
              </a:rPr>
              <a:t>scénario complet </a:t>
            </a:r>
            <a:r>
              <a:rPr lang="fr-FR" sz="1200" noProof="0" dirty="0">
                <a:solidFill>
                  <a:schemeClr val="bg2">
                    <a:lumMod val="25000"/>
                  </a:schemeClr>
                </a:solidFill>
              </a:rPr>
              <a:t>de </a:t>
            </a:r>
            <a:r>
              <a:rPr lang="fr-FR" sz="1200" b="1" noProof="0" dirty="0">
                <a:solidFill>
                  <a:schemeClr val="bg2">
                    <a:lumMod val="25000"/>
                  </a:schemeClr>
                </a:solidFill>
              </a:rPr>
              <a:t>formation d’amas d’étoiles massives </a:t>
            </a:r>
            <a:r>
              <a:rPr lang="fr-FR" sz="1200" noProof="0" dirty="0">
                <a:solidFill>
                  <a:schemeClr val="bg2">
                    <a:lumMod val="25000"/>
                  </a:schemeClr>
                </a:solidFill>
              </a:rPr>
              <a:t>au sein de la région du Cygne</a:t>
            </a:r>
            <a:endParaRPr lang="fr-FR" sz="1200" b="1" noProof="0" dirty="0">
              <a:solidFill>
                <a:schemeClr val="bg2">
                  <a:lumMod val="25000"/>
                </a:schemeClr>
              </a:solidFill>
            </a:endParaRPr>
          </a:p>
        </p:txBody>
      </p:sp>
      <p:pic>
        <p:nvPicPr>
          <p:cNvPr id="57" name="Graphic 56" descr="Bullseye with solid fill">
            <a:extLst>
              <a:ext uri="{FF2B5EF4-FFF2-40B4-BE49-F238E27FC236}">
                <a16:creationId xmlns:a16="http://schemas.microsoft.com/office/drawing/2014/main" id="{29EA5825-11C8-AAAB-4A0B-E40E4AE09C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8792" y="6031872"/>
            <a:ext cx="670621" cy="670621"/>
          </a:xfrm>
          <a:prstGeom prst="rect">
            <a:avLst/>
          </a:prstGeom>
        </p:spPr>
      </p:pic>
      <p:sp>
        <p:nvSpPr>
          <p:cNvPr id="58" name="ZoneTexte 13">
            <a:extLst>
              <a:ext uri="{FF2B5EF4-FFF2-40B4-BE49-F238E27FC236}">
                <a16:creationId xmlns:a16="http://schemas.microsoft.com/office/drawing/2014/main" id="{7C156672-C6CD-C09A-15F1-8B7446A6B4B0}"/>
              </a:ext>
            </a:extLst>
          </p:cNvPr>
          <p:cNvSpPr txBox="1"/>
          <p:nvPr/>
        </p:nvSpPr>
        <p:spPr>
          <a:xfrm>
            <a:off x="6927956" y="3561621"/>
            <a:ext cx="4002216" cy="461665"/>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Etablir un </a:t>
            </a:r>
            <a:r>
              <a:rPr lang="fr-FR" sz="1200" b="1" noProof="0" dirty="0">
                <a:solidFill>
                  <a:schemeClr val="bg2">
                    <a:lumMod val="25000"/>
                  </a:schemeClr>
                </a:solidFill>
              </a:rPr>
              <a:t>lien</a:t>
            </a:r>
            <a:r>
              <a:rPr lang="fr-FR" sz="1200" noProof="0" dirty="0">
                <a:solidFill>
                  <a:schemeClr val="bg2">
                    <a:lumMod val="25000"/>
                  </a:schemeClr>
                </a:solidFill>
              </a:rPr>
              <a:t> entre la </a:t>
            </a:r>
            <a:r>
              <a:rPr lang="fr-FR" sz="1200" b="1" noProof="0" dirty="0">
                <a:solidFill>
                  <a:schemeClr val="bg2">
                    <a:lumMod val="25000"/>
                  </a:schemeClr>
                </a:solidFill>
              </a:rPr>
              <a:t>cinématique</a:t>
            </a:r>
            <a:r>
              <a:rPr lang="fr-FR" sz="1200" noProof="0" dirty="0">
                <a:solidFill>
                  <a:schemeClr val="bg2">
                    <a:lumMod val="25000"/>
                  </a:schemeClr>
                </a:solidFill>
              </a:rPr>
              <a:t> des </a:t>
            </a:r>
            <a:r>
              <a:rPr lang="fr-FR" sz="1200" b="1" noProof="0" dirty="0">
                <a:solidFill>
                  <a:schemeClr val="bg2">
                    <a:lumMod val="25000"/>
                  </a:schemeClr>
                </a:solidFill>
              </a:rPr>
              <a:t>nuages</a:t>
            </a:r>
            <a:r>
              <a:rPr lang="fr-FR" sz="1200" noProof="0" dirty="0">
                <a:solidFill>
                  <a:schemeClr val="bg2">
                    <a:lumMod val="25000"/>
                  </a:schemeClr>
                </a:solidFill>
              </a:rPr>
              <a:t> moléculaires et la </a:t>
            </a:r>
            <a:r>
              <a:rPr lang="fr-FR" sz="1200" b="1" noProof="0" dirty="0">
                <a:solidFill>
                  <a:schemeClr val="bg2">
                    <a:lumMod val="25000"/>
                  </a:schemeClr>
                </a:solidFill>
              </a:rPr>
              <a:t>cinématique</a:t>
            </a:r>
            <a:r>
              <a:rPr lang="fr-FR" sz="1200" noProof="0" dirty="0">
                <a:solidFill>
                  <a:schemeClr val="bg2">
                    <a:lumMod val="25000"/>
                  </a:schemeClr>
                </a:solidFill>
              </a:rPr>
              <a:t> des </a:t>
            </a:r>
            <a:r>
              <a:rPr lang="fr-FR" sz="1200" b="1" noProof="0" dirty="0">
                <a:solidFill>
                  <a:schemeClr val="bg2">
                    <a:lumMod val="25000"/>
                  </a:schemeClr>
                </a:solidFill>
              </a:rPr>
              <a:t>groupes d’étoiles OB</a:t>
            </a:r>
          </a:p>
        </p:txBody>
      </p:sp>
      <p:sp>
        <p:nvSpPr>
          <p:cNvPr id="59" name="L-Shape 58">
            <a:extLst>
              <a:ext uri="{FF2B5EF4-FFF2-40B4-BE49-F238E27FC236}">
                <a16:creationId xmlns:a16="http://schemas.microsoft.com/office/drawing/2014/main" id="{F366AD4D-8642-8966-7447-FBBBE57B15BB}"/>
              </a:ext>
            </a:extLst>
          </p:cNvPr>
          <p:cNvSpPr/>
          <p:nvPr/>
        </p:nvSpPr>
        <p:spPr>
          <a:xfrm rot="13691150">
            <a:off x="6880636" y="3673695"/>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2" name="ZoneTexte 13">
            <a:extLst>
              <a:ext uri="{FF2B5EF4-FFF2-40B4-BE49-F238E27FC236}">
                <a16:creationId xmlns:a16="http://schemas.microsoft.com/office/drawing/2014/main" id="{D45CABA2-652E-E75F-C7F6-B01041B0A52C}"/>
              </a:ext>
            </a:extLst>
          </p:cNvPr>
          <p:cNvSpPr txBox="1"/>
          <p:nvPr/>
        </p:nvSpPr>
        <p:spPr>
          <a:xfrm>
            <a:off x="6927956" y="4129735"/>
            <a:ext cx="4002216" cy="646331"/>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Etablir un </a:t>
            </a:r>
            <a:r>
              <a:rPr lang="fr-FR" sz="1200" b="1" noProof="0" dirty="0">
                <a:solidFill>
                  <a:schemeClr val="bg2">
                    <a:lumMod val="25000"/>
                  </a:schemeClr>
                </a:solidFill>
              </a:rPr>
              <a:t>lien</a:t>
            </a:r>
            <a:r>
              <a:rPr lang="fr-FR" sz="1200" noProof="0" dirty="0">
                <a:solidFill>
                  <a:schemeClr val="bg2">
                    <a:lumMod val="25000"/>
                  </a:schemeClr>
                </a:solidFill>
              </a:rPr>
              <a:t> entre la </a:t>
            </a:r>
            <a:r>
              <a:rPr lang="fr-FR" sz="1200" b="1" noProof="0" dirty="0">
                <a:solidFill>
                  <a:schemeClr val="bg2">
                    <a:lumMod val="25000"/>
                  </a:schemeClr>
                </a:solidFill>
              </a:rPr>
              <a:t>dynamique galactique </a:t>
            </a:r>
            <a:r>
              <a:rPr lang="fr-FR" sz="1200" noProof="0" dirty="0">
                <a:solidFill>
                  <a:schemeClr val="bg2">
                    <a:lumMod val="25000"/>
                  </a:schemeClr>
                </a:solidFill>
              </a:rPr>
              <a:t>induite par le </a:t>
            </a:r>
            <a:r>
              <a:rPr lang="fr-FR" sz="1200" b="1" noProof="0" dirty="0">
                <a:solidFill>
                  <a:schemeClr val="bg2">
                    <a:lumMod val="25000"/>
                  </a:schemeClr>
                </a:solidFill>
              </a:rPr>
              <a:t>potentiel gravitationnel local </a:t>
            </a:r>
            <a:r>
              <a:rPr lang="fr-FR" sz="1200" noProof="0" dirty="0">
                <a:solidFill>
                  <a:schemeClr val="bg2">
                    <a:lumMod val="25000"/>
                  </a:schemeClr>
                </a:solidFill>
              </a:rPr>
              <a:t>et les </a:t>
            </a:r>
            <a:r>
              <a:rPr lang="fr-FR" sz="1200" b="1" noProof="0" dirty="0">
                <a:solidFill>
                  <a:schemeClr val="bg2">
                    <a:lumMod val="25000"/>
                  </a:schemeClr>
                </a:solidFill>
              </a:rPr>
              <a:t>vitesses </a:t>
            </a:r>
            <a:r>
              <a:rPr lang="fr-FR" sz="1200" noProof="0" dirty="0">
                <a:solidFill>
                  <a:schemeClr val="bg2">
                    <a:lumMod val="25000"/>
                  </a:schemeClr>
                </a:solidFill>
              </a:rPr>
              <a:t>des objets du Cygne</a:t>
            </a:r>
          </a:p>
        </p:txBody>
      </p:sp>
      <p:sp>
        <p:nvSpPr>
          <p:cNvPr id="63" name="L-Shape 62">
            <a:extLst>
              <a:ext uri="{FF2B5EF4-FFF2-40B4-BE49-F238E27FC236}">
                <a16:creationId xmlns:a16="http://schemas.microsoft.com/office/drawing/2014/main" id="{8DA83BEF-EB6E-EA82-2DF0-DE1AD5A48B9C}"/>
              </a:ext>
            </a:extLst>
          </p:cNvPr>
          <p:cNvSpPr/>
          <p:nvPr/>
        </p:nvSpPr>
        <p:spPr>
          <a:xfrm rot="13691150">
            <a:off x="6880636" y="424180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5" name="ZoneTexte 13">
            <a:extLst>
              <a:ext uri="{FF2B5EF4-FFF2-40B4-BE49-F238E27FC236}">
                <a16:creationId xmlns:a16="http://schemas.microsoft.com/office/drawing/2014/main" id="{5EFF461D-2949-AE63-12A8-5B8CAFB4B7A0}"/>
              </a:ext>
            </a:extLst>
          </p:cNvPr>
          <p:cNvSpPr txBox="1"/>
          <p:nvPr/>
        </p:nvSpPr>
        <p:spPr>
          <a:xfrm>
            <a:off x="6929553" y="4842387"/>
            <a:ext cx="4002216"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Lier le processus de </a:t>
            </a:r>
            <a:r>
              <a:rPr lang="fr-FR" sz="1200" b="1" noProof="0" dirty="0">
                <a:solidFill>
                  <a:schemeClr val="bg2">
                    <a:lumMod val="25000"/>
                  </a:schemeClr>
                </a:solidFill>
              </a:rPr>
              <a:t>collision de nuages moléculaires</a:t>
            </a:r>
          </a:p>
        </p:txBody>
      </p:sp>
      <p:sp>
        <p:nvSpPr>
          <p:cNvPr id="66" name="L-Shape 65">
            <a:extLst>
              <a:ext uri="{FF2B5EF4-FFF2-40B4-BE49-F238E27FC236}">
                <a16:creationId xmlns:a16="http://schemas.microsoft.com/office/drawing/2014/main" id="{4000BBA5-E478-CE3C-C9D2-87D40E28A83A}"/>
              </a:ext>
            </a:extLst>
          </p:cNvPr>
          <p:cNvSpPr/>
          <p:nvPr/>
        </p:nvSpPr>
        <p:spPr>
          <a:xfrm rot="13691150">
            <a:off x="6882233" y="4954461"/>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2351625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2A4CE-DBB9-9B67-B5C3-FF8C70C96BD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C94FFF1-1292-E8F7-BBD6-48B75B533A15}"/>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87B2ECE9-B44A-C05A-2F80-E75FDB530E3D}"/>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Notions cinématiques et paramètres fondamentaux</a:t>
            </a:r>
          </a:p>
        </p:txBody>
      </p:sp>
      <p:sp>
        <p:nvSpPr>
          <p:cNvPr id="4" name="Espace réservé de la date 3">
            <a:extLst>
              <a:ext uri="{FF2B5EF4-FFF2-40B4-BE49-F238E27FC236}">
                <a16:creationId xmlns:a16="http://schemas.microsoft.com/office/drawing/2014/main" id="{B3FE1083-8F05-ED1A-BDCE-8DD7BF90D994}"/>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
        <p:nvSpPr>
          <p:cNvPr id="5" name="Espace réservé du numéro de diapositive 4">
            <a:extLst>
              <a:ext uri="{FF2B5EF4-FFF2-40B4-BE49-F238E27FC236}">
                <a16:creationId xmlns:a16="http://schemas.microsoft.com/office/drawing/2014/main" id="{938BF042-F506-5C9C-A898-108F4BEF5151}"/>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5</a:t>
            </a:fld>
            <a:endParaRPr lang="fr-FR" noProof="0" dirty="0"/>
          </a:p>
        </p:txBody>
      </p:sp>
      <p:pic>
        <p:nvPicPr>
          <p:cNvPr id="11" name="Picture 2">
            <a:extLst>
              <a:ext uri="{FF2B5EF4-FFF2-40B4-BE49-F238E27FC236}">
                <a16:creationId xmlns:a16="http://schemas.microsoft.com/office/drawing/2014/main" id="{C40331BA-F148-FBE1-F1EF-9669172B66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866A7B34-CB6E-EF6A-ADA9-A5C897CB5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36" name="ZoneTexte 13">
            <a:extLst>
              <a:ext uri="{FF2B5EF4-FFF2-40B4-BE49-F238E27FC236}">
                <a16:creationId xmlns:a16="http://schemas.microsoft.com/office/drawing/2014/main" id="{8A4F58C6-A4A5-839F-858A-05E65B15B39F}"/>
              </a:ext>
            </a:extLst>
          </p:cNvPr>
          <p:cNvSpPr txBox="1"/>
          <p:nvPr/>
        </p:nvSpPr>
        <p:spPr>
          <a:xfrm>
            <a:off x="7500039" y="2551771"/>
            <a:ext cx="4550164" cy="338554"/>
          </a:xfrm>
          <a:prstGeom prst="rect">
            <a:avLst/>
          </a:prstGeom>
          <a:noFill/>
        </p:spPr>
        <p:txBody>
          <a:bodyPr wrap="square" lIns="91440" tIns="45720" rIns="91440" bIns="45720" rtlCol="0" anchor="t">
            <a:spAutoFit/>
          </a:bodyPr>
          <a:lstStyle/>
          <a:p>
            <a:r>
              <a:rPr lang="fr-FR" sz="1600" b="1" noProof="0" dirty="0">
                <a:solidFill>
                  <a:schemeClr val="bg1">
                    <a:lumMod val="95000"/>
                  </a:schemeClr>
                </a:solidFill>
              </a:rPr>
              <a:t>Phase 2: Analyse et synthèse</a:t>
            </a:r>
            <a:endParaRPr lang="fr-FR" noProof="0" dirty="0">
              <a:solidFill>
                <a:schemeClr val="bg1">
                  <a:lumMod val="95000"/>
                </a:schemeClr>
              </a:solidFill>
            </a:endParaRPr>
          </a:p>
        </p:txBody>
      </p:sp>
      <p:pic>
        <p:nvPicPr>
          <p:cNvPr id="8" name="Picture 7">
            <a:extLst>
              <a:ext uri="{FF2B5EF4-FFF2-40B4-BE49-F238E27FC236}">
                <a16:creationId xmlns:a16="http://schemas.microsoft.com/office/drawing/2014/main" id="{73EECE42-1CC9-D9CF-084B-532888152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434" y="1880664"/>
            <a:ext cx="4550164" cy="2764550"/>
          </a:xfrm>
          <a:prstGeom prst="rect">
            <a:avLst/>
          </a:prstGeom>
        </p:spPr>
      </p:pic>
      <p:sp>
        <p:nvSpPr>
          <p:cNvPr id="13" name="Rectangle : coins arrondis 8">
            <a:extLst>
              <a:ext uri="{FF2B5EF4-FFF2-40B4-BE49-F238E27FC236}">
                <a16:creationId xmlns:a16="http://schemas.microsoft.com/office/drawing/2014/main" id="{20308675-5EDA-8399-337E-0E2E4AB261A9}"/>
              </a:ext>
            </a:extLst>
          </p:cNvPr>
          <p:cNvSpPr/>
          <p:nvPr/>
        </p:nvSpPr>
        <p:spPr>
          <a:xfrm>
            <a:off x="750278" y="1394854"/>
            <a:ext cx="4259384" cy="338555"/>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16" name="ZoneTexte 13">
            <a:extLst>
              <a:ext uri="{FF2B5EF4-FFF2-40B4-BE49-F238E27FC236}">
                <a16:creationId xmlns:a16="http://schemas.microsoft.com/office/drawing/2014/main" id="{FB4A7046-EBDE-B187-809A-D2A0BE91869E}"/>
              </a:ext>
            </a:extLst>
          </p:cNvPr>
          <p:cNvSpPr txBox="1"/>
          <p:nvPr/>
        </p:nvSpPr>
        <p:spPr>
          <a:xfrm>
            <a:off x="1529052" y="1394854"/>
            <a:ext cx="2618928" cy="338554"/>
          </a:xfrm>
          <a:prstGeom prst="rect">
            <a:avLst/>
          </a:prstGeom>
          <a:noFill/>
        </p:spPr>
        <p:txBody>
          <a:bodyPr wrap="square" lIns="91440" tIns="45720" rIns="91440" bIns="45720" rtlCol="0" anchor="t">
            <a:spAutoFit/>
          </a:bodyPr>
          <a:lstStyle/>
          <a:p>
            <a:r>
              <a:rPr lang="fr-FR" sz="1600" b="1" noProof="0" dirty="0">
                <a:solidFill>
                  <a:schemeClr val="bg1">
                    <a:lumMod val="95000"/>
                  </a:schemeClr>
                </a:solidFill>
              </a:rPr>
              <a:t>Référentiel galactocentrique</a:t>
            </a:r>
            <a:endParaRPr lang="fr-FR" noProof="0" dirty="0">
              <a:solidFill>
                <a:schemeClr val="bg1">
                  <a:lumMod val="95000"/>
                </a:schemeClr>
              </a:solidFill>
            </a:endParaRPr>
          </a:p>
        </p:txBody>
      </p:sp>
      <p:sp>
        <p:nvSpPr>
          <p:cNvPr id="21" name="Rectangle : coins arrondis 8">
            <a:extLst>
              <a:ext uri="{FF2B5EF4-FFF2-40B4-BE49-F238E27FC236}">
                <a16:creationId xmlns:a16="http://schemas.microsoft.com/office/drawing/2014/main" id="{4DEB52B2-306D-B427-8088-EC5FBCB0A57F}"/>
              </a:ext>
            </a:extLst>
          </p:cNvPr>
          <p:cNvSpPr/>
          <p:nvPr/>
        </p:nvSpPr>
        <p:spPr>
          <a:xfrm>
            <a:off x="5734953" y="1342606"/>
            <a:ext cx="5972493" cy="1605599"/>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22" name="ZoneTexte 13">
            <a:extLst>
              <a:ext uri="{FF2B5EF4-FFF2-40B4-BE49-F238E27FC236}">
                <a16:creationId xmlns:a16="http://schemas.microsoft.com/office/drawing/2014/main" id="{A709B8AB-1962-AA7F-B7C8-473D8BDA4995}"/>
              </a:ext>
            </a:extLst>
          </p:cNvPr>
          <p:cNvSpPr txBox="1"/>
          <p:nvPr/>
        </p:nvSpPr>
        <p:spPr>
          <a:xfrm>
            <a:off x="6157726" y="1415846"/>
            <a:ext cx="4534212"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Composantes de vitesse particulière</a:t>
            </a:r>
            <a:endParaRPr lang="fr-FR" noProof="0" dirty="0">
              <a:solidFill>
                <a:schemeClr val="bg2">
                  <a:lumMod val="25000"/>
                </a:schemeClr>
              </a:solidFill>
            </a:endParaRPr>
          </a:p>
        </p:txBody>
      </p:sp>
      <mc:AlternateContent xmlns:mc="http://schemas.openxmlformats.org/markup-compatibility/2006" xmlns:a14="http://schemas.microsoft.com/office/drawing/2010/main">
        <mc:Choice Requires="a14">
          <p:sp>
            <p:nvSpPr>
              <p:cNvPr id="41" name="ZoneTexte 14">
                <a:extLst>
                  <a:ext uri="{FF2B5EF4-FFF2-40B4-BE49-F238E27FC236}">
                    <a16:creationId xmlns:a16="http://schemas.microsoft.com/office/drawing/2014/main" id="{2FC1BB77-3A1C-82BA-A5B2-3C9EEE144745}"/>
                  </a:ext>
                </a:extLst>
              </p:cNvPr>
              <p:cNvSpPr txBox="1"/>
              <p:nvPr/>
            </p:nvSpPr>
            <p:spPr>
              <a:xfrm>
                <a:off x="6084786" y="1880513"/>
                <a:ext cx="5295757" cy="975011"/>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rPr>
                  <a:t>U: Composante </a:t>
                </a:r>
                <a:r>
                  <a:rPr lang="fr-FR" sz="1100" b="1" noProof="0" dirty="0">
                    <a:solidFill>
                      <a:schemeClr val="bg2">
                        <a:lumMod val="25000"/>
                      </a:schemeClr>
                    </a:solidFill>
                  </a:rPr>
                  <a:t>radiale</a:t>
                </a:r>
                <a:r>
                  <a:rPr lang="fr-FR" sz="1100" noProof="0" dirty="0">
                    <a:solidFill>
                      <a:schemeClr val="bg2">
                        <a:lumMod val="25000"/>
                      </a:schemeClr>
                    </a:solidFill>
                  </a:rPr>
                  <a:t> galactique, selon l’axe </a:t>
                </a:r>
                <a14:m>
                  <m:oMath xmlns:m="http://schemas.openxmlformats.org/officeDocument/2006/math">
                    <m:acc>
                      <m:accPr>
                        <m:chr m:val="⃗"/>
                        <m:ctrlPr>
                          <a:rPr lang="fr-FR" sz="1100" i="1" noProof="0" smtClean="0">
                            <a:solidFill>
                              <a:schemeClr val="bg2">
                                <a:lumMod val="25000"/>
                              </a:schemeClr>
                            </a:solidFill>
                            <a:latin typeface="Cambria Math" panose="02040503050406030204" pitchFamily="18" charset="0"/>
                          </a:rPr>
                        </m:ctrlPr>
                      </m:accPr>
                      <m:e>
                        <m:r>
                          <a:rPr lang="fr-FR" sz="1100" b="0" i="1" noProof="0" smtClean="0">
                            <a:solidFill>
                              <a:schemeClr val="bg2">
                                <a:lumMod val="25000"/>
                              </a:schemeClr>
                            </a:solidFill>
                            <a:latin typeface="Cambria Math" panose="02040503050406030204" pitchFamily="18" charset="0"/>
                          </a:rPr>
                          <m:t>𝑥</m:t>
                        </m:r>
                      </m:e>
                    </m:acc>
                  </m:oMath>
                </a14:m>
                <a:endParaRPr lang="fr-FR" noProof="0" dirty="0">
                  <a:solidFill>
                    <a:schemeClr val="bg2">
                      <a:lumMod val="25000"/>
                    </a:schemeClr>
                  </a:solidFill>
                </a:endParaRPr>
              </a:p>
              <a:p>
                <a:endParaRPr lang="fr-FR" sz="1100" noProof="0" dirty="0">
                  <a:solidFill>
                    <a:schemeClr val="bg2">
                      <a:lumMod val="25000"/>
                    </a:schemeClr>
                  </a:solidFill>
                  <a:ea typeface="Calibri"/>
                  <a:cs typeface="Calibri"/>
                </a:endParaRPr>
              </a:p>
              <a:p>
                <a:r>
                  <a:rPr lang="fr-FR" sz="1100" noProof="0" dirty="0">
                    <a:solidFill>
                      <a:schemeClr val="bg2">
                        <a:lumMod val="25000"/>
                      </a:schemeClr>
                    </a:solidFill>
                    <a:ea typeface="Calibri"/>
                    <a:cs typeface="Calibri"/>
                  </a:rPr>
                  <a:t>V: Composante </a:t>
                </a:r>
                <a:r>
                  <a:rPr lang="fr-FR" sz="1100" b="1" noProof="0" dirty="0">
                    <a:solidFill>
                      <a:schemeClr val="bg2">
                        <a:lumMod val="25000"/>
                      </a:schemeClr>
                    </a:solidFill>
                    <a:ea typeface="Calibri"/>
                    <a:cs typeface="Calibri"/>
                  </a:rPr>
                  <a:t>tangentielle</a:t>
                </a:r>
                <a:r>
                  <a:rPr lang="fr-FR" sz="1100" noProof="0" dirty="0">
                    <a:solidFill>
                      <a:schemeClr val="bg2">
                        <a:lumMod val="25000"/>
                      </a:schemeClr>
                    </a:solidFill>
                    <a:ea typeface="Calibri"/>
                    <a:cs typeface="Calibri"/>
                  </a:rPr>
                  <a:t> orientée dans le sens de la </a:t>
                </a:r>
                <a:r>
                  <a:rPr lang="fr-FR" sz="1100" b="1" noProof="0" dirty="0">
                    <a:solidFill>
                      <a:schemeClr val="bg2">
                        <a:lumMod val="25000"/>
                      </a:schemeClr>
                    </a:solidFill>
                    <a:ea typeface="Calibri"/>
                    <a:cs typeface="Calibri"/>
                  </a:rPr>
                  <a:t>rotation galactique</a:t>
                </a:r>
                <a:r>
                  <a:rPr lang="fr-FR" sz="1100" noProof="0" dirty="0">
                    <a:solidFill>
                      <a:schemeClr val="bg2">
                        <a:lumMod val="25000"/>
                      </a:schemeClr>
                    </a:solidFill>
                    <a:ea typeface="Calibri"/>
                    <a:cs typeface="Calibri"/>
                  </a:rPr>
                  <a:t>, selon </a:t>
                </a:r>
                <a:r>
                  <a:rPr lang="fr-FR" sz="1100" noProof="0" dirty="0">
                    <a:solidFill>
                      <a:schemeClr val="bg2">
                        <a:lumMod val="25000"/>
                      </a:schemeClr>
                    </a:solidFill>
                  </a:rPr>
                  <a:t>l’axe </a:t>
                </a:r>
                <a14:m>
                  <m:oMath xmlns:m="http://schemas.openxmlformats.org/officeDocument/2006/math">
                    <m:acc>
                      <m:accPr>
                        <m:chr m:val="⃗"/>
                        <m:ctrlPr>
                          <a:rPr lang="fr-FR" sz="1100" i="1" noProof="0" smtClean="0">
                            <a:solidFill>
                              <a:schemeClr val="bg2">
                                <a:lumMod val="25000"/>
                              </a:schemeClr>
                            </a:solidFill>
                            <a:latin typeface="Cambria Math" panose="02040503050406030204" pitchFamily="18" charset="0"/>
                          </a:rPr>
                        </m:ctrlPr>
                      </m:accPr>
                      <m:e>
                        <m:r>
                          <a:rPr lang="fr-FR" sz="1100" b="0" i="1" noProof="0" smtClean="0">
                            <a:solidFill>
                              <a:schemeClr val="bg2">
                                <a:lumMod val="25000"/>
                              </a:schemeClr>
                            </a:solidFill>
                            <a:latin typeface="Cambria Math" panose="02040503050406030204" pitchFamily="18" charset="0"/>
                          </a:rPr>
                          <m:t>𝑦</m:t>
                        </m:r>
                      </m:e>
                    </m:acc>
                  </m:oMath>
                </a14:m>
                <a:endParaRPr lang="fr-FR" sz="1100" noProof="0" dirty="0">
                  <a:solidFill>
                    <a:schemeClr val="bg2">
                      <a:lumMod val="25000"/>
                    </a:schemeClr>
                  </a:solidFill>
                </a:endParaRPr>
              </a:p>
              <a:p>
                <a:endParaRPr lang="fr-FR" sz="1100" b="1" noProof="0" dirty="0">
                  <a:solidFill>
                    <a:schemeClr val="bg2">
                      <a:lumMod val="25000"/>
                    </a:schemeClr>
                  </a:solidFill>
                  <a:ea typeface="Calibri"/>
                  <a:cs typeface="Calibri"/>
                </a:endParaRPr>
              </a:p>
              <a:p>
                <a:r>
                  <a:rPr lang="fr-FR" sz="1100" noProof="0" dirty="0">
                    <a:solidFill>
                      <a:schemeClr val="bg2">
                        <a:lumMod val="25000"/>
                      </a:schemeClr>
                    </a:solidFill>
                    <a:ea typeface="Calibri"/>
                    <a:cs typeface="Calibri"/>
                  </a:rPr>
                  <a:t>W: Composante </a:t>
                </a:r>
                <a:r>
                  <a:rPr lang="fr-FR" sz="1100" b="1" noProof="0" dirty="0">
                    <a:solidFill>
                      <a:schemeClr val="bg2">
                        <a:lumMod val="25000"/>
                      </a:schemeClr>
                    </a:solidFill>
                    <a:ea typeface="Calibri"/>
                    <a:cs typeface="Calibri"/>
                  </a:rPr>
                  <a:t>perpendiculaire</a:t>
                </a:r>
                <a:r>
                  <a:rPr lang="fr-FR" sz="1100" noProof="0" dirty="0">
                    <a:solidFill>
                      <a:schemeClr val="bg2">
                        <a:lumMod val="25000"/>
                      </a:schemeClr>
                    </a:solidFill>
                    <a:ea typeface="Calibri"/>
                    <a:cs typeface="Calibri"/>
                  </a:rPr>
                  <a:t> au plan galactique, selon l’axe</a:t>
                </a:r>
                <a:r>
                  <a:rPr lang="fr-FR" sz="1100" noProof="0" dirty="0">
                    <a:solidFill>
                      <a:schemeClr val="bg2">
                        <a:lumMod val="25000"/>
                      </a:schemeClr>
                    </a:solidFill>
                  </a:rPr>
                  <a:t> </a:t>
                </a:r>
                <a14:m>
                  <m:oMath xmlns:m="http://schemas.openxmlformats.org/officeDocument/2006/math">
                    <m:acc>
                      <m:accPr>
                        <m:chr m:val="⃗"/>
                        <m:ctrlPr>
                          <a:rPr lang="fr-FR" sz="1100" i="1" noProof="0" smtClean="0">
                            <a:solidFill>
                              <a:schemeClr val="bg2">
                                <a:lumMod val="25000"/>
                              </a:schemeClr>
                            </a:solidFill>
                            <a:latin typeface="Cambria Math" panose="02040503050406030204" pitchFamily="18" charset="0"/>
                          </a:rPr>
                        </m:ctrlPr>
                      </m:accPr>
                      <m:e>
                        <m:r>
                          <a:rPr lang="fr-FR" sz="1100" b="0" i="1" noProof="0" smtClean="0">
                            <a:solidFill>
                              <a:schemeClr val="bg2">
                                <a:lumMod val="25000"/>
                              </a:schemeClr>
                            </a:solidFill>
                            <a:latin typeface="Cambria Math" panose="02040503050406030204" pitchFamily="18" charset="0"/>
                          </a:rPr>
                          <m:t>𝑧</m:t>
                        </m:r>
                      </m:e>
                    </m:acc>
                  </m:oMath>
                </a14:m>
                <a:endParaRPr lang="fr-FR" sz="1100" noProof="0" dirty="0">
                  <a:solidFill>
                    <a:schemeClr val="bg2">
                      <a:lumMod val="25000"/>
                    </a:schemeClr>
                  </a:solidFill>
                  <a:ea typeface="Calibri"/>
                  <a:cs typeface="Calibri"/>
                </a:endParaRPr>
              </a:p>
            </p:txBody>
          </p:sp>
        </mc:Choice>
        <mc:Fallback xmlns="">
          <p:sp>
            <p:nvSpPr>
              <p:cNvPr id="41" name="ZoneTexte 14">
                <a:extLst>
                  <a:ext uri="{FF2B5EF4-FFF2-40B4-BE49-F238E27FC236}">
                    <a16:creationId xmlns:a16="http://schemas.microsoft.com/office/drawing/2014/main" id="{2FC1BB77-3A1C-82BA-A5B2-3C9EEE144745}"/>
                  </a:ext>
                </a:extLst>
              </p:cNvPr>
              <p:cNvSpPr txBox="1">
                <a:spLocks noRot="1" noChangeAspect="1" noMove="1" noResize="1" noEditPoints="1" noAdjustHandles="1" noChangeArrowheads="1" noChangeShapeType="1" noTextEdit="1"/>
              </p:cNvSpPr>
              <p:nvPr/>
            </p:nvSpPr>
            <p:spPr>
              <a:xfrm>
                <a:off x="6084786" y="1880513"/>
                <a:ext cx="5295757" cy="975011"/>
              </a:xfrm>
              <a:prstGeom prst="rect">
                <a:avLst/>
              </a:prstGeom>
              <a:blipFill>
                <a:blip r:embed="rId5"/>
                <a:stretch>
                  <a:fillRect t="-625" r="-1266"/>
                </a:stretch>
              </a:blipFill>
            </p:spPr>
            <p:txBody>
              <a:bodyPr/>
              <a:lstStyle/>
              <a:p>
                <a:r>
                  <a:rPr lang="fr-FR">
                    <a:noFill/>
                  </a:rPr>
                  <a:t> </a:t>
                </a:r>
              </a:p>
            </p:txBody>
          </p:sp>
        </mc:Fallback>
      </mc:AlternateContent>
      <p:pic>
        <p:nvPicPr>
          <p:cNvPr id="43" name="Graphic 42" descr="Arrow Right with solid fill">
            <a:extLst>
              <a:ext uri="{FF2B5EF4-FFF2-40B4-BE49-F238E27FC236}">
                <a16:creationId xmlns:a16="http://schemas.microsoft.com/office/drawing/2014/main" id="{E381FB28-072B-63B8-F63C-97B889457E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1575" y="1879303"/>
            <a:ext cx="244511" cy="328246"/>
          </a:xfrm>
          <a:prstGeom prst="rect">
            <a:avLst/>
          </a:prstGeom>
        </p:spPr>
      </p:pic>
      <p:pic>
        <p:nvPicPr>
          <p:cNvPr id="44" name="Graphic 43" descr="Arrow Right with solid fill">
            <a:extLst>
              <a:ext uri="{FF2B5EF4-FFF2-40B4-BE49-F238E27FC236}">
                <a16:creationId xmlns:a16="http://schemas.microsoft.com/office/drawing/2014/main" id="{66BC91E6-DA38-4CB3-7C8A-CF7705696DE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9948" y="2199736"/>
            <a:ext cx="244511" cy="328246"/>
          </a:xfrm>
          <a:prstGeom prst="rect">
            <a:avLst/>
          </a:prstGeom>
        </p:spPr>
      </p:pic>
      <p:pic>
        <p:nvPicPr>
          <p:cNvPr id="45" name="Graphic 44" descr="Fast Forward with solid fill">
            <a:extLst>
              <a:ext uri="{FF2B5EF4-FFF2-40B4-BE49-F238E27FC236}">
                <a16:creationId xmlns:a16="http://schemas.microsoft.com/office/drawing/2014/main" id="{770BD78C-27C2-B917-9374-73DE9FCB8D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94792" y="1463997"/>
            <a:ext cx="286379" cy="252886"/>
          </a:xfrm>
          <a:prstGeom prst="rect">
            <a:avLst/>
          </a:prstGeom>
        </p:spPr>
      </p:pic>
      <p:pic>
        <p:nvPicPr>
          <p:cNvPr id="46" name="Graphic 45" descr="Arrow Right with solid fill">
            <a:extLst>
              <a:ext uri="{FF2B5EF4-FFF2-40B4-BE49-F238E27FC236}">
                <a16:creationId xmlns:a16="http://schemas.microsoft.com/office/drawing/2014/main" id="{BF93B33A-6A07-1FE0-A07C-239EDAC74C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9948" y="2522568"/>
            <a:ext cx="244511" cy="328246"/>
          </a:xfrm>
          <a:prstGeom prst="rect">
            <a:avLst/>
          </a:prstGeom>
        </p:spPr>
      </p:pic>
      <p:sp>
        <p:nvSpPr>
          <p:cNvPr id="47" name="Rectangle : coins arrondis 8">
            <a:extLst>
              <a:ext uri="{FF2B5EF4-FFF2-40B4-BE49-F238E27FC236}">
                <a16:creationId xmlns:a16="http://schemas.microsoft.com/office/drawing/2014/main" id="{BA935D1B-8947-FCBE-866E-C74F8EA752F3}"/>
              </a:ext>
            </a:extLst>
          </p:cNvPr>
          <p:cNvSpPr/>
          <p:nvPr/>
        </p:nvSpPr>
        <p:spPr>
          <a:xfrm>
            <a:off x="5727781" y="3047350"/>
            <a:ext cx="5972493" cy="1635860"/>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48" name="ZoneTexte 13">
            <a:extLst>
              <a:ext uri="{FF2B5EF4-FFF2-40B4-BE49-F238E27FC236}">
                <a16:creationId xmlns:a16="http://schemas.microsoft.com/office/drawing/2014/main" id="{C1E92487-B47E-6070-B4D6-B06AE30B9D00}"/>
              </a:ext>
            </a:extLst>
          </p:cNvPr>
          <p:cNvSpPr txBox="1"/>
          <p:nvPr/>
        </p:nvSpPr>
        <p:spPr>
          <a:xfrm>
            <a:off x="6181171" y="3128401"/>
            <a:ext cx="4534212"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LSR (Local Standard of Rest)</a:t>
            </a:r>
            <a:endParaRPr lang="fr-FR" noProof="0" dirty="0">
              <a:solidFill>
                <a:schemeClr val="bg2">
                  <a:lumMod val="25000"/>
                </a:schemeClr>
              </a:solidFill>
            </a:endParaRPr>
          </a:p>
        </p:txBody>
      </p:sp>
      <mc:AlternateContent xmlns:mc="http://schemas.openxmlformats.org/markup-compatibility/2006" xmlns:a14="http://schemas.microsoft.com/office/drawing/2010/main">
        <mc:Choice Requires="a14">
          <p:sp>
            <p:nvSpPr>
              <p:cNvPr id="49" name="ZoneTexte 14">
                <a:extLst>
                  <a:ext uri="{FF2B5EF4-FFF2-40B4-BE49-F238E27FC236}">
                    <a16:creationId xmlns:a16="http://schemas.microsoft.com/office/drawing/2014/main" id="{07BDCA01-FBA2-0DBE-1A6E-EDEB7488AA66}"/>
                  </a:ext>
                </a:extLst>
              </p:cNvPr>
              <p:cNvSpPr txBox="1"/>
              <p:nvPr/>
            </p:nvSpPr>
            <p:spPr>
              <a:xfrm>
                <a:off x="6084786" y="3593069"/>
                <a:ext cx="5747655" cy="938719"/>
              </a:xfrm>
              <a:prstGeom prst="rect">
                <a:avLst/>
              </a:prstGeom>
              <a:noFill/>
            </p:spPr>
            <p:txBody>
              <a:bodyPr wrap="square" lIns="91440" tIns="45720" rIns="91440" bIns="45720" rtlCol="0" anchor="t">
                <a:spAutoFit/>
              </a:bodyPr>
              <a:lstStyle/>
              <a:p>
                <a:r>
                  <a:rPr lang="fr-FR" sz="1100" noProof="0" dirty="0">
                    <a:solidFill>
                      <a:schemeClr val="bg2">
                        <a:lumMod val="25000"/>
                      </a:schemeClr>
                    </a:solidFill>
                    <a:ea typeface="Calibri"/>
                    <a:cs typeface="Calibri"/>
                  </a:rPr>
                  <a:t>Point </a:t>
                </a:r>
                <a:r>
                  <a:rPr lang="fr-FR" sz="1100" b="1" noProof="0" dirty="0">
                    <a:solidFill>
                      <a:schemeClr val="bg2">
                        <a:lumMod val="25000"/>
                      </a:schemeClr>
                    </a:solidFill>
                    <a:ea typeface="Calibri"/>
                    <a:cs typeface="Calibri"/>
                  </a:rPr>
                  <a:t>imaginaire</a:t>
                </a:r>
                <a:r>
                  <a:rPr lang="fr-FR" sz="1100" noProof="0" dirty="0">
                    <a:solidFill>
                      <a:schemeClr val="bg2">
                        <a:lumMod val="25000"/>
                      </a:schemeClr>
                    </a:solidFill>
                    <a:ea typeface="Calibri"/>
                    <a:cs typeface="Calibri"/>
                  </a:rPr>
                  <a:t> idéal situé à la </a:t>
                </a:r>
                <a:r>
                  <a:rPr lang="fr-FR" sz="1100" b="1" noProof="0" dirty="0">
                    <a:solidFill>
                      <a:schemeClr val="bg2">
                        <a:lumMod val="25000"/>
                      </a:schemeClr>
                    </a:solidFill>
                    <a:ea typeface="Calibri"/>
                    <a:cs typeface="Calibri"/>
                  </a:rPr>
                  <a:t>distance du Soleil du centre galactique </a:t>
                </a:r>
                <a14:m>
                  <m:oMath xmlns:m="http://schemas.openxmlformats.org/officeDocument/2006/math">
                    <m:sSub>
                      <m:sSubPr>
                        <m:ctrlPr>
                          <a:rPr lang="fr-FR" sz="1100" b="1" i="1" noProof="0" smtClean="0">
                            <a:solidFill>
                              <a:schemeClr val="bg2">
                                <a:lumMod val="25000"/>
                              </a:schemeClr>
                            </a:solidFill>
                            <a:latin typeface="Cambria Math" panose="02040503050406030204" pitchFamily="18" charset="0"/>
                            <a:ea typeface="Calibri"/>
                            <a:cs typeface="Calibri"/>
                          </a:rPr>
                        </m:ctrlPr>
                      </m:sSubPr>
                      <m:e>
                        <m:r>
                          <a:rPr lang="fr-FR" sz="1100" b="1" i="1" noProof="0" smtClean="0">
                            <a:solidFill>
                              <a:schemeClr val="bg2">
                                <a:lumMod val="25000"/>
                              </a:schemeClr>
                            </a:solidFill>
                            <a:latin typeface="Cambria Math" panose="02040503050406030204" pitchFamily="18" charset="0"/>
                            <a:ea typeface="Calibri"/>
                            <a:cs typeface="Calibri"/>
                          </a:rPr>
                          <m:t>𝑹</m:t>
                        </m:r>
                      </m:e>
                      <m:sub>
                        <m:r>
                          <a:rPr lang="fr-FR" sz="1100" b="1" i="1" noProof="0" smtClean="0">
                            <a:solidFill>
                              <a:schemeClr val="bg2">
                                <a:lumMod val="25000"/>
                              </a:schemeClr>
                            </a:solidFill>
                            <a:latin typeface="Cambria Math" panose="02040503050406030204" pitchFamily="18" charset="0"/>
                            <a:ea typeface="Calibri"/>
                            <a:cs typeface="Calibri"/>
                          </a:rPr>
                          <m:t>𝟎</m:t>
                        </m:r>
                      </m:sub>
                    </m:sSub>
                  </m:oMath>
                </a14:m>
                <a:endParaRPr lang="fr-FR" sz="1100" b="1" noProof="0" dirty="0">
                  <a:solidFill>
                    <a:schemeClr val="bg2">
                      <a:lumMod val="25000"/>
                    </a:schemeClr>
                  </a:solidFill>
                  <a:ea typeface="Calibri"/>
                  <a:cs typeface="Calibri"/>
                </a:endParaRPr>
              </a:p>
              <a:p>
                <a:endParaRPr lang="fr-FR" sz="1100" b="1" noProof="0" dirty="0">
                  <a:solidFill>
                    <a:schemeClr val="bg2">
                      <a:lumMod val="25000"/>
                    </a:schemeClr>
                  </a:solidFill>
                  <a:ea typeface="Calibri"/>
                  <a:cs typeface="Calibri"/>
                </a:endParaRPr>
              </a:p>
              <a:p>
                <a:r>
                  <a:rPr lang="fr-FR" sz="1100" noProof="0" dirty="0">
                    <a:solidFill>
                      <a:schemeClr val="bg2">
                        <a:lumMod val="25000"/>
                      </a:schemeClr>
                    </a:solidFill>
                    <a:ea typeface="Calibri"/>
                    <a:cs typeface="Calibri"/>
                  </a:rPr>
                  <a:t>Décrit une </a:t>
                </a:r>
                <a:r>
                  <a:rPr lang="fr-FR" sz="1100" b="1" noProof="0" dirty="0">
                    <a:solidFill>
                      <a:schemeClr val="bg2">
                        <a:lumMod val="25000"/>
                      </a:schemeClr>
                    </a:solidFill>
                    <a:ea typeface="Calibri"/>
                    <a:cs typeface="Calibri"/>
                  </a:rPr>
                  <a:t>orbite parfaitement circulaire </a:t>
                </a:r>
                <a:r>
                  <a:rPr lang="fr-FR" sz="1100" noProof="0" dirty="0">
                    <a:solidFill>
                      <a:schemeClr val="bg2">
                        <a:lumMod val="25000"/>
                      </a:schemeClr>
                    </a:solidFill>
                    <a:ea typeface="Calibri"/>
                    <a:cs typeface="Calibri"/>
                  </a:rPr>
                  <a:t>à la</a:t>
                </a:r>
                <a:r>
                  <a:rPr lang="fr-FR" sz="1100" b="1" noProof="0" dirty="0">
                    <a:solidFill>
                      <a:schemeClr val="bg2">
                        <a:lumMod val="25000"/>
                      </a:schemeClr>
                    </a:solidFill>
                    <a:ea typeface="Calibri"/>
                    <a:cs typeface="Calibri"/>
                  </a:rPr>
                  <a:t> vitesse circulaire moyenne de la galaxie </a:t>
                </a:r>
                <a14:m>
                  <m:oMath xmlns:m="http://schemas.openxmlformats.org/officeDocument/2006/math">
                    <m:sSub>
                      <m:sSubPr>
                        <m:ctrlPr>
                          <a:rPr lang="fr-FR" sz="1100" b="1" i="1" noProof="0">
                            <a:solidFill>
                              <a:schemeClr val="bg2">
                                <a:lumMod val="25000"/>
                              </a:schemeClr>
                            </a:solidFill>
                            <a:latin typeface="Cambria Math" panose="02040503050406030204" pitchFamily="18" charset="0"/>
                            <a:ea typeface="Calibri"/>
                            <a:cs typeface="Calibri"/>
                          </a:rPr>
                        </m:ctrlPr>
                      </m:sSubPr>
                      <m:e>
                        <m:r>
                          <a:rPr lang="fr-FR" sz="1100" b="1" i="1" noProof="0" smtClean="0">
                            <a:solidFill>
                              <a:schemeClr val="bg2">
                                <a:lumMod val="25000"/>
                              </a:schemeClr>
                            </a:solidFill>
                            <a:latin typeface="Cambria Math" panose="02040503050406030204" pitchFamily="18" charset="0"/>
                            <a:ea typeface="Cambria Math" panose="02040503050406030204" pitchFamily="18" charset="0"/>
                            <a:cs typeface="Calibri"/>
                          </a:rPr>
                          <m:t>𝚯</m:t>
                        </m:r>
                      </m:e>
                      <m:sub>
                        <m:r>
                          <a:rPr lang="fr-FR" sz="1100" b="1" i="1" noProof="0">
                            <a:solidFill>
                              <a:schemeClr val="bg2">
                                <a:lumMod val="25000"/>
                              </a:schemeClr>
                            </a:solidFill>
                            <a:latin typeface="Cambria Math" panose="02040503050406030204" pitchFamily="18" charset="0"/>
                            <a:ea typeface="Calibri"/>
                            <a:cs typeface="Calibri"/>
                          </a:rPr>
                          <m:t>𝟎</m:t>
                        </m:r>
                      </m:sub>
                    </m:sSub>
                  </m:oMath>
                </a14:m>
                <a:r>
                  <a:rPr lang="fr-FR" sz="1100" b="1" noProof="0" dirty="0">
                    <a:solidFill>
                      <a:schemeClr val="bg2">
                        <a:lumMod val="25000"/>
                      </a:schemeClr>
                    </a:solidFill>
                    <a:ea typeface="Calibri"/>
                    <a:cs typeface="Calibri"/>
                  </a:rPr>
                  <a:t> </a:t>
                </a:r>
                <a:r>
                  <a:rPr lang="fr-FR" sz="1100" noProof="0" dirty="0">
                    <a:solidFill>
                      <a:schemeClr val="bg2">
                        <a:lumMod val="25000"/>
                      </a:schemeClr>
                    </a:solidFill>
                    <a:ea typeface="Calibri"/>
                    <a:cs typeface="Calibri"/>
                  </a:rPr>
                  <a:t>à </a:t>
                </a:r>
                <a14:m>
                  <m:oMath xmlns:m="http://schemas.openxmlformats.org/officeDocument/2006/math">
                    <m:sSub>
                      <m:sSubPr>
                        <m:ctrlPr>
                          <a:rPr lang="fr-FR" sz="1100" i="1" noProof="0">
                            <a:solidFill>
                              <a:schemeClr val="bg2">
                                <a:lumMod val="25000"/>
                              </a:schemeClr>
                            </a:solidFill>
                            <a:latin typeface="Cambria Math" panose="02040503050406030204" pitchFamily="18" charset="0"/>
                            <a:ea typeface="Calibri"/>
                            <a:cs typeface="Calibri"/>
                          </a:rPr>
                        </m:ctrlPr>
                      </m:sSubPr>
                      <m:e>
                        <m:r>
                          <a:rPr lang="fr-FR" sz="1100" b="0" i="1" noProof="0">
                            <a:solidFill>
                              <a:schemeClr val="bg2">
                                <a:lumMod val="25000"/>
                              </a:schemeClr>
                            </a:solidFill>
                            <a:latin typeface="Cambria Math" panose="02040503050406030204" pitchFamily="18" charset="0"/>
                            <a:ea typeface="Calibri"/>
                            <a:cs typeface="Calibri"/>
                          </a:rPr>
                          <m:t>𝑅</m:t>
                        </m:r>
                      </m:e>
                      <m:sub>
                        <m:r>
                          <a:rPr lang="fr-FR" sz="1100" b="0" i="1" noProof="0">
                            <a:solidFill>
                              <a:schemeClr val="bg2">
                                <a:lumMod val="25000"/>
                              </a:schemeClr>
                            </a:solidFill>
                            <a:latin typeface="Cambria Math" panose="02040503050406030204" pitchFamily="18" charset="0"/>
                            <a:ea typeface="Calibri"/>
                            <a:cs typeface="Calibri"/>
                          </a:rPr>
                          <m:t>0</m:t>
                        </m:r>
                      </m:sub>
                    </m:sSub>
                  </m:oMath>
                </a14:m>
                <a:endParaRPr lang="fr-FR" sz="1100" noProof="0" dirty="0">
                  <a:solidFill>
                    <a:schemeClr val="bg2">
                      <a:lumMod val="25000"/>
                    </a:schemeClr>
                  </a:solidFill>
                  <a:ea typeface="Calibri"/>
                  <a:cs typeface="Calibri"/>
                </a:endParaRPr>
              </a:p>
              <a:p>
                <a:endParaRPr lang="fr-FR" sz="1100" noProof="0" dirty="0">
                  <a:solidFill>
                    <a:schemeClr val="bg2">
                      <a:lumMod val="25000"/>
                    </a:schemeClr>
                  </a:solidFill>
                  <a:ea typeface="Calibri"/>
                  <a:cs typeface="Calibri"/>
                </a:endParaRPr>
              </a:p>
              <a:p>
                <a14:m>
                  <m:oMath xmlns:m="http://schemas.openxmlformats.org/officeDocument/2006/math">
                    <m:sSub>
                      <m:sSubPr>
                        <m:ctrlPr>
                          <a:rPr lang="fr-FR" sz="1100" i="1" noProof="0" smtClean="0">
                            <a:solidFill>
                              <a:schemeClr val="bg2">
                                <a:lumMod val="25000"/>
                              </a:schemeClr>
                            </a:solidFill>
                            <a:latin typeface="Cambria Math" panose="02040503050406030204" pitchFamily="18" charset="0"/>
                            <a:ea typeface="Calibri"/>
                            <a:cs typeface="Calibri"/>
                          </a:rPr>
                        </m:ctrlPr>
                      </m:sSubPr>
                      <m:e>
                        <m:r>
                          <a:rPr lang="fr-FR" sz="1100" b="0" i="1" noProof="0" smtClean="0">
                            <a:solidFill>
                              <a:schemeClr val="bg2">
                                <a:lumMod val="25000"/>
                              </a:schemeClr>
                            </a:solidFill>
                            <a:latin typeface="Cambria Math" panose="02040503050406030204" pitchFamily="18" charset="0"/>
                            <a:ea typeface="Calibri"/>
                            <a:cs typeface="Calibri"/>
                          </a:rPr>
                          <m:t>𝑈</m:t>
                        </m:r>
                      </m:e>
                      <m:sub>
                        <m:r>
                          <a:rPr lang="fr-FR" sz="1100" b="0" i="1" noProof="0" smtClean="0">
                            <a:solidFill>
                              <a:schemeClr val="bg2">
                                <a:lumMod val="25000"/>
                              </a:schemeClr>
                            </a:solidFill>
                            <a:latin typeface="Cambria Math" panose="02040503050406030204" pitchFamily="18" charset="0"/>
                            <a:ea typeface="Calibri"/>
                            <a:cs typeface="Calibri"/>
                          </a:rPr>
                          <m:t>𝐿𝑆𝑅</m:t>
                        </m:r>
                      </m:sub>
                    </m:sSub>
                    <m:r>
                      <a:rPr lang="fr-FR" sz="1100" b="0" i="1" noProof="0" smtClean="0">
                        <a:solidFill>
                          <a:schemeClr val="bg2">
                            <a:lumMod val="25000"/>
                          </a:schemeClr>
                        </a:solidFill>
                        <a:latin typeface="Cambria Math" panose="02040503050406030204" pitchFamily="18" charset="0"/>
                        <a:ea typeface="Calibri"/>
                        <a:cs typeface="Calibri"/>
                      </a:rPr>
                      <m:t>=0</m:t>
                    </m:r>
                    <m:r>
                      <a:rPr lang="fr-FR" sz="1100" b="0" i="0" noProof="0" smtClean="0">
                        <a:solidFill>
                          <a:schemeClr val="bg2">
                            <a:lumMod val="25000"/>
                          </a:schemeClr>
                        </a:solidFill>
                        <a:latin typeface="Cambria Math" panose="02040503050406030204" pitchFamily="18" charset="0"/>
                        <a:ea typeface="Calibri"/>
                        <a:cs typeface="Calibri"/>
                      </a:rPr>
                      <m:t> </m:t>
                    </m:r>
                  </m:oMath>
                </a14:m>
                <a:r>
                  <a:rPr lang="fr-FR" sz="1100" noProof="0" dirty="0">
                    <a:solidFill>
                      <a:schemeClr val="bg2">
                        <a:lumMod val="25000"/>
                      </a:schemeClr>
                    </a:solidFill>
                    <a:ea typeface="Calibri"/>
                    <a:cs typeface="Calibri"/>
                  </a:rPr>
                  <a:t>; </a:t>
                </a:r>
                <a14:m>
                  <m:oMath xmlns:m="http://schemas.openxmlformats.org/officeDocument/2006/math">
                    <m:sSub>
                      <m:sSubPr>
                        <m:ctrlPr>
                          <a:rPr lang="fr-FR" sz="1100" i="1" noProof="0" smtClean="0">
                            <a:solidFill>
                              <a:schemeClr val="bg2">
                                <a:lumMod val="25000"/>
                              </a:schemeClr>
                            </a:solidFill>
                            <a:latin typeface="Cambria Math" panose="02040503050406030204" pitchFamily="18" charset="0"/>
                            <a:ea typeface="Calibri"/>
                            <a:cs typeface="Calibri"/>
                          </a:rPr>
                        </m:ctrlPr>
                      </m:sSubPr>
                      <m:e>
                        <m:r>
                          <a:rPr lang="fr-FR" sz="1100" b="0" i="1" noProof="0" smtClean="0">
                            <a:solidFill>
                              <a:schemeClr val="bg2">
                                <a:lumMod val="25000"/>
                              </a:schemeClr>
                            </a:solidFill>
                            <a:latin typeface="Cambria Math" panose="02040503050406030204" pitchFamily="18" charset="0"/>
                            <a:ea typeface="Calibri"/>
                            <a:cs typeface="Calibri"/>
                          </a:rPr>
                          <m:t>𝑊</m:t>
                        </m:r>
                      </m:e>
                      <m:sub>
                        <m:r>
                          <a:rPr lang="fr-FR" sz="1100" b="0" i="1" noProof="0" smtClean="0">
                            <a:solidFill>
                              <a:schemeClr val="bg2">
                                <a:lumMod val="25000"/>
                              </a:schemeClr>
                            </a:solidFill>
                            <a:latin typeface="Cambria Math" panose="02040503050406030204" pitchFamily="18" charset="0"/>
                            <a:ea typeface="Calibri"/>
                            <a:cs typeface="Calibri"/>
                          </a:rPr>
                          <m:t>𝐿𝑆𝑅</m:t>
                        </m:r>
                      </m:sub>
                    </m:sSub>
                    <m:r>
                      <a:rPr lang="fr-FR" sz="1100" b="0" i="1" noProof="0" smtClean="0">
                        <a:solidFill>
                          <a:schemeClr val="bg2">
                            <a:lumMod val="25000"/>
                          </a:schemeClr>
                        </a:solidFill>
                        <a:latin typeface="Cambria Math" panose="02040503050406030204" pitchFamily="18" charset="0"/>
                        <a:ea typeface="Calibri"/>
                        <a:cs typeface="Calibri"/>
                      </a:rPr>
                      <m:t>=0</m:t>
                    </m:r>
                  </m:oMath>
                </a14:m>
                <a:r>
                  <a:rPr lang="fr-FR" sz="1100" noProof="0" dirty="0">
                    <a:solidFill>
                      <a:schemeClr val="bg2">
                        <a:lumMod val="25000"/>
                      </a:schemeClr>
                    </a:solidFill>
                    <a:ea typeface="Calibri"/>
                    <a:cs typeface="Calibri"/>
                  </a:rPr>
                  <a:t> ; </a:t>
                </a:r>
                <a14:m>
                  <m:oMath xmlns:m="http://schemas.openxmlformats.org/officeDocument/2006/math">
                    <m:sSub>
                      <m:sSubPr>
                        <m:ctrlPr>
                          <a:rPr lang="fr-FR" sz="1100" i="1" noProof="0">
                            <a:solidFill>
                              <a:schemeClr val="bg2">
                                <a:lumMod val="25000"/>
                              </a:schemeClr>
                            </a:solidFill>
                            <a:latin typeface="Cambria Math" panose="02040503050406030204" pitchFamily="18" charset="0"/>
                            <a:ea typeface="Calibri"/>
                            <a:cs typeface="Calibri"/>
                          </a:rPr>
                        </m:ctrlPr>
                      </m:sSubPr>
                      <m:e>
                        <m:r>
                          <a:rPr lang="fr-FR" sz="1100" b="0" i="1" noProof="0" smtClean="0">
                            <a:solidFill>
                              <a:schemeClr val="bg2">
                                <a:lumMod val="25000"/>
                              </a:schemeClr>
                            </a:solidFill>
                            <a:latin typeface="Cambria Math" panose="02040503050406030204" pitchFamily="18" charset="0"/>
                            <a:ea typeface="Calibri"/>
                            <a:cs typeface="Calibri"/>
                          </a:rPr>
                          <m:t>𝑉</m:t>
                        </m:r>
                      </m:e>
                      <m:sub>
                        <m:r>
                          <a:rPr lang="fr-FR" sz="1100" i="1" noProof="0">
                            <a:solidFill>
                              <a:schemeClr val="bg2">
                                <a:lumMod val="25000"/>
                              </a:schemeClr>
                            </a:solidFill>
                            <a:latin typeface="Cambria Math" panose="02040503050406030204" pitchFamily="18" charset="0"/>
                            <a:ea typeface="Calibri"/>
                            <a:cs typeface="Calibri"/>
                          </a:rPr>
                          <m:t>𝐿𝑆𝑅</m:t>
                        </m:r>
                      </m:sub>
                    </m:sSub>
                    <m:r>
                      <a:rPr lang="fr-FR" sz="1100" i="1" noProof="0">
                        <a:solidFill>
                          <a:schemeClr val="bg2">
                            <a:lumMod val="25000"/>
                          </a:schemeClr>
                        </a:solidFill>
                        <a:latin typeface="Cambria Math" panose="02040503050406030204" pitchFamily="18" charset="0"/>
                        <a:ea typeface="Calibri"/>
                        <a:cs typeface="Calibri"/>
                      </a:rPr>
                      <m:t>=</m:t>
                    </m:r>
                  </m:oMath>
                </a14:m>
                <a:r>
                  <a:rPr lang="fr-FR" sz="1100" noProof="0" dirty="0">
                    <a:solidFill>
                      <a:schemeClr val="bg2">
                        <a:lumMod val="25000"/>
                      </a:schemeClr>
                    </a:solidFill>
                    <a:ea typeface="Calibri"/>
                    <a:cs typeface="Calibri"/>
                  </a:rPr>
                  <a:t> </a:t>
                </a:r>
                <a14:m>
                  <m:oMath xmlns:m="http://schemas.openxmlformats.org/officeDocument/2006/math">
                    <m:sSub>
                      <m:sSubPr>
                        <m:ctrlPr>
                          <a:rPr lang="fr-FR" sz="1100" b="1" i="1" noProof="0">
                            <a:solidFill>
                              <a:schemeClr val="bg2">
                                <a:lumMod val="25000"/>
                              </a:schemeClr>
                            </a:solidFill>
                            <a:latin typeface="Cambria Math" panose="02040503050406030204" pitchFamily="18" charset="0"/>
                            <a:ea typeface="Calibri"/>
                            <a:cs typeface="Calibri"/>
                          </a:rPr>
                        </m:ctrlPr>
                      </m:sSubPr>
                      <m:e>
                        <m:r>
                          <a:rPr lang="fr-FR" sz="1100" b="1" i="1" noProof="0">
                            <a:solidFill>
                              <a:schemeClr val="bg2">
                                <a:lumMod val="25000"/>
                              </a:schemeClr>
                            </a:solidFill>
                            <a:latin typeface="Cambria Math" panose="02040503050406030204" pitchFamily="18" charset="0"/>
                            <a:ea typeface="Cambria Math" panose="02040503050406030204" pitchFamily="18" charset="0"/>
                            <a:cs typeface="Calibri"/>
                          </a:rPr>
                          <m:t>𝚯</m:t>
                        </m:r>
                      </m:e>
                      <m:sub>
                        <m:r>
                          <a:rPr lang="fr-FR" sz="1100" b="1" i="1" noProof="0">
                            <a:solidFill>
                              <a:schemeClr val="bg2">
                                <a:lumMod val="25000"/>
                              </a:schemeClr>
                            </a:solidFill>
                            <a:latin typeface="Cambria Math" panose="02040503050406030204" pitchFamily="18" charset="0"/>
                            <a:ea typeface="Calibri"/>
                            <a:cs typeface="Calibri"/>
                          </a:rPr>
                          <m:t>𝟎</m:t>
                        </m:r>
                      </m:sub>
                    </m:sSub>
                  </m:oMath>
                </a14:m>
                <a:r>
                  <a:rPr lang="fr-FR" sz="1100" b="1" noProof="0" dirty="0">
                    <a:solidFill>
                      <a:schemeClr val="bg2">
                        <a:lumMod val="25000"/>
                      </a:schemeClr>
                    </a:solidFill>
                    <a:ea typeface="Calibri"/>
                    <a:cs typeface="Calibri"/>
                  </a:rPr>
                  <a:t> </a:t>
                </a:r>
                <a:endParaRPr lang="fr-FR" sz="1100" noProof="0" dirty="0">
                  <a:solidFill>
                    <a:schemeClr val="bg2">
                      <a:lumMod val="25000"/>
                    </a:schemeClr>
                  </a:solidFill>
                  <a:ea typeface="Calibri"/>
                  <a:cs typeface="Calibri"/>
                </a:endParaRPr>
              </a:p>
            </p:txBody>
          </p:sp>
        </mc:Choice>
        <mc:Fallback xmlns="">
          <p:sp>
            <p:nvSpPr>
              <p:cNvPr id="49" name="ZoneTexte 14">
                <a:extLst>
                  <a:ext uri="{FF2B5EF4-FFF2-40B4-BE49-F238E27FC236}">
                    <a16:creationId xmlns:a16="http://schemas.microsoft.com/office/drawing/2014/main" id="{07BDCA01-FBA2-0DBE-1A6E-EDEB7488AA66}"/>
                  </a:ext>
                </a:extLst>
              </p:cNvPr>
              <p:cNvSpPr txBox="1">
                <a:spLocks noRot="1" noChangeAspect="1" noMove="1" noResize="1" noEditPoints="1" noAdjustHandles="1" noChangeArrowheads="1" noChangeShapeType="1" noTextEdit="1"/>
              </p:cNvSpPr>
              <p:nvPr/>
            </p:nvSpPr>
            <p:spPr>
              <a:xfrm>
                <a:off x="6084786" y="3593069"/>
                <a:ext cx="5747655" cy="938719"/>
              </a:xfrm>
              <a:prstGeom prst="rect">
                <a:avLst/>
              </a:prstGeom>
              <a:blipFill>
                <a:blip r:embed="rId8"/>
                <a:stretch>
                  <a:fillRect b="-3896"/>
                </a:stretch>
              </a:blipFill>
            </p:spPr>
            <p:txBody>
              <a:bodyPr/>
              <a:lstStyle/>
              <a:p>
                <a:r>
                  <a:rPr lang="fr-FR">
                    <a:noFill/>
                  </a:rPr>
                  <a:t> </a:t>
                </a:r>
              </a:p>
            </p:txBody>
          </p:sp>
        </mc:Fallback>
      </mc:AlternateContent>
      <p:pic>
        <p:nvPicPr>
          <p:cNvPr id="50" name="Graphic 49" descr="Arrow Right with solid fill">
            <a:extLst>
              <a:ext uri="{FF2B5EF4-FFF2-40B4-BE49-F238E27FC236}">
                <a16:creationId xmlns:a16="http://schemas.microsoft.com/office/drawing/2014/main" id="{11A4A42C-4905-4C99-633A-59ED7DDE37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1575" y="3568414"/>
            <a:ext cx="244511" cy="328246"/>
          </a:xfrm>
          <a:prstGeom prst="rect">
            <a:avLst/>
          </a:prstGeom>
        </p:spPr>
      </p:pic>
      <p:pic>
        <p:nvPicPr>
          <p:cNvPr id="51" name="Graphic 50" descr="Arrow Right with solid fill">
            <a:extLst>
              <a:ext uri="{FF2B5EF4-FFF2-40B4-BE49-F238E27FC236}">
                <a16:creationId xmlns:a16="http://schemas.microsoft.com/office/drawing/2014/main" id="{907425DA-4060-9792-2C36-EEC1E5540A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9948" y="3912292"/>
            <a:ext cx="244511" cy="328246"/>
          </a:xfrm>
          <a:prstGeom prst="rect">
            <a:avLst/>
          </a:prstGeom>
        </p:spPr>
      </p:pic>
      <p:pic>
        <p:nvPicPr>
          <p:cNvPr id="60" name="Graphic 59" descr="Arrow Right with solid fill">
            <a:extLst>
              <a:ext uri="{FF2B5EF4-FFF2-40B4-BE49-F238E27FC236}">
                <a16:creationId xmlns:a16="http://schemas.microsoft.com/office/drawing/2014/main" id="{46960F46-B81E-237D-CAD9-5AA6DF9C874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9948" y="4235124"/>
            <a:ext cx="244511" cy="328246"/>
          </a:xfrm>
          <a:prstGeom prst="rect">
            <a:avLst/>
          </a:prstGeom>
        </p:spPr>
      </p:pic>
      <p:pic>
        <p:nvPicPr>
          <p:cNvPr id="61" name="Graphic 60" descr="Compass with solid fill">
            <a:extLst>
              <a:ext uri="{FF2B5EF4-FFF2-40B4-BE49-F238E27FC236}">
                <a16:creationId xmlns:a16="http://schemas.microsoft.com/office/drawing/2014/main" id="{BC0EDFF4-0AB5-CDEF-6FA9-7EE4783EFC7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94792" y="3150922"/>
            <a:ext cx="340548" cy="293513"/>
          </a:xfrm>
          <a:prstGeom prst="rect">
            <a:avLst/>
          </a:prstGeom>
        </p:spPr>
      </p:pic>
      <p:sp>
        <p:nvSpPr>
          <p:cNvPr id="68" name="Rectangle : coins arrondis 8">
            <a:extLst>
              <a:ext uri="{FF2B5EF4-FFF2-40B4-BE49-F238E27FC236}">
                <a16:creationId xmlns:a16="http://schemas.microsoft.com/office/drawing/2014/main" id="{574EE906-3AB1-E3F4-F77D-B2871DC1B0DA}"/>
              </a:ext>
            </a:extLst>
          </p:cNvPr>
          <p:cNvSpPr/>
          <p:nvPr/>
        </p:nvSpPr>
        <p:spPr>
          <a:xfrm>
            <a:off x="401818" y="5016808"/>
            <a:ext cx="11298455" cy="1748512"/>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pic>
        <p:nvPicPr>
          <p:cNvPr id="67" name="Picture 66">
            <a:extLst>
              <a:ext uri="{FF2B5EF4-FFF2-40B4-BE49-F238E27FC236}">
                <a16:creationId xmlns:a16="http://schemas.microsoft.com/office/drawing/2014/main" id="{1D587FA2-2DB7-4208-23E9-D03F1171E109}"/>
              </a:ext>
            </a:extLst>
          </p:cNvPr>
          <p:cNvPicPr>
            <a:picLocks noChangeAspect="1"/>
          </p:cNvPicPr>
          <p:nvPr/>
        </p:nvPicPr>
        <p:blipFill>
          <a:blip r:embed="rId10"/>
          <a:srcRect t="7213"/>
          <a:stretch>
            <a:fillRect/>
          </a:stretch>
        </p:blipFill>
        <p:spPr>
          <a:xfrm>
            <a:off x="6145846" y="5077507"/>
            <a:ext cx="5053330" cy="1596623"/>
          </a:xfrm>
          <a:prstGeom prst="rect">
            <a:avLst/>
          </a:prstGeom>
          <a:effectLst>
            <a:outerShdw blurRad="50800" dist="38100" dir="2700000" algn="tl" rotWithShape="0">
              <a:prstClr val="black">
                <a:alpha val="40000"/>
              </a:prstClr>
            </a:outerShdw>
          </a:effectLst>
        </p:spPr>
      </p:pic>
      <p:sp>
        <p:nvSpPr>
          <p:cNvPr id="69" name="ZoneTexte 13">
            <a:extLst>
              <a:ext uri="{FF2B5EF4-FFF2-40B4-BE49-F238E27FC236}">
                <a16:creationId xmlns:a16="http://schemas.microsoft.com/office/drawing/2014/main" id="{FD2A94E3-8ACD-B2BC-61D3-6BC458B22DD9}"/>
              </a:ext>
            </a:extLst>
          </p:cNvPr>
          <p:cNvSpPr txBox="1"/>
          <p:nvPr/>
        </p:nvSpPr>
        <p:spPr>
          <a:xfrm>
            <a:off x="992824" y="5616389"/>
            <a:ext cx="4785003" cy="261610"/>
          </a:xfrm>
          <a:prstGeom prst="rect">
            <a:avLst/>
          </a:prstGeom>
          <a:noFill/>
        </p:spPr>
        <p:txBody>
          <a:bodyPr wrap="square" lIns="91440" tIns="45720" rIns="91440" bIns="45720" rtlCol="0" anchor="t">
            <a:spAutoFit/>
          </a:bodyPr>
          <a:lstStyle/>
          <a:p>
            <a:r>
              <a:rPr lang="fr-FR" sz="1100" noProof="0" dirty="0">
                <a:solidFill>
                  <a:schemeClr val="bg1"/>
                </a:solidFill>
              </a:rPr>
              <a:t>Les publications de référence utilisent les paramètres de </a:t>
            </a:r>
            <a:r>
              <a:rPr lang="fr-FR" sz="1100" noProof="0" dirty="0" err="1">
                <a:solidFill>
                  <a:schemeClr val="bg1"/>
                </a:solidFill>
              </a:rPr>
              <a:t>Schönrich</a:t>
            </a:r>
            <a:r>
              <a:rPr lang="fr-FR" sz="1100" noProof="0" dirty="0">
                <a:solidFill>
                  <a:schemeClr val="bg1"/>
                </a:solidFill>
              </a:rPr>
              <a:t> et al. 2010</a:t>
            </a:r>
          </a:p>
        </p:txBody>
      </p:sp>
      <p:sp>
        <p:nvSpPr>
          <p:cNvPr id="70" name="ZoneTexte 13">
            <a:extLst>
              <a:ext uri="{FF2B5EF4-FFF2-40B4-BE49-F238E27FC236}">
                <a16:creationId xmlns:a16="http://schemas.microsoft.com/office/drawing/2014/main" id="{42DEE7DC-8230-AB30-0FFA-795BDA5A5B25}"/>
              </a:ext>
            </a:extLst>
          </p:cNvPr>
          <p:cNvSpPr txBox="1"/>
          <p:nvPr/>
        </p:nvSpPr>
        <p:spPr>
          <a:xfrm>
            <a:off x="748289" y="5095327"/>
            <a:ext cx="2618928" cy="338554"/>
          </a:xfrm>
          <a:prstGeom prst="rect">
            <a:avLst/>
          </a:prstGeom>
          <a:noFill/>
        </p:spPr>
        <p:txBody>
          <a:bodyPr wrap="square" lIns="91440" tIns="45720" rIns="91440" bIns="45720" rtlCol="0" anchor="t">
            <a:spAutoFit/>
          </a:bodyPr>
          <a:lstStyle/>
          <a:p>
            <a:r>
              <a:rPr lang="fr-FR" sz="1600" b="1" noProof="0" dirty="0">
                <a:solidFill>
                  <a:schemeClr val="bg1">
                    <a:lumMod val="95000"/>
                  </a:schemeClr>
                </a:solidFill>
              </a:rPr>
              <a:t>Paramètres fondamentaux</a:t>
            </a:r>
            <a:endParaRPr lang="fr-FR" noProof="0" dirty="0">
              <a:solidFill>
                <a:schemeClr val="bg1">
                  <a:lumMod val="95000"/>
                </a:schemeClr>
              </a:solidFill>
            </a:endParaRPr>
          </a:p>
        </p:txBody>
      </p:sp>
      <p:pic>
        <p:nvPicPr>
          <p:cNvPr id="71" name="Graphic 70" descr="Arrow Right with solid fill">
            <a:extLst>
              <a:ext uri="{FF2B5EF4-FFF2-40B4-BE49-F238E27FC236}">
                <a16:creationId xmlns:a16="http://schemas.microsoft.com/office/drawing/2014/main" id="{AB3E9ED4-F37C-8EB4-FBE9-7262C91F2D8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4162" y="5598093"/>
            <a:ext cx="244511" cy="328246"/>
          </a:xfrm>
          <a:prstGeom prst="rect">
            <a:avLst/>
          </a:prstGeom>
        </p:spPr>
      </p:pic>
      <p:sp>
        <p:nvSpPr>
          <p:cNvPr id="72" name="ZoneTexte 13">
            <a:extLst>
              <a:ext uri="{FF2B5EF4-FFF2-40B4-BE49-F238E27FC236}">
                <a16:creationId xmlns:a16="http://schemas.microsoft.com/office/drawing/2014/main" id="{39C9C1A6-00A3-3E0E-C034-11A9C15C0EC4}"/>
              </a:ext>
            </a:extLst>
          </p:cNvPr>
          <p:cNvSpPr txBox="1"/>
          <p:nvPr/>
        </p:nvSpPr>
        <p:spPr>
          <a:xfrm>
            <a:off x="992824" y="5969103"/>
            <a:ext cx="4785003" cy="261610"/>
          </a:xfrm>
          <a:prstGeom prst="rect">
            <a:avLst/>
          </a:prstGeom>
          <a:noFill/>
        </p:spPr>
        <p:txBody>
          <a:bodyPr wrap="square" lIns="91440" tIns="45720" rIns="91440" bIns="45720" rtlCol="0" anchor="t">
            <a:spAutoFit/>
          </a:bodyPr>
          <a:lstStyle/>
          <a:p>
            <a:r>
              <a:rPr lang="fr-FR" sz="1100" noProof="0" dirty="0">
                <a:solidFill>
                  <a:schemeClr val="bg1"/>
                </a:solidFill>
              </a:rPr>
              <a:t>J’ai utilisé les paramètres de Gravity Coll. 2022 et Bobylev et al. 2026</a:t>
            </a:r>
          </a:p>
        </p:txBody>
      </p:sp>
      <p:pic>
        <p:nvPicPr>
          <p:cNvPr id="73" name="Graphic 72" descr="Arrow Right with solid fill">
            <a:extLst>
              <a:ext uri="{FF2B5EF4-FFF2-40B4-BE49-F238E27FC236}">
                <a16:creationId xmlns:a16="http://schemas.microsoft.com/office/drawing/2014/main" id="{8A6CD3EF-EC56-3899-7044-B2E51145F8F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4162" y="5950807"/>
            <a:ext cx="244511" cy="328246"/>
          </a:xfrm>
          <a:prstGeom prst="rect">
            <a:avLst/>
          </a:prstGeom>
        </p:spPr>
      </p:pic>
      <p:cxnSp>
        <p:nvCxnSpPr>
          <p:cNvPr id="74" name="Connecteur droit 4">
            <a:extLst>
              <a:ext uri="{FF2B5EF4-FFF2-40B4-BE49-F238E27FC236}">
                <a16:creationId xmlns:a16="http://schemas.microsoft.com/office/drawing/2014/main" id="{5BA748D4-A50D-D39B-F85D-15860383CE3B}"/>
              </a:ext>
            </a:extLst>
          </p:cNvPr>
          <p:cNvCxnSpPr>
            <a:cxnSpLocks/>
          </p:cNvCxnSpPr>
          <p:nvPr/>
        </p:nvCxnSpPr>
        <p:spPr>
          <a:xfrm>
            <a:off x="563434" y="4836487"/>
            <a:ext cx="11136840" cy="0"/>
          </a:xfrm>
          <a:prstGeom prst="line">
            <a:avLst/>
          </a:prstGeom>
          <a:ln>
            <a:solidFill>
              <a:srgbClr val="2596B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464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81125-AC47-CA3D-6592-5DB54911FD6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F4026C2-DA1D-86BF-F68F-CCF7C9C1CA75}"/>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644F4A67-4BD0-F7BE-8EDD-75C8746AC7FF}"/>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Positions et vitesses dans le référentiel galactocentrique</a:t>
            </a:r>
          </a:p>
        </p:txBody>
      </p:sp>
      <p:sp>
        <p:nvSpPr>
          <p:cNvPr id="5" name="Espace réservé du numéro de diapositive 4">
            <a:extLst>
              <a:ext uri="{FF2B5EF4-FFF2-40B4-BE49-F238E27FC236}">
                <a16:creationId xmlns:a16="http://schemas.microsoft.com/office/drawing/2014/main" id="{D33A6D6C-7FC1-CB32-E1FC-4B0F482469BB}"/>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6</a:t>
            </a:fld>
            <a:endParaRPr lang="fr-FR" noProof="0" dirty="0"/>
          </a:p>
        </p:txBody>
      </p:sp>
      <p:pic>
        <p:nvPicPr>
          <p:cNvPr id="11" name="Picture 2">
            <a:extLst>
              <a:ext uri="{FF2B5EF4-FFF2-40B4-BE49-F238E27FC236}">
                <a16:creationId xmlns:a16="http://schemas.microsoft.com/office/drawing/2014/main" id="{A390D81F-0A30-EEFB-2144-9CA894D383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EB6F9F71-2F1A-78AA-8B86-5061CBC7B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 coins arrondis 8">
            <a:extLst>
              <a:ext uri="{FF2B5EF4-FFF2-40B4-BE49-F238E27FC236}">
                <a16:creationId xmlns:a16="http://schemas.microsoft.com/office/drawing/2014/main" id="{16DDA3F2-68F9-0A49-7EAA-9E7C2362C0E4}"/>
              </a:ext>
            </a:extLst>
          </p:cNvPr>
          <p:cNvSpPr/>
          <p:nvPr/>
        </p:nvSpPr>
        <p:spPr>
          <a:xfrm>
            <a:off x="1032874" y="1462290"/>
            <a:ext cx="9783620" cy="2735422"/>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7" name="ZoneTexte 13">
            <a:extLst>
              <a:ext uri="{FF2B5EF4-FFF2-40B4-BE49-F238E27FC236}">
                <a16:creationId xmlns:a16="http://schemas.microsoft.com/office/drawing/2014/main" id="{D4A39331-D4DD-F7D7-75D2-E5430D6D1598}"/>
              </a:ext>
            </a:extLst>
          </p:cNvPr>
          <p:cNvSpPr txBox="1"/>
          <p:nvPr/>
        </p:nvSpPr>
        <p:spPr>
          <a:xfrm>
            <a:off x="1396618" y="1456723"/>
            <a:ext cx="4699382" cy="338554"/>
          </a:xfrm>
          <a:prstGeom prst="rect">
            <a:avLst/>
          </a:prstGeom>
          <a:noFill/>
        </p:spPr>
        <p:txBody>
          <a:bodyPr wrap="square" lIns="91440" tIns="45720" rIns="91440" bIns="45720" rtlCol="0" anchor="t">
            <a:spAutoFit/>
          </a:bodyPr>
          <a:lstStyle/>
          <a:p>
            <a:r>
              <a:rPr lang="fr-FR" sz="1600" b="1" noProof="0" dirty="0">
                <a:solidFill>
                  <a:srgbClr val="0F172A"/>
                </a:solidFill>
              </a:rPr>
              <a:t>Méthode de changement de référentiel</a:t>
            </a:r>
            <a:endParaRPr lang="fr-FR" noProof="0" dirty="0">
              <a:solidFill>
                <a:srgbClr val="0F172A"/>
              </a:solidFill>
            </a:endParaRPr>
          </a:p>
        </p:txBody>
      </p:sp>
      <mc:AlternateContent xmlns:mc="http://schemas.openxmlformats.org/markup-compatibility/2006" xmlns:a14="http://schemas.microsoft.com/office/drawing/2010/main">
        <mc:Choice Requires="a14">
          <p:sp>
            <p:nvSpPr>
              <p:cNvPr id="9" name="ZoneTexte 13">
                <a:extLst>
                  <a:ext uri="{FF2B5EF4-FFF2-40B4-BE49-F238E27FC236}">
                    <a16:creationId xmlns:a16="http://schemas.microsoft.com/office/drawing/2014/main" id="{24DFD565-4965-5138-DA26-6F8AD186EFB9}"/>
                  </a:ext>
                </a:extLst>
              </p:cNvPr>
              <p:cNvSpPr txBox="1"/>
              <p:nvPr/>
            </p:nvSpPr>
            <p:spPr>
              <a:xfrm>
                <a:off x="1295050" y="1789709"/>
                <a:ext cx="8505443"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Convertir les </a:t>
                </a:r>
                <a:r>
                  <a:rPr lang="fr-FR" sz="1200" b="1" noProof="0" dirty="0">
                    <a:solidFill>
                      <a:schemeClr val="bg2">
                        <a:lumMod val="25000"/>
                      </a:schemeClr>
                    </a:solidFill>
                  </a:rPr>
                  <a:t>mouvements propres </a:t>
                </a:r>
                <a14:m>
                  <m:oMath xmlns:m="http://schemas.openxmlformats.org/officeDocument/2006/math">
                    <m:sSub>
                      <m:sSubPr>
                        <m:ctrlPr>
                          <a:rPr lang="fr-FR" sz="1200" i="1" noProof="0" smtClean="0">
                            <a:solidFill>
                              <a:schemeClr val="bg2">
                                <a:lumMod val="25000"/>
                              </a:schemeClr>
                            </a:solidFill>
                            <a:latin typeface="Cambria Math" panose="02040503050406030204" pitchFamily="18" charset="0"/>
                          </a:rPr>
                        </m:ctrlPr>
                      </m:sSubPr>
                      <m:e>
                        <m:r>
                          <a:rPr lang="fr-FR" sz="1200" i="1" noProof="0" smtClean="0">
                            <a:solidFill>
                              <a:schemeClr val="bg2">
                                <a:lumMod val="25000"/>
                              </a:schemeClr>
                            </a:solidFill>
                            <a:latin typeface="Cambria Math" panose="02040503050406030204" pitchFamily="18" charset="0"/>
                            <a:ea typeface="Cambria Math" panose="02040503050406030204" pitchFamily="18" charset="0"/>
                          </a:rPr>
                          <m:t>𝜇</m:t>
                        </m:r>
                      </m:e>
                      <m:sub>
                        <m:r>
                          <a:rPr lang="fr-FR" sz="1200" b="0" i="1" noProof="0" smtClean="0">
                            <a:solidFill>
                              <a:schemeClr val="bg2">
                                <a:lumMod val="25000"/>
                              </a:schemeClr>
                            </a:solidFill>
                            <a:latin typeface="Cambria Math" panose="02040503050406030204" pitchFamily="18" charset="0"/>
                          </a:rPr>
                          <m:t>𝑙</m:t>
                        </m:r>
                      </m:sub>
                    </m:sSub>
                  </m:oMath>
                </a14:m>
                <a:r>
                  <a:rPr lang="fr-FR" sz="1200" noProof="0" dirty="0">
                    <a:solidFill>
                      <a:schemeClr val="bg2">
                        <a:lumMod val="25000"/>
                      </a:schemeClr>
                    </a:solidFill>
                  </a:rPr>
                  <a:t> et </a:t>
                </a:r>
                <a14:m>
                  <m:oMath xmlns:m="http://schemas.openxmlformats.org/officeDocument/2006/math">
                    <m:sSub>
                      <m:sSubPr>
                        <m:ctrlPr>
                          <a:rPr lang="fr-FR" sz="1200" i="1" noProof="0" smtClean="0">
                            <a:solidFill>
                              <a:schemeClr val="bg2">
                                <a:lumMod val="25000"/>
                              </a:schemeClr>
                            </a:solidFill>
                            <a:latin typeface="Cambria Math" panose="02040503050406030204" pitchFamily="18" charset="0"/>
                          </a:rPr>
                        </m:ctrlPr>
                      </m:sSubPr>
                      <m:e>
                        <m:r>
                          <a:rPr lang="fr-FR" sz="1200" i="1" noProof="0" smtClean="0">
                            <a:solidFill>
                              <a:schemeClr val="bg2">
                                <a:lumMod val="25000"/>
                              </a:schemeClr>
                            </a:solidFill>
                            <a:latin typeface="Cambria Math" panose="02040503050406030204" pitchFamily="18" charset="0"/>
                            <a:ea typeface="Cambria Math" panose="02040503050406030204" pitchFamily="18" charset="0"/>
                          </a:rPr>
                          <m:t>𝜇</m:t>
                        </m:r>
                      </m:e>
                      <m:sub>
                        <m:r>
                          <a:rPr lang="fr-FR" sz="1200" b="0" i="1" noProof="0" smtClean="0">
                            <a:solidFill>
                              <a:schemeClr val="bg2">
                                <a:lumMod val="25000"/>
                              </a:schemeClr>
                            </a:solidFill>
                            <a:latin typeface="Cambria Math" panose="02040503050406030204" pitchFamily="18" charset="0"/>
                            <a:ea typeface="Cambria Math" panose="02040503050406030204" pitchFamily="18" charset="0"/>
                          </a:rPr>
                          <m:t>𝑏</m:t>
                        </m:r>
                      </m:sub>
                    </m:sSub>
                  </m:oMath>
                </a14:m>
                <a:r>
                  <a:rPr lang="fr-FR" sz="1200" noProof="0" dirty="0">
                    <a:solidFill>
                      <a:schemeClr val="bg2">
                        <a:lumMod val="25000"/>
                      </a:schemeClr>
                    </a:solidFill>
                  </a:rPr>
                  <a:t> en </a:t>
                </a:r>
                <a:r>
                  <a:rPr lang="fr-FR" sz="1200" b="1" noProof="0" dirty="0">
                    <a:solidFill>
                      <a:schemeClr val="bg2">
                        <a:lumMod val="25000"/>
                      </a:schemeClr>
                    </a:solidFill>
                  </a:rPr>
                  <a:t>vitesses particulières observées </a:t>
                </a:r>
                <a14:m>
                  <m:oMath xmlns:m="http://schemas.openxmlformats.org/officeDocument/2006/math">
                    <m:sSub>
                      <m:sSubPr>
                        <m:ctrlPr>
                          <a:rPr lang="fr-FR" sz="1200" i="1" noProof="0" smtClean="0">
                            <a:solidFill>
                              <a:schemeClr val="bg2">
                                <a:lumMod val="25000"/>
                              </a:schemeClr>
                            </a:solidFill>
                            <a:latin typeface="Cambria Math" panose="02040503050406030204" pitchFamily="18" charset="0"/>
                          </a:rPr>
                        </m:ctrlPr>
                      </m:sSubPr>
                      <m:e>
                        <m:r>
                          <a:rPr lang="fr-FR" sz="1200" b="0" i="1" noProof="0" smtClean="0">
                            <a:solidFill>
                              <a:schemeClr val="bg2">
                                <a:lumMod val="25000"/>
                              </a:schemeClr>
                            </a:solidFill>
                            <a:latin typeface="Cambria Math" panose="02040503050406030204" pitchFamily="18" charset="0"/>
                          </a:rPr>
                          <m:t>𝑈</m:t>
                        </m:r>
                      </m:e>
                      <m:sub>
                        <m:r>
                          <a:rPr lang="fr-FR" sz="1200" b="0" i="1" noProof="0" smtClean="0">
                            <a:solidFill>
                              <a:schemeClr val="bg2">
                                <a:lumMod val="25000"/>
                              </a:schemeClr>
                            </a:solidFill>
                            <a:latin typeface="Cambria Math" panose="02040503050406030204" pitchFamily="18" charset="0"/>
                          </a:rPr>
                          <m:t>𝑜𝑏𝑠</m:t>
                        </m:r>
                        <m:r>
                          <a:rPr lang="fr-FR" sz="1200" b="0" i="1" noProof="0" smtClean="0">
                            <a:solidFill>
                              <a:schemeClr val="bg2">
                                <a:lumMod val="25000"/>
                              </a:schemeClr>
                            </a:solidFill>
                            <a:latin typeface="Cambria Math" panose="02040503050406030204" pitchFamily="18" charset="0"/>
                          </a:rPr>
                          <m:t> </m:t>
                        </m:r>
                      </m:sub>
                    </m:sSub>
                  </m:oMath>
                </a14:m>
                <a:r>
                  <a:rPr lang="fr-FR" sz="1200" noProof="0" dirty="0">
                    <a:solidFill>
                      <a:schemeClr val="bg2">
                        <a:lumMod val="25000"/>
                      </a:schemeClr>
                    </a:solidFill>
                  </a:rPr>
                  <a:t>,</a:t>
                </a:r>
                <a:r>
                  <a:rPr lang="fr-FR" sz="1200" dirty="0">
                    <a:solidFill>
                      <a:schemeClr val="bg2">
                        <a:lumMod val="25000"/>
                      </a:schemeClr>
                    </a:solidFill>
                  </a:rPr>
                  <a:t> </a:t>
                </a:r>
                <a14:m>
                  <m:oMath xmlns:m="http://schemas.openxmlformats.org/officeDocument/2006/math">
                    <m:sSub>
                      <m:sSubPr>
                        <m:ctrlPr>
                          <a:rPr lang="fr-FR" sz="1200" i="1">
                            <a:solidFill>
                              <a:schemeClr val="bg2">
                                <a:lumMod val="25000"/>
                              </a:schemeClr>
                            </a:solidFill>
                            <a:latin typeface="Cambria Math" panose="02040503050406030204" pitchFamily="18" charset="0"/>
                          </a:rPr>
                        </m:ctrlPr>
                      </m:sSubPr>
                      <m:e>
                        <m:r>
                          <a:rPr lang="fr-FR" sz="1200" b="0" i="1" smtClean="0">
                            <a:solidFill>
                              <a:schemeClr val="bg2">
                                <a:lumMod val="25000"/>
                              </a:schemeClr>
                            </a:solidFill>
                            <a:latin typeface="Cambria Math" panose="02040503050406030204" pitchFamily="18" charset="0"/>
                          </a:rPr>
                          <m:t>𝑉</m:t>
                        </m:r>
                      </m:e>
                      <m:sub>
                        <m:r>
                          <a:rPr lang="fr-FR" sz="1200" b="0" i="1">
                            <a:solidFill>
                              <a:schemeClr val="bg2">
                                <a:lumMod val="25000"/>
                              </a:schemeClr>
                            </a:solidFill>
                            <a:latin typeface="Cambria Math" panose="02040503050406030204" pitchFamily="18" charset="0"/>
                          </a:rPr>
                          <m:t>𝑜𝑏𝑠</m:t>
                        </m:r>
                        <m:r>
                          <a:rPr lang="fr-FR" sz="1200" b="0" i="1">
                            <a:solidFill>
                              <a:schemeClr val="bg2">
                                <a:lumMod val="25000"/>
                              </a:schemeClr>
                            </a:solidFill>
                            <a:latin typeface="Cambria Math" panose="02040503050406030204" pitchFamily="18" charset="0"/>
                          </a:rPr>
                          <m:t> </m:t>
                        </m:r>
                      </m:sub>
                    </m:sSub>
                  </m:oMath>
                </a14:m>
                <a:r>
                  <a:rPr lang="fr-FR" sz="1200" noProof="0" dirty="0">
                    <a:solidFill>
                      <a:schemeClr val="bg2">
                        <a:lumMod val="25000"/>
                      </a:schemeClr>
                    </a:solidFill>
                  </a:rPr>
                  <a:t>, </a:t>
                </a:r>
                <a14:m>
                  <m:oMath xmlns:m="http://schemas.openxmlformats.org/officeDocument/2006/math">
                    <m:sSub>
                      <m:sSubPr>
                        <m:ctrlPr>
                          <a:rPr lang="fr-FR" sz="1200" i="1">
                            <a:solidFill>
                              <a:schemeClr val="bg2">
                                <a:lumMod val="25000"/>
                              </a:schemeClr>
                            </a:solidFill>
                            <a:latin typeface="Cambria Math" panose="02040503050406030204" pitchFamily="18" charset="0"/>
                          </a:rPr>
                        </m:ctrlPr>
                      </m:sSubPr>
                      <m:e>
                        <m:r>
                          <a:rPr lang="fr-FR" sz="1200" b="0" i="1" smtClean="0">
                            <a:solidFill>
                              <a:schemeClr val="bg2">
                                <a:lumMod val="25000"/>
                              </a:schemeClr>
                            </a:solidFill>
                            <a:latin typeface="Cambria Math" panose="02040503050406030204" pitchFamily="18" charset="0"/>
                          </a:rPr>
                          <m:t>𝑊</m:t>
                        </m:r>
                      </m:e>
                      <m:sub>
                        <m:r>
                          <a:rPr lang="fr-FR" sz="1200" b="0" i="1">
                            <a:solidFill>
                              <a:schemeClr val="bg2">
                                <a:lumMod val="25000"/>
                              </a:schemeClr>
                            </a:solidFill>
                            <a:latin typeface="Cambria Math" panose="02040503050406030204" pitchFamily="18" charset="0"/>
                          </a:rPr>
                          <m:t>𝑜𝑏𝑠</m:t>
                        </m:r>
                        <m:r>
                          <a:rPr lang="fr-FR" sz="1200" b="0" i="1">
                            <a:solidFill>
                              <a:schemeClr val="bg2">
                                <a:lumMod val="25000"/>
                              </a:schemeClr>
                            </a:solidFill>
                            <a:latin typeface="Cambria Math" panose="02040503050406030204" pitchFamily="18" charset="0"/>
                          </a:rPr>
                          <m:t> </m:t>
                        </m:r>
                      </m:sub>
                    </m:sSub>
                  </m:oMath>
                </a14:m>
                <a:r>
                  <a:rPr lang="fr-FR" sz="1200" noProof="0" dirty="0">
                    <a:solidFill>
                      <a:schemeClr val="bg2">
                        <a:lumMod val="25000"/>
                      </a:schemeClr>
                    </a:solidFill>
                  </a:rPr>
                  <a:t> à l’aide de python </a:t>
                </a:r>
                <a:r>
                  <a:rPr lang="fr-FR" sz="1200" i="1" noProof="0" dirty="0">
                    <a:solidFill>
                      <a:schemeClr val="bg2">
                        <a:lumMod val="25000"/>
                      </a:schemeClr>
                    </a:solidFill>
                  </a:rPr>
                  <a:t>astropy</a:t>
                </a:r>
                <a:r>
                  <a:rPr lang="fr-FR" sz="1200" noProof="0" dirty="0">
                    <a:solidFill>
                      <a:schemeClr val="bg2">
                        <a:lumMod val="25000"/>
                      </a:schemeClr>
                    </a:solidFill>
                  </a:rPr>
                  <a:t>   </a:t>
                </a:r>
              </a:p>
            </p:txBody>
          </p:sp>
        </mc:Choice>
        <mc:Fallback xmlns="">
          <p:sp>
            <p:nvSpPr>
              <p:cNvPr id="9" name="ZoneTexte 13">
                <a:extLst>
                  <a:ext uri="{FF2B5EF4-FFF2-40B4-BE49-F238E27FC236}">
                    <a16:creationId xmlns:a16="http://schemas.microsoft.com/office/drawing/2014/main" id="{24DFD565-4965-5138-DA26-6F8AD186EFB9}"/>
                  </a:ext>
                </a:extLst>
              </p:cNvPr>
              <p:cNvSpPr txBox="1">
                <a:spLocks noRot="1" noChangeAspect="1" noMove="1" noResize="1" noEditPoints="1" noAdjustHandles="1" noChangeArrowheads="1" noChangeShapeType="1" noTextEdit="1"/>
              </p:cNvSpPr>
              <p:nvPr/>
            </p:nvSpPr>
            <p:spPr>
              <a:xfrm>
                <a:off x="1295050" y="1789709"/>
                <a:ext cx="8505443" cy="276999"/>
              </a:xfrm>
              <a:prstGeom prst="rect">
                <a:avLst/>
              </a:prstGeom>
              <a:blipFill>
                <a:blip r:embed="rId4"/>
                <a:stretch>
                  <a:fillRect t="-2222" b="-17778"/>
                </a:stretch>
              </a:blipFill>
            </p:spPr>
            <p:txBody>
              <a:bodyPr/>
              <a:lstStyle/>
              <a:p>
                <a:r>
                  <a:rPr lang="fr-FR">
                    <a:noFill/>
                  </a:rPr>
                  <a:t> </a:t>
                </a:r>
              </a:p>
            </p:txBody>
          </p:sp>
        </mc:Fallback>
      </mc:AlternateContent>
      <p:sp>
        <p:nvSpPr>
          <p:cNvPr id="10" name="L-Shape 9">
            <a:extLst>
              <a:ext uri="{FF2B5EF4-FFF2-40B4-BE49-F238E27FC236}">
                <a16:creationId xmlns:a16="http://schemas.microsoft.com/office/drawing/2014/main" id="{9FFE4238-EAF8-1057-C07C-82B0688FBCED}"/>
              </a:ext>
            </a:extLst>
          </p:cNvPr>
          <p:cNvSpPr/>
          <p:nvPr/>
        </p:nvSpPr>
        <p:spPr>
          <a:xfrm rot="13691150">
            <a:off x="1247731" y="1901783"/>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ZoneTexte 13">
            <a:extLst>
              <a:ext uri="{FF2B5EF4-FFF2-40B4-BE49-F238E27FC236}">
                <a16:creationId xmlns:a16="http://schemas.microsoft.com/office/drawing/2014/main" id="{9746A3E9-DC68-E77D-F85C-57BC1EBB6651}"/>
              </a:ext>
            </a:extLst>
          </p:cNvPr>
          <p:cNvSpPr txBox="1"/>
          <p:nvPr/>
        </p:nvSpPr>
        <p:spPr>
          <a:xfrm>
            <a:off x="1295051" y="2354201"/>
            <a:ext cx="7778612" cy="276999"/>
          </a:xfrm>
          <a:prstGeom prst="rect">
            <a:avLst/>
          </a:prstGeom>
          <a:noFill/>
        </p:spPr>
        <p:txBody>
          <a:bodyPr wrap="square" lIns="91440" tIns="45720" rIns="91440" bIns="45720" rtlCol="0" anchor="t">
            <a:spAutoFit/>
          </a:bodyPr>
          <a:lstStyle/>
          <a:p>
            <a:r>
              <a:rPr lang="fr-FR" sz="1200" b="1" noProof="0" dirty="0">
                <a:solidFill>
                  <a:schemeClr val="bg2">
                    <a:lumMod val="25000"/>
                  </a:schemeClr>
                </a:solidFill>
              </a:rPr>
              <a:t>Correction</a:t>
            </a:r>
            <a:r>
              <a:rPr lang="fr-FR" sz="1200" noProof="0" dirty="0">
                <a:solidFill>
                  <a:schemeClr val="bg2">
                    <a:lumMod val="25000"/>
                  </a:schemeClr>
                </a:solidFill>
              </a:rPr>
              <a:t> des vitesses par la </a:t>
            </a:r>
            <a:r>
              <a:rPr lang="fr-FR" sz="1200" b="1" noProof="0" dirty="0">
                <a:solidFill>
                  <a:schemeClr val="bg2">
                    <a:lumMod val="25000"/>
                  </a:schemeClr>
                </a:solidFill>
              </a:rPr>
              <a:t>vitesse particulière du Soleil</a:t>
            </a:r>
            <a:r>
              <a:rPr lang="fr-FR" sz="1200" noProof="0" dirty="0">
                <a:solidFill>
                  <a:schemeClr val="bg2">
                    <a:lumMod val="25000"/>
                  </a:schemeClr>
                </a:solidFill>
              </a:rPr>
              <a:t>:</a:t>
            </a:r>
            <a:endParaRPr lang="fr-FR" sz="1200" b="1" noProof="0" dirty="0">
              <a:solidFill>
                <a:schemeClr val="bg2">
                  <a:lumMod val="25000"/>
                </a:schemeClr>
              </a:solidFill>
            </a:endParaRPr>
          </a:p>
        </p:txBody>
      </p:sp>
      <p:sp>
        <p:nvSpPr>
          <p:cNvPr id="15" name="L-Shape 14">
            <a:extLst>
              <a:ext uri="{FF2B5EF4-FFF2-40B4-BE49-F238E27FC236}">
                <a16:creationId xmlns:a16="http://schemas.microsoft.com/office/drawing/2014/main" id="{AB800A07-2F6A-62D1-83D2-0FB9096EF70A}"/>
              </a:ext>
            </a:extLst>
          </p:cNvPr>
          <p:cNvSpPr/>
          <p:nvPr/>
        </p:nvSpPr>
        <p:spPr>
          <a:xfrm rot="13691150">
            <a:off x="1247731" y="2466275"/>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ZoneTexte 13">
            <a:extLst>
              <a:ext uri="{FF2B5EF4-FFF2-40B4-BE49-F238E27FC236}">
                <a16:creationId xmlns:a16="http://schemas.microsoft.com/office/drawing/2014/main" id="{C4E0F95B-1079-A18A-AF80-BDDE3DC3107C}"/>
              </a:ext>
            </a:extLst>
          </p:cNvPr>
          <p:cNvSpPr txBox="1"/>
          <p:nvPr/>
        </p:nvSpPr>
        <p:spPr>
          <a:xfrm>
            <a:off x="1295050" y="2922315"/>
            <a:ext cx="6231167" cy="276999"/>
          </a:xfrm>
          <a:prstGeom prst="rect">
            <a:avLst/>
          </a:prstGeom>
          <a:noFill/>
        </p:spPr>
        <p:txBody>
          <a:bodyPr wrap="square" lIns="91440" tIns="45720" rIns="91440" bIns="45720" rtlCol="0" anchor="t">
            <a:spAutoFit/>
          </a:bodyPr>
          <a:lstStyle/>
          <a:p>
            <a:r>
              <a:rPr lang="fr-FR" sz="1200" b="1" noProof="0" dirty="0">
                <a:solidFill>
                  <a:schemeClr val="bg2">
                    <a:lumMod val="25000"/>
                  </a:schemeClr>
                </a:solidFill>
              </a:rPr>
              <a:t>Rotation</a:t>
            </a:r>
            <a:r>
              <a:rPr lang="fr-FR" sz="1200" noProof="0" dirty="0">
                <a:solidFill>
                  <a:schemeClr val="bg2">
                    <a:lumMod val="25000"/>
                  </a:schemeClr>
                </a:solidFill>
              </a:rPr>
              <a:t> du repère LSR pour se placer dans le </a:t>
            </a:r>
            <a:r>
              <a:rPr lang="fr-FR" sz="1200" b="1" noProof="0" dirty="0">
                <a:solidFill>
                  <a:schemeClr val="bg2">
                    <a:lumMod val="25000"/>
                  </a:schemeClr>
                </a:solidFill>
              </a:rPr>
              <a:t>référentiel galactocentrique particulier de l’objet</a:t>
            </a:r>
          </a:p>
        </p:txBody>
      </p:sp>
      <p:sp>
        <p:nvSpPr>
          <p:cNvPr id="18" name="L-Shape 17">
            <a:extLst>
              <a:ext uri="{FF2B5EF4-FFF2-40B4-BE49-F238E27FC236}">
                <a16:creationId xmlns:a16="http://schemas.microsoft.com/office/drawing/2014/main" id="{D50BAF89-9751-1BE8-E7B7-411B1A2279A0}"/>
              </a:ext>
            </a:extLst>
          </p:cNvPr>
          <p:cNvSpPr/>
          <p:nvPr/>
        </p:nvSpPr>
        <p:spPr>
          <a:xfrm rot="13691150">
            <a:off x="1247731" y="303438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24" name="Picture 23">
            <a:extLst>
              <a:ext uri="{FF2B5EF4-FFF2-40B4-BE49-F238E27FC236}">
                <a16:creationId xmlns:a16="http://schemas.microsoft.com/office/drawing/2014/main" id="{7B483D86-1BFD-8A74-0DA7-C3661F92C2C5}"/>
              </a:ext>
            </a:extLst>
          </p:cNvPr>
          <p:cNvPicPr>
            <a:picLocks noChangeAspect="1"/>
          </p:cNvPicPr>
          <p:nvPr/>
        </p:nvPicPr>
        <p:blipFill>
          <a:blip r:embed="rId5"/>
          <a:stretch>
            <a:fillRect/>
          </a:stretch>
        </p:blipFill>
        <p:spPr>
          <a:xfrm>
            <a:off x="5094561" y="2321321"/>
            <a:ext cx="4268270" cy="324218"/>
          </a:xfrm>
          <a:prstGeom prst="rect">
            <a:avLst/>
          </a:prstGeom>
        </p:spPr>
      </p:pic>
      <p:pic>
        <p:nvPicPr>
          <p:cNvPr id="26" name="Picture 25">
            <a:extLst>
              <a:ext uri="{FF2B5EF4-FFF2-40B4-BE49-F238E27FC236}">
                <a16:creationId xmlns:a16="http://schemas.microsoft.com/office/drawing/2014/main" id="{650FD11D-2E23-9DD9-7B0E-4E9AB05FD4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50904" y="2718656"/>
            <a:ext cx="2845517" cy="1248752"/>
          </a:xfrm>
          <a:prstGeom prst="rect">
            <a:avLst/>
          </a:prstGeom>
        </p:spPr>
      </p:pic>
      <p:pic>
        <p:nvPicPr>
          <p:cNvPr id="28" name="Picture 27">
            <a:extLst>
              <a:ext uri="{FF2B5EF4-FFF2-40B4-BE49-F238E27FC236}">
                <a16:creationId xmlns:a16="http://schemas.microsoft.com/office/drawing/2014/main" id="{632FC7C7-53F8-7916-EB51-3589DDFEE21C}"/>
              </a:ext>
            </a:extLst>
          </p:cNvPr>
          <p:cNvPicPr>
            <a:picLocks noChangeAspect="1"/>
          </p:cNvPicPr>
          <p:nvPr/>
        </p:nvPicPr>
        <p:blipFill>
          <a:blip r:embed="rId7"/>
          <a:stretch>
            <a:fillRect/>
          </a:stretch>
        </p:blipFill>
        <p:spPr>
          <a:xfrm>
            <a:off x="3120386" y="3199314"/>
            <a:ext cx="2978783" cy="869235"/>
          </a:xfrm>
          <a:prstGeom prst="rect">
            <a:avLst/>
          </a:prstGeom>
        </p:spPr>
      </p:pic>
      <p:pic>
        <p:nvPicPr>
          <p:cNvPr id="30" name="Picture 29">
            <a:extLst>
              <a:ext uri="{FF2B5EF4-FFF2-40B4-BE49-F238E27FC236}">
                <a16:creationId xmlns:a16="http://schemas.microsoft.com/office/drawing/2014/main" id="{B5F279BD-E25E-DDAA-CA37-F8B0DB72BF35}"/>
              </a:ext>
            </a:extLst>
          </p:cNvPr>
          <p:cNvPicPr>
            <a:picLocks noChangeAspect="1"/>
          </p:cNvPicPr>
          <p:nvPr/>
        </p:nvPicPr>
        <p:blipFill>
          <a:blip r:embed="rId8"/>
          <a:stretch>
            <a:fillRect/>
          </a:stretch>
        </p:blipFill>
        <p:spPr>
          <a:xfrm>
            <a:off x="5578116" y="4356797"/>
            <a:ext cx="5709365" cy="2309101"/>
          </a:xfrm>
          <a:prstGeom prst="rect">
            <a:avLst/>
          </a:prstGeom>
        </p:spPr>
      </p:pic>
      <p:sp>
        <p:nvSpPr>
          <p:cNvPr id="31" name="Rectangle : coins arrondis 8">
            <a:extLst>
              <a:ext uri="{FF2B5EF4-FFF2-40B4-BE49-F238E27FC236}">
                <a16:creationId xmlns:a16="http://schemas.microsoft.com/office/drawing/2014/main" id="{BFECE0C4-DC44-30B7-9CFB-6249D43E32FE}"/>
              </a:ext>
            </a:extLst>
          </p:cNvPr>
          <p:cNvSpPr/>
          <p:nvPr/>
        </p:nvSpPr>
        <p:spPr>
          <a:xfrm>
            <a:off x="278301" y="4480431"/>
            <a:ext cx="4997083" cy="193183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32" name="ZoneTexte 13">
            <a:extLst>
              <a:ext uri="{FF2B5EF4-FFF2-40B4-BE49-F238E27FC236}">
                <a16:creationId xmlns:a16="http://schemas.microsoft.com/office/drawing/2014/main" id="{E1D5AFD5-7B07-3541-16DE-35674BE0C825}"/>
              </a:ext>
            </a:extLst>
          </p:cNvPr>
          <p:cNvSpPr txBox="1"/>
          <p:nvPr/>
        </p:nvSpPr>
        <p:spPr>
          <a:xfrm>
            <a:off x="407584" y="4474488"/>
            <a:ext cx="3781462" cy="338554"/>
          </a:xfrm>
          <a:prstGeom prst="rect">
            <a:avLst/>
          </a:prstGeom>
          <a:noFill/>
        </p:spPr>
        <p:txBody>
          <a:bodyPr wrap="square" lIns="91440" tIns="45720" rIns="91440" bIns="45720" rtlCol="0" anchor="t">
            <a:spAutoFit/>
          </a:bodyPr>
          <a:lstStyle/>
          <a:p>
            <a:r>
              <a:rPr lang="fr-FR" sz="1600" b="1" noProof="0" dirty="0">
                <a:solidFill>
                  <a:srgbClr val="0F172A"/>
                </a:solidFill>
              </a:rPr>
              <a:t>Projection en coordonnées galactique</a:t>
            </a:r>
            <a:endParaRPr lang="fr-FR" noProof="0" dirty="0">
              <a:solidFill>
                <a:srgbClr val="0F172A"/>
              </a:solidFill>
            </a:endParaRPr>
          </a:p>
        </p:txBody>
      </p:sp>
      <p:sp>
        <p:nvSpPr>
          <p:cNvPr id="33" name="ZoneTexte 13">
            <a:extLst>
              <a:ext uri="{FF2B5EF4-FFF2-40B4-BE49-F238E27FC236}">
                <a16:creationId xmlns:a16="http://schemas.microsoft.com/office/drawing/2014/main" id="{1AF3468D-DB1B-D2A1-6148-1EE8193826D6}"/>
              </a:ext>
            </a:extLst>
          </p:cNvPr>
          <p:cNvSpPr txBox="1"/>
          <p:nvPr/>
        </p:nvSpPr>
        <p:spPr>
          <a:xfrm>
            <a:off x="540478" y="4807849"/>
            <a:ext cx="4002216" cy="461665"/>
          </a:xfrm>
          <a:prstGeom prst="rect">
            <a:avLst/>
          </a:prstGeom>
          <a:noFill/>
        </p:spPr>
        <p:txBody>
          <a:bodyPr wrap="square" lIns="91440" tIns="45720" rIns="91440" bIns="45720" rtlCol="0" anchor="t">
            <a:spAutoFit/>
          </a:bodyPr>
          <a:lstStyle/>
          <a:p>
            <a:r>
              <a:rPr lang="fr-FR" sz="1200" noProof="0" dirty="0">
                <a:solidFill>
                  <a:srgbClr val="0F172A"/>
                </a:solidFill>
              </a:rPr>
              <a:t>Utile pour placer les vecteurs vitesses et les positions des objets sur un fond de carte de Cygnus</a:t>
            </a:r>
            <a:endParaRPr lang="fr-FR" sz="1400" b="1" noProof="0" dirty="0">
              <a:solidFill>
                <a:srgbClr val="0F172A"/>
              </a:solidFill>
            </a:endParaRPr>
          </a:p>
        </p:txBody>
      </p:sp>
      <p:sp>
        <p:nvSpPr>
          <p:cNvPr id="34" name="L-Shape 33">
            <a:extLst>
              <a:ext uri="{FF2B5EF4-FFF2-40B4-BE49-F238E27FC236}">
                <a16:creationId xmlns:a16="http://schemas.microsoft.com/office/drawing/2014/main" id="{97D1A331-E73E-C8EC-0431-196B8210C3EB}"/>
              </a:ext>
            </a:extLst>
          </p:cNvPr>
          <p:cNvSpPr/>
          <p:nvPr/>
        </p:nvSpPr>
        <p:spPr>
          <a:xfrm rot="13691150">
            <a:off x="493158" y="4919923"/>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9" name="Picture 38">
            <a:extLst>
              <a:ext uri="{FF2B5EF4-FFF2-40B4-BE49-F238E27FC236}">
                <a16:creationId xmlns:a16="http://schemas.microsoft.com/office/drawing/2014/main" id="{F71D0688-CCD6-9713-4030-69FBEF62E2D3}"/>
              </a:ext>
            </a:extLst>
          </p:cNvPr>
          <p:cNvPicPr>
            <a:picLocks noChangeAspect="1"/>
          </p:cNvPicPr>
          <p:nvPr/>
        </p:nvPicPr>
        <p:blipFill>
          <a:blip r:embed="rId9"/>
          <a:stretch>
            <a:fillRect/>
          </a:stretch>
        </p:blipFill>
        <p:spPr>
          <a:xfrm>
            <a:off x="811114" y="5298241"/>
            <a:ext cx="3574886" cy="597382"/>
          </a:xfrm>
          <a:prstGeom prst="rect">
            <a:avLst/>
          </a:prstGeom>
        </p:spPr>
      </p:pic>
      <p:sp>
        <p:nvSpPr>
          <p:cNvPr id="4" name="Espace réservé de la date 3">
            <a:extLst>
              <a:ext uri="{FF2B5EF4-FFF2-40B4-BE49-F238E27FC236}">
                <a16:creationId xmlns:a16="http://schemas.microsoft.com/office/drawing/2014/main" id="{94C8E47F-4DEC-56F6-F588-8D8BA82899F3}"/>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Tree>
    <p:extLst>
      <p:ext uri="{BB962C8B-B14F-4D97-AF65-F5344CB8AC3E}">
        <p14:creationId xmlns:p14="http://schemas.microsoft.com/office/powerpoint/2010/main" val="343251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48009-A311-8BDA-08C8-A613E002441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7F9ADE3-17D3-2324-8D8C-960C1420F3DF}"/>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9302284E-E87F-537E-0E01-09D78EAD3274}"/>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Visualisation des vitesses et des positions</a:t>
            </a:r>
          </a:p>
        </p:txBody>
      </p:sp>
      <p:sp>
        <p:nvSpPr>
          <p:cNvPr id="5" name="Espace réservé du numéro de diapositive 4">
            <a:extLst>
              <a:ext uri="{FF2B5EF4-FFF2-40B4-BE49-F238E27FC236}">
                <a16:creationId xmlns:a16="http://schemas.microsoft.com/office/drawing/2014/main" id="{89557C79-3067-E134-9920-77CADFE90A8D}"/>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7</a:t>
            </a:fld>
            <a:endParaRPr lang="fr-FR" noProof="0" dirty="0"/>
          </a:p>
        </p:txBody>
      </p:sp>
      <p:pic>
        <p:nvPicPr>
          <p:cNvPr id="11" name="Picture 2">
            <a:extLst>
              <a:ext uri="{FF2B5EF4-FFF2-40B4-BE49-F238E27FC236}">
                <a16:creationId xmlns:a16="http://schemas.microsoft.com/office/drawing/2014/main" id="{E542B563-F28A-6222-BA0C-A66420B90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A1A8073D-0A2E-3AD9-4237-6DE520900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C5097CD-5C11-337C-031E-E7C06578C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10" y="1368466"/>
            <a:ext cx="5028378" cy="3772877"/>
          </a:xfrm>
          <a:prstGeom prst="rect">
            <a:avLst/>
          </a:prstGeom>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3810D7A-278C-50FC-A95A-CF5BF3840B46}"/>
                  </a:ext>
                </a:extLst>
              </p:cNvPr>
              <p:cNvSpPr txBox="1"/>
              <p:nvPr/>
            </p:nvSpPr>
            <p:spPr>
              <a:xfrm>
                <a:off x="313029" y="5200432"/>
                <a:ext cx="5646615" cy="584775"/>
              </a:xfrm>
              <a:prstGeom prst="rect">
                <a:avLst/>
              </a:prstGeom>
              <a:noFill/>
            </p:spPr>
            <p:txBody>
              <a:bodyPr wrap="square" rtlCol="0">
                <a:spAutoFit/>
              </a:bodyPr>
              <a:lstStyle/>
              <a:p>
                <a:pPr algn="just"/>
                <a:r>
                  <a:rPr lang="fr-FR" sz="800" i="1" dirty="0">
                    <a:solidFill>
                      <a:srgbClr val="0F172A"/>
                    </a:solidFill>
                  </a:rPr>
                  <a:t>Projection des positions et des vitesses des nuages moléculaires et des groupes d'étoiles massives sur une image WISE à 12 µm. L'abscisse est la longitude galactique et l'ordonnée la latitude galactique. Les nuages moléculaires sont en bleus et les groupes d'étoiles en vert et rouge. Les vitesses sont corrigées de la vitesse particulière du Soleil et de la vitesse de rotation moyenne de la galaxie </a:t>
                </a:r>
                <a14:m>
                  <m:oMath xmlns:m="http://schemas.openxmlformats.org/officeDocument/2006/math">
                    <m:sSub>
                      <m:sSubPr>
                        <m:ctrlPr>
                          <a:rPr lang="fr-FR" sz="800" i="1" smtClean="0">
                            <a:solidFill>
                              <a:srgbClr val="0F172A"/>
                            </a:solidFill>
                            <a:latin typeface="Cambria Math" panose="02040503050406030204" pitchFamily="18" charset="0"/>
                          </a:rPr>
                        </m:ctrlPr>
                      </m:sSubPr>
                      <m:e>
                        <m:r>
                          <m:rPr>
                            <m:sty m:val="p"/>
                          </m:rPr>
                          <a:rPr lang="el-GR" sz="800" i="1" smtClean="0">
                            <a:solidFill>
                              <a:srgbClr val="0F172A"/>
                            </a:solidFill>
                            <a:latin typeface="Cambria Math" panose="02040503050406030204" pitchFamily="18" charset="0"/>
                            <a:ea typeface="Cambria Math" panose="02040503050406030204" pitchFamily="18" charset="0"/>
                          </a:rPr>
                          <m:t>Θ</m:t>
                        </m:r>
                      </m:e>
                      <m:sub>
                        <m:r>
                          <a:rPr lang="fr-FR" sz="800" b="0" i="1" smtClean="0">
                            <a:solidFill>
                              <a:srgbClr val="0F172A"/>
                            </a:solidFill>
                            <a:latin typeface="Cambria Math" panose="02040503050406030204" pitchFamily="18" charset="0"/>
                          </a:rPr>
                          <m:t>0</m:t>
                        </m:r>
                      </m:sub>
                    </m:sSub>
                  </m:oMath>
                </a14:m>
                <a:endParaRPr lang="fr-FR" sz="800" i="1" dirty="0">
                  <a:solidFill>
                    <a:srgbClr val="0F172A"/>
                  </a:solidFill>
                </a:endParaRPr>
              </a:p>
            </p:txBody>
          </p:sp>
        </mc:Choice>
        <mc:Fallback>
          <p:sp>
            <p:nvSpPr>
              <p:cNvPr id="13" name="TextBox 12">
                <a:extLst>
                  <a:ext uri="{FF2B5EF4-FFF2-40B4-BE49-F238E27FC236}">
                    <a16:creationId xmlns:a16="http://schemas.microsoft.com/office/drawing/2014/main" id="{53810D7A-278C-50FC-A95A-CF5BF3840B46}"/>
                  </a:ext>
                </a:extLst>
              </p:cNvPr>
              <p:cNvSpPr txBox="1">
                <a:spLocks noRot="1" noChangeAspect="1" noMove="1" noResize="1" noEditPoints="1" noAdjustHandles="1" noChangeArrowheads="1" noChangeShapeType="1" noTextEdit="1"/>
              </p:cNvSpPr>
              <p:nvPr/>
            </p:nvSpPr>
            <p:spPr>
              <a:xfrm>
                <a:off x="313029" y="5200432"/>
                <a:ext cx="5646615" cy="584775"/>
              </a:xfrm>
              <a:prstGeom prst="rect">
                <a:avLst/>
              </a:prstGeom>
              <a:blipFill>
                <a:blip r:embed="rId5"/>
                <a:stretch>
                  <a:fillRect b="-3125"/>
                </a:stretch>
              </a:blipFill>
            </p:spPr>
            <p:txBody>
              <a:bodyPr/>
              <a:lstStyle/>
              <a:p>
                <a:r>
                  <a:rPr lang="fr-FR">
                    <a:noFill/>
                  </a:rPr>
                  <a:t> </a:t>
                </a:r>
              </a:p>
            </p:txBody>
          </p:sp>
        </mc:Fallback>
      </mc:AlternateContent>
      <p:pic>
        <p:nvPicPr>
          <p:cNvPr id="19" name="Picture 18">
            <a:extLst>
              <a:ext uri="{FF2B5EF4-FFF2-40B4-BE49-F238E27FC236}">
                <a16:creationId xmlns:a16="http://schemas.microsoft.com/office/drawing/2014/main" id="{D825846E-C04B-739C-74A2-B0C7275DA3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5037009"/>
            <a:ext cx="5657024" cy="1569050"/>
          </a:xfrm>
          <a:prstGeom prst="rect">
            <a:avLst/>
          </a:prstGeom>
        </p:spPr>
      </p:pic>
      <p:pic>
        <p:nvPicPr>
          <p:cNvPr id="21" name="Picture 20">
            <a:extLst>
              <a:ext uri="{FF2B5EF4-FFF2-40B4-BE49-F238E27FC236}">
                <a16:creationId xmlns:a16="http://schemas.microsoft.com/office/drawing/2014/main" id="{60CAA38A-01D1-361E-E904-5652F0392A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16391" y="1368466"/>
            <a:ext cx="4989046" cy="3064969"/>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C531BDC-F62D-1C23-D94A-1D1AE6F1E814}"/>
                  </a:ext>
                </a:extLst>
              </p:cNvPr>
              <p:cNvSpPr txBox="1"/>
              <p:nvPr/>
            </p:nvSpPr>
            <p:spPr>
              <a:xfrm>
                <a:off x="6167992" y="4460368"/>
                <a:ext cx="5646615" cy="471283"/>
              </a:xfrm>
              <a:prstGeom prst="rect">
                <a:avLst/>
              </a:prstGeom>
              <a:noFill/>
            </p:spPr>
            <p:txBody>
              <a:bodyPr wrap="square" rtlCol="0">
                <a:spAutoFit/>
              </a:bodyPr>
              <a:lstStyle/>
              <a:p>
                <a:pPr algn="just"/>
                <a:r>
                  <a:rPr lang="fr-FR" sz="800" i="1" dirty="0">
                    <a:solidFill>
                      <a:srgbClr val="0F172A"/>
                    </a:solidFill>
                  </a:rPr>
                  <a:t>Projection des vitesses </a:t>
                </a:r>
                <a14:m>
                  <m:oMath xmlns:m="http://schemas.openxmlformats.org/officeDocument/2006/math">
                    <m:sSub>
                      <m:sSubPr>
                        <m:ctrlPr>
                          <a:rPr lang="fr-FR" sz="800" i="1" smtClean="0">
                            <a:solidFill>
                              <a:srgbClr val="0F172A"/>
                            </a:solidFill>
                            <a:latin typeface="Cambria Math" panose="02040503050406030204" pitchFamily="18" charset="0"/>
                          </a:rPr>
                        </m:ctrlPr>
                      </m:sSubPr>
                      <m:e>
                        <m:r>
                          <a:rPr lang="fr-FR" sz="800" b="0" i="1" smtClean="0">
                            <a:solidFill>
                              <a:srgbClr val="0F172A"/>
                            </a:solidFill>
                            <a:latin typeface="Cambria Math" panose="02040503050406030204" pitchFamily="18" charset="0"/>
                          </a:rPr>
                          <m:t>𝑈</m:t>
                        </m:r>
                      </m:e>
                      <m:sub>
                        <m:r>
                          <a:rPr lang="fr-FR" sz="800" b="0" i="1" smtClean="0">
                            <a:solidFill>
                              <a:srgbClr val="0F172A"/>
                            </a:solidFill>
                            <a:latin typeface="Cambria Math" panose="02040503050406030204" pitchFamily="18" charset="0"/>
                          </a:rPr>
                          <m:t>𝑝𝑒𝑐</m:t>
                        </m:r>
                      </m:sub>
                    </m:sSub>
                  </m:oMath>
                </a14:m>
                <a:r>
                  <a:rPr lang="fr-FR" sz="800" i="1" dirty="0">
                    <a:solidFill>
                      <a:srgbClr val="0F172A"/>
                    </a:solidFill>
                  </a:rPr>
                  <a:t> et </a:t>
                </a:r>
                <a14:m>
                  <m:oMath xmlns:m="http://schemas.openxmlformats.org/officeDocument/2006/math">
                    <m:sSub>
                      <m:sSubPr>
                        <m:ctrlPr>
                          <a:rPr lang="fr-FR" sz="800" i="1">
                            <a:solidFill>
                              <a:srgbClr val="0F172A"/>
                            </a:solidFill>
                            <a:latin typeface="Cambria Math" panose="02040503050406030204" pitchFamily="18" charset="0"/>
                          </a:rPr>
                        </m:ctrlPr>
                      </m:sSubPr>
                      <m:e>
                        <m:r>
                          <a:rPr lang="fr-FR" sz="800" b="0" i="1" smtClean="0">
                            <a:solidFill>
                              <a:srgbClr val="0F172A"/>
                            </a:solidFill>
                            <a:latin typeface="Cambria Math" panose="02040503050406030204" pitchFamily="18" charset="0"/>
                          </a:rPr>
                          <m:t>𝑉</m:t>
                        </m:r>
                      </m:e>
                      <m:sub>
                        <m:r>
                          <a:rPr lang="fr-FR" sz="800" b="0" i="1" smtClean="0">
                            <a:solidFill>
                              <a:srgbClr val="0F172A"/>
                            </a:solidFill>
                            <a:latin typeface="Cambria Math" panose="02040503050406030204" pitchFamily="18" charset="0"/>
                          </a:rPr>
                          <m:t>𝑝𝑒𝑐</m:t>
                        </m:r>
                      </m:sub>
                    </m:sSub>
                  </m:oMath>
                </a14:m>
                <a:r>
                  <a:rPr lang="fr-FR" sz="800" i="1" dirty="0">
                    <a:solidFill>
                      <a:srgbClr val="0F172A"/>
                    </a:solidFill>
                  </a:rPr>
                  <a:t>des nuages moléculaires et des groupes d'étoiles massives sur le plan galactique. L'abscisse est la distance selon la rotation de la galaxie et l'ordonnée est la distance vers le centre galactique. La ligne jaune indique la direction du Soleil. Les nuages moléculaires sont en bleu et les groupes d'étoiles en rouge et vert.</a:t>
                </a:r>
              </a:p>
            </p:txBody>
          </p:sp>
        </mc:Choice>
        <mc:Fallback xmlns="">
          <p:sp>
            <p:nvSpPr>
              <p:cNvPr id="22" name="TextBox 21">
                <a:extLst>
                  <a:ext uri="{FF2B5EF4-FFF2-40B4-BE49-F238E27FC236}">
                    <a16:creationId xmlns:a16="http://schemas.microsoft.com/office/drawing/2014/main" id="{2C531BDC-F62D-1C23-D94A-1D1AE6F1E814}"/>
                  </a:ext>
                </a:extLst>
              </p:cNvPr>
              <p:cNvSpPr txBox="1">
                <a:spLocks noRot="1" noChangeAspect="1" noMove="1" noResize="1" noEditPoints="1" noAdjustHandles="1" noChangeArrowheads="1" noChangeShapeType="1" noTextEdit="1"/>
              </p:cNvSpPr>
              <p:nvPr/>
            </p:nvSpPr>
            <p:spPr>
              <a:xfrm>
                <a:off x="6167992" y="4460368"/>
                <a:ext cx="5646615" cy="471283"/>
              </a:xfrm>
              <a:prstGeom prst="rect">
                <a:avLst/>
              </a:prstGeom>
              <a:blipFill>
                <a:blip r:embed="rId8"/>
                <a:stretch>
                  <a:fillRect b="-3896"/>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417C62E5-648B-52A8-F712-723660A86B48}"/>
                  </a:ext>
                </a:extLst>
              </p:cNvPr>
              <p:cNvSpPr txBox="1"/>
              <p:nvPr/>
            </p:nvSpPr>
            <p:spPr>
              <a:xfrm>
                <a:off x="3309099" y="5933660"/>
                <a:ext cx="2840892" cy="717504"/>
              </a:xfrm>
              <a:prstGeom prst="rect">
                <a:avLst/>
              </a:prstGeom>
              <a:noFill/>
            </p:spPr>
            <p:txBody>
              <a:bodyPr wrap="square" rtlCol="0">
                <a:spAutoFit/>
              </a:bodyPr>
              <a:lstStyle/>
              <a:p>
                <a:pPr algn="just"/>
                <a:r>
                  <a:rPr lang="fr-FR" sz="800" i="1" dirty="0">
                    <a:solidFill>
                      <a:srgbClr val="0F172A"/>
                    </a:solidFill>
                  </a:rPr>
                  <a:t>Projection des vitesses </a:t>
                </a:r>
                <a14:m>
                  <m:oMath xmlns:m="http://schemas.openxmlformats.org/officeDocument/2006/math">
                    <m:sSub>
                      <m:sSubPr>
                        <m:ctrlPr>
                          <a:rPr lang="fr-FR" sz="800" i="1">
                            <a:solidFill>
                              <a:srgbClr val="0F172A"/>
                            </a:solidFill>
                            <a:latin typeface="Cambria Math" panose="02040503050406030204" pitchFamily="18" charset="0"/>
                          </a:rPr>
                        </m:ctrlPr>
                      </m:sSubPr>
                      <m:e>
                        <m:r>
                          <a:rPr lang="fr-FR" sz="800" i="1">
                            <a:solidFill>
                              <a:srgbClr val="0F172A"/>
                            </a:solidFill>
                            <a:latin typeface="Cambria Math" panose="02040503050406030204" pitchFamily="18" charset="0"/>
                          </a:rPr>
                          <m:t>𝑈</m:t>
                        </m:r>
                      </m:e>
                      <m:sub>
                        <m:r>
                          <a:rPr lang="fr-FR" sz="800" i="1">
                            <a:solidFill>
                              <a:srgbClr val="0F172A"/>
                            </a:solidFill>
                            <a:latin typeface="Cambria Math" panose="02040503050406030204" pitchFamily="18" charset="0"/>
                          </a:rPr>
                          <m:t>𝑝𝑒𝑐</m:t>
                        </m:r>
                      </m:sub>
                    </m:sSub>
                  </m:oMath>
                </a14:m>
                <a:r>
                  <a:rPr lang="fr-FR" sz="800" i="1" dirty="0">
                    <a:solidFill>
                      <a:srgbClr val="0F172A"/>
                    </a:solidFill>
                  </a:rPr>
                  <a:t> et </a:t>
                </a:r>
                <a14:m>
                  <m:oMath xmlns:m="http://schemas.openxmlformats.org/officeDocument/2006/math">
                    <m:sSub>
                      <m:sSubPr>
                        <m:ctrlPr>
                          <a:rPr lang="fr-FR" sz="800" i="1">
                            <a:solidFill>
                              <a:srgbClr val="0F172A"/>
                            </a:solidFill>
                            <a:latin typeface="Cambria Math" panose="02040503050406030204" pitchFamily="18" charset="0"/>
                          </a:rPr>
                        </m:ctrlPr>
                      </m:sSubPr>
                      <m:e>
                        <m:r>
                          <a:rPr lang="fr-FR" sz="800" b="0" i="1" smtClean="0">
                            <a:solidFill>
                              <a:srgbClr val="0F172A"/>
                            </a:solidFill>
                            <a:latin typeface="Cambria Math" panose="02040503050406030204" pitchFamily="18" charset="0"/>
                          </a:rPr>
                          <m:t>𝑊</m:t>
                        </m:r>
                      </m:e>
                      <m:sub>
                        <m:r>
                          <a:rPr lang="fr-FR" sz="800" i="1">
                            <a:solidFill>
                              <a:srgbClr val="0F172A"/>
                            </a:solidFill>
                            <a:latin typeface="Cambria Math" panose="02040503050406030204" pitchFamily="18" charset="0"/>
                          </a:rPr>
                          <m:t>𝑝𝑒𝑐</m:t>
                        </m:r>
                      </m:sub>
                    </m:sSub>
                  </m:oMath>
                </a14:m>
                <a:r>
                  <a:rPr lang="fr-FR" sz="800" i="1" dirty="0">
                    <a:solidFill>
                      <a:srgbClr val="0F172A"/>
                    </a:solidFill>
                  </a:rPr>
                  <a:t>des nuages moléculaires et des groupes d'étoiles massives sur le plan (X,Z). L'abscisse est la distance vers le centre Galactique et l'ordonnée est la distance vers le pôle Nord Galactique. . Les nuages moléculaires sont en bleu et les groupes d'étoiles en rouge et vert.</a:t>
                </a:r>
              </a:p>
            </p:txBody>
          </p:sp>
        </mc:Choice>
        <mc:Fallback>
          <p:sp>
            <p:nvSpPr>
              <p:cNvPr id="23" name="TextBox 22">
                <a:extLst>
                  <a:ext uri="{FF2B5EF4-FFF2-40B4-BE49-F238E27FC236}">
                    <a16:creationId xmlns:a16="http://schemas.microsoft.com/office/drawing/2014/main" id="{417C62E5-648B-52A8-F712-723660A86B48}"/>
                  </a:ext>
                </a:extLst>
              </p:cNvPr>
              <p:cNvSpPr txBox="1">
                <a:spLocks noRot="1" noChangeAspect="1" noMove="1" noResize="1" noEditPoints="1" noAdjustHandles="1" noChangeArrowheads="1" noChangeShapeType="1" noTextEdit="1"/>
              </p:cNvSpPr>
              <p:nvPr/>
            </p:nvSpPr>
            <p:spPr>
              <a:xfrm>
                <a:off x="3309099" y="5933660"/>
                <a:ext cx="2840892" cy="717504"/>
              </a:xfrm>
              <a:prstGeom prst="rect">
                <a:avLst/>
              </a:prstGeom>
              <a:blipFill>
                <a:blip r:embed="rId9"/>
                <a:stretch>
                  <a:fillRect b="-1695"/>
                </a:stretch>
              </a:blipFill>
            </p:spPr>
            <p:txBody>
              <a:bodyPr/>
              <a:lstStyle/>
              <a:p>
                <a:r>
                  <a:rPr lang="fr-FR">
                    <a:noFill/>
                  </a:rPr>
                  <a:t> </a:t>
                </a:r>
              </a:p>
            </p:txBody>
          </p:sp>
        </mc:Fallback>
      </mc:AlternateContent>
      <p:sp>
        <p:nvSpPr>
          <p:cNvPr id="3" name="Espace réservé de la date 3">
            <a:extLst>
              <a:ext uri="{FF2B5EF4-FFF2-40B4-BE49-F238E27FC236}">
                <a16:creationId xmlns:a16="http://schemas.microsoft.com/office/drawing/2014/main" id="{E41A6AC7-C97B-2935-97BC-506E6757CC37}"/>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Tree>
    <p:extLst>
      <p:ext uri="{BB962C8B-B14F-4D97-AF65-F5344CB8AC3E}">
        <p14:creationId xmlns:p14="http://schemas.microsoft.com/office/powerpoint/2010/main" val="1724574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4A70-3BCC-2587-DFC8-CCCEFC82E06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980BF5E-CD42-63F3-A740-69A5A2A0D9AD}"/>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56655ADA-C322-3C18-5542-14FDDF9D920D}"/>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Traceback des objets du Cygne</a:t>
            </a:r>
          </a:p>
        </p:txBody>
      </p:sp>
      <p:sp>
        <p:nvSpPr>
          <p:cNvPr id="5" name="Espace réservé du numéro de diapositive 4">
            <a:extLst>
              <a:ext uri="{FF2B5EF4-FFF2-40B4-BE49-F238E27FC236}">
                <a16:creationId xmlns:a16="http://schemas.microsoft.com/office/drawing/2014/main" id="{D139B270-6DCB-EF8E-1EE0-AE4D8AB0363C}"/>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8</a:t>
            </a:fld>
            <a:endParaRPr lang="fr-FR" noProof="0" dirty="0"/>
          </a:p>
        </p:txBody>
      </p:sp>
      <p:pic>
        <p:nvPicPr>
          <p:cNvPr id="11" name="Picture 2">
            <a:extLst>
              <a:ext uri="{FF2B5EF4-FFF2-40B4-BE49-F238E27FC236}">
                <a16:creationId xmlns:a16="http://schemas.microsoft.com/office/drawing/2014/main" id="{DDFF30EF-FE2C-1E33-CB6D-65127D5BBD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4671ECCD-E7C5-1EBB-2DF8-A102141D2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76149C3-70EF-6C73-C505-0D23E1962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9535" y="1373886"/>
            <a:ext cx="4420040" cy="176720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08D54D10-5EBF-1F0B-5B77-AAA33592AA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4115" y="3196482"/>
            <a:ext cx="4450879" cy="1767200"/>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D34310A7-5008-D843-6A83-0B49BD270F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6511" y="5005323"/>
            <a:ext cx="4450879" cy="1767988"/>
          </a:xfrm>
          <a:prstGeom prst="rect">
            <a:avLst/>
          </a:prstGeom>
          <a:effectLst>
            <a:outerShdw blurRad="50800" dist="38100" dir="2700000" algn="tl" rotWithShape="0">
              <a:prstClr val="black">
                <a:alpha val="40000"/>
              </a:prstClr>
            </a:outerShdw>
          </a:effectLst>
        </p:spPr>
      </p:pic>
      <p:sp>
        <p:nvSpPr>
          <p:cNvPr id="16" name="Rectangle : coins arrondis 8">
            <a:extLst>
              <a:ext uri="{FF2B5EF4-FFF2-40B4-BE49-F238E27FC236}">
                <a16:creationId xmlns:a16="http://schemas.microsoft.com/office/drawing/2014/main" id="{C47BB041-1C70-01B4-6EEA-100663FF31EE}"/>
              </a:ext>
            </a:extLst>
          </p:cNvPr>
          <p:cNvSpPr/>
          <p:nvPr/>
        </p:nvSpPr>
        <p:spPr>
          <a:xfrm>
            <a:off x="43393" y="1458460"/>
            <a:ext cx="7172202" cy="111346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19" name="ZoneTexte 13">
            <a:extLst>
              <a:ext uri="{FF2B5EF4-FFF2-40B4-BE49-F238E27FC236}">
                <a16:creationId xmlns:a16="http://schemas.microsoft.com/office/drawing/2014/main" id="{68F2BAF5-979C-44A3-A7E2-52E3EF0FBE5D}"/>
              </a:ext>
            </a:extLst>
          </p:cNvPr>
          <p:cNvSpPr txBox="1"/>
          <p:nvPr/>
        </p:nvSpPr>
        <p:spPr>
          <a:xfrm>
            <a:off x="466165" y="1531699"/>
            <a:ext cx="1329693"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Motivations</a:t>
            </a:r>
            <a:endParaRPr lang="fr-FR" noProof="0" dirty="0">
              <a:solidFill>
                <a:schemeClr val="bg2">
                  <a:lumMod val="25000"/>
                </a:schemeClr>
              </a:solidFill>
            </a:endParaRPr>
          </a:p>
        </p:txBody>
      </p:sp>
      <p:sp>
        <p:nvSpPr>
          <p:cNvPr id="21" name="ZoneTexte 14">
            <a:extLst>
              <a:ext uri="{FF2B5EF4-FFF2-40B4-BE49-F238E27FC236}">
                <a16:creationId xmlns:a16="http://schemas.microsoft.com/office/drawing/2014/main" id="{5B153B1F-5650-E454-26CF-ADB01C42EC6C}"/>
              </a:ext>
            </a:extLst>
          </p:cNvPr>
          <p:cNvSpPr txBox="1"/>
          <p:nvPr/>
        </p:nvSpPr>
        <p:spPr>
          <a:xfrm>
            <a:off x="336075" y="1872541"/>
            <a:ext cx="6990633" cy="600164"/>
          </a:xfrm>
          <a:prstGeom prst="rect">
            <a:avLst/>
          </a:prstGeom>
          <a:noFill/>
        </p:spPr>
        <p:txBody>
          <a:bodyPr wrap="square" lIns="91440" tIns="45720" rIns="91440" bIns="45720" rtlCol="0" anchor="t">
            <a:spAutoFit/>
          </a:bodyPr>
          <a:lstStyle/>
          <a:p>
            <a:r>
              <a:rPr lang="fr-FR" sz="1100" dirty="0">
                <a:solidFill>
                  <a:schemeClr val="bg2">
                    <a:lumMod val="25000"/>
                  </a:schemeClr>
                </a:solidFill>
              </a:rPr>
              <a:t>Déterminer les instants où les amas d’un </a:t>
            </a:r>
            <a:r>
              <a:rPr lang="fr-FR" sz="1100" b="1" dirty="0">
                <a:solidFill>
                  <a:schemeClr val="bg2">
                    <a:lumMod val="25000"/>
                  </a:schemeClr>
                </a:solidFill>
              </a:rPr>
              <a:t>même super-groupe </a:t>
            </a:r>
            <a:r>
              <a:rPr lang="fr-FR" sz="1100" dirty="0">
                <a:solidFill>
                  <a:schemeClr val="bg2">
                    <a:lumMod val="25000"/>
                  </a:schemeClr>
                </a:solidFill>
              </a:rPr>
              <a:t>étaient </a:t>
            </a:r>
            <a:r>
              <a:rPr lang="fr-FR" sz="1100" b="1" dirty="0">
                <a:solidFill>
                  <a:schemeClr val="bg2">
                    <a:lumMod val="25000"/>
                  </a:schemeClr>
                </a:solidFill>
              </a:rPr>
              <a:t>les plus proches</a:t>
            </a:r>
            <a:r>
              <a:rPr lang="fr-FR" sz="1100" dirty="0">
                <a:solidFill>
                  <a:schemeClr val="bg2">
                    <a:lumMod val="25000"/>
                  </a:schemeClr>
                </a:solidFill>
              </a:rPr>
              <a:t> (</a:t>
            </a:r>
            <a:r>
              <a:rPr lang="fr-FR" sz="1100" b="1" dirty="0">
                <a:solidFill>
                  <a:schemeClr val="bg2">
                    <a:lumMod val="25000"/>
                  </a:schemeClr>
                </a:solidFill>
              </a:rPr>
              <a:t>TCA</a:t>
            </a:r>
            <a:r>
              <a:rPr lang="fr-FR" sz="1100" dirty="0">
                <a:solidFill>
                  <a:schemeClr val="bg2">
                    <a:lumMod val="25000"/>
                  </a:schemeClr>
                </a:solidFill>
              </a:rPr>
              <a:t>: Time of Closest Approach)</a:t>
            </a:r>
            <a:endParaRPr lang="fr-FR" noProof="0" dirty="0">
              <a:solidFill>
                <a:schemeClr val="bg2">
                  <a:lumMod val="25000"/>
                </a:schemeClr>
              </a:solidFill>
            </a:endParaRPr>
          </a:p>
          <a:p>
            <a:endParaRPr lang="fr-FR" sz="1100" noProof="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Permettra de </a:t>
            </a:r>
            <a:r>
              <a:rPr lang="fr-FR" sz="1100" b="1" dirty="0">
                <a:solidFill>
                  <a:schemeClr val="bg2">
                    <a:lumMod val="25000"/>
                  </a:schemeClr>
                </a:solidFill>
                <a:ea typeface="Calibri"/>
                <a:cs typeface="Calibri"/>
              </a:rPr>
              <a:t>comparer</a:t>
            </a:r>
            <a:r>
              <a:rPr lang="fr-FR" sz="1100" dirty="0">
                <a:solidFill>
                  <a:schemeClr val="bg2">
                    <a:lumMod val="25000"/>
                  </a:schemeClr>
                </a:solidFill>
                <a:ea typeface="Calibri"/>
                <a:cs typeface="Calibri"/>
              </a:rPr>
              <a:t> cela avec les </a:t>
            </a:r>
            <a:r>
              <a:rPr lang="fr-FR" sz="1100" b="1" dirty="0">
                <a:solidFill>
                  <a:schemeClr val="bg2">
                    <a:lumMod val="25000"/>
                  </a:schemeClr>
                </a:solidFill>
                <a:ea typeface="Calibri"/>
                <a:cs typeface="Calibri"/>
              </a:rPr>
              <a:t>âges stellaires </a:t>
            </a:r>
            <a:r>
              <a:rPr lang="fr-FR" sz="1100" dirty="0">
                <a:solidFill>
                  <a:schemeClr val="bg2">
                    <a:lumMod val="25000"/>
                  </a:schemeClr>
                </a:solidFill>
                <a:ea typeface="Calibri"/>
                <a:cs typeface="Calibri"/>
              </a:rPr>
              <a:t>de la littérature</a:t>
            </a:r>
          </a:p>
        </p:txBody>
      </p:sp>
      <p:pic>
        <p:nvPicPr>
          <p:cNvPr id="22" name="Graphic 21" descr="Arrow Right with solid fill">
            <a:extLst>
              <a:ext uri="{FF2B5EF4-FFF2-40B4-BE49-F238E27FC236}">
                <a16:creationId xmlns:a16="http://schemas.microsoft.com/office/drawing/2014/main" id="{7E1D29A0-72E3-49EC-3BDE-E776F73250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864" y="1871331"/>
            <a:ext cx="244511" cy="328246"/>
          </a:xfrm>
          <a:prstGeom prst="rect">
            <a:avLst/>
          </a:prstGeom>
        </p:spPr>
      </p:pic>
      <p:pic>
        <p:nvPicPr>
          <p:cNvPr id="23" name="Graphic 22" descr="Arrow Right with solid fill">
            <a:extLst>
              <a:ext uri="{FF2B5EF4-FFF2-40B4-BE49-F238E27FC236}">
                <a16:creationId xmlns:a16="http://schemas.microsoft.com/office/drawing/2014/main" id="{935A0425-47C6-8C67-CC09-BF472D7500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237" y="2191764"/>
            <a:ext cx="244511" cy="328246"/>
          </a:xfrm>
          <a:prstGeom prst="rect">
            <a:avLst/>
          </a:prstGeom>
        </p:spPr>
      </p:pic>
      <p:pic>
        <p:nvPicPr>
          <p:cNvPr id="27" name="Graphic 26" descr="Fast Forward with solid fill">
            <a:extLst>
              <a:ext uri="{FF2B5EF4-FFF2-40B4-BE49-F238E27FC236}">
                <a16:creationId xmlns:a16="http://schemas.microsoft.com/office/drawing/2014/main" id="{D3B9C8E2-3950-0DB7-2AC0-7C64183791F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3231" y="1579850"/>
            <a:ext cx="286379" cy="252886"/>
          </a:xfrm>
          <a:prstGeom prst="rect">
            <a:avLst/>
          </a:prstGeom>
        </p:spPr>
      </p:pic>
      <p:sp>
        <p:nvSpPr>
          <p:cNvPr id="29" name="Rectangle : coins arrondis 8">
            <a:extLst>
              <a:ext uri="{FF2B5EF4-FFF2-40B4-BE49-F238E27FC236}">
                <a16:creationId xmlns:a16="http://schemas.microsoft.com/office/drawing/2014/main" id="{390F8BEF-6620-38A7-0BA7-F794F442DB00}"/>
              </a:ext>
            </a:extLst>
          </p:cNvPr>
          <p:cNvSpPr/>
          <p:nvPr/>
        </p:nvSpPr>
        <p:spPr>
          <a:xfrm>
            <a:off x="43392" y="2698389"/>
            <a:ext cx="7172202" cy="1079910"/>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32" name="ZoneTexte 13">
            <a:extLst>
              <a:ext uri="{FF2B5EF4-FFF2-40B4-BE49-F238E27FC236}">
                <a16:creationId xmlns:a16="http://schemas.microsoft.com/office/drawing/2014/main" id="{CF7E3594-1201-FE56-E596-2B5A26680B26}"/>
              </a:ext>
            </a:extLst>
          </p:cNvPr>
          <p:cNvSpPr txBox="1"/>
          <p:nvPr/>
        </p:nvSpPr>
        <p:spPr>
          <a:xfrm>
            <a:off x="476092" y="2737046"/>
            <a:ext cx="2659909" cy="338554"/>
          </a:xfrm>
          <a:prstGeom prst="rect">
            <a:avLst/>
          </a:prstGeom>
          <a:noFill/>
        </p:spPr>
        <p:txBody>
          <a:bodyPr wrap="square" lIns="91440" tIns="45720" rIns="91440" bIns="45720" rtlCol="0" anchor="t">
            <a:spAutoFit/>
          </a:bodyPr>
          <a:lstStyle/>
          <a:p>
            <a:pPr algn="ctr"/>
            <a:r>
              <a:rPr lang="fr-FR" sz="1600" b="1" noProof="0" dirty="0">
                <a:solidFill>
                  <a:schemeClr val="bg2">
                    <a:lumMod val="25000"/>
                  </a:schemeClr>
                </a:solidFill>
              </a:rPr>
              <a:t>Limites du traceback linéaire</a:t>
            </a:r>
            <a:endParaRPr lang="fr-FR" noProof="0" dirty="0">
              <a:solidFill>
                <a:schemeClr val="bg2">
                  <a:lumMod val="25000"/>
                </a:schemeClr>
              </a:solidFill>
            </a:endParaRPr>
          </a:p>
        </p:txBody>
      </p:sp>
      <p:sp>
        <p:nvSpPr>
          <p:cNvPr id="34" name="ZoneTexte 13">
            <a:extLst>
              <a:ext uri="{FF2B5EF4-FFF2-40B4-BE49-F238E27FC236}">
                <a16:creationId xmlns:a16="http://schemas.microsoft.com/office/drawing/2014/main" id="{821657FA-E572-305B-F30C-49CA1A7100B0}"/>
              </a:ext>
            </a:extLst>
          </p:cNvPr>
          <p:cNvSpPr txBox="1"/>
          <p:nvPr/>
        </p:nvSpPr>
        <p:spPr>
          <a:xfrm>
            <a:off x="379252" y="3111260"/>
            <a:ext cx="4615998"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Trajectoire linéaire qui ne prend pas en compte la </a:t>
            </a:r>
            <a:r>
              <a:rPr lang="fr-FR" sz="1200" b="1" noProof="0" dirty="0">
                <a:solidFill>
                  <a:schemeClr val="bg2">
                    <a:lumMod val="25000"/>
                  </a:schemeClr>
                </a:solidFill>
              </a:rPr>
              <a:t>trajectoire circulaire</a:t>
            </a:r>
          </a:p>
        </p:txBody>
      </p:sp>
      <p:sp>
        <p:nvSpPr>
          <p:cNvPr id="36" name="L-Shape 35">
            <a:extLst>
              <a:ext uri="{FF2B5EF4-FFF2-40B4-BE49-F238E27FC236}">
                <a16:creationId xmlns:a16="http://schemas.microsoft.com/office/drawing/2014/main" id="{A210DAC1-04AB-DD47-8C33-A86119697E34}"/>
              </a:ext>
            </a:extLst>
          </p:cNvPr>
          <p:cNvSpPr/>
          <p:nvPr/>
        </p:nvSpPr>
        <p:spPr>
          <a:xfrm rot="13691150">
            <a:off x="249251" y="322160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9" name="ZoneTexte 13">
            <a:extLst>
              <a:ext uri="{FF2B5EF4-FFF2-40B4-BE49-F238E27FC236}">
                <a16:creationId xmlns:a16="http://schemas.microsoft.com/office/drawing/2014/main" id="{2EFF2384-0555-C95B-B224-336BFEE38DA5}"/>
              </a:ext>
            </a:extLst>
          </p:cNvPr>
          <p:cNvSpPr txBox="1"/>
          <p:nvPr/>
        </p:nvSpPr>
        <p:spPr>
          <a:xfrm>
            <a:off x="380044" y="3399025"/>
            <a:ext cx="5511914" cy="276999"/>
          </a:xfrm>
          <a:prstGeom prst="rect">
            <a:avLst/>
          </a:prstGeom>
          <a:noFill/>
        </p:spPr>
        <p:txBody>
          <a:bodyPr wrap="square" lIns="91440" tIns="45720" rIns="91440" bIns="45720" rtlCol="0" anchor="t">
            <a:spAutoFit/>
          </a:bodyPr>
          <a:lstStyle/>
          <a:p>
            <a:r>
              <a:rPr lang="fr-FR" sz="1200" noProof="0" dirty="0">
                <a:solidFill>
                  <a:schemeClr val="bg2">
                    <a:lumMod val="25000"/>
                  </a:schemeClr>
                </a:solidFill>
              </a:rPr>
              <a:t>Ne prend pas en compte la </a:t>
            </a:r>
            <a:r>
              <a:rPr lang="fr-FR" sz="1200" b="1" noProof="0" dirty="0">
                <a:solidFill>
                  <a:schemeClr val="bg2">
                    <a:lumMod val="25000"/>
                  </a:schemeClr>
                </a:solidFill>
              </a:rPr>
              <a:t>force de rappel </a:t>
            </a:r>
            <a:r>
              <a:rPr lang="fr-FR" sz="1200" noProof="0" dirty="0">
                <a:solidFill>
                  <a:schemeClr val="bg2">
                    <a:lumMod val="25000"/>
                  </a:schemeClr>
                </a:solidFill>
              </a:rPr>
              <a:t>vers le </a:t>
            </a:r>
            <a:r>
              <a:rPr lang="fr-FR" sz="1200" b="1" noProof="0" dirty="0">
                <a:solidFill>
                  <a:schemeClr val="bg2">
                    <a:lumMod val="25000"/>
                  </a:schemeClr>
                </a:solidFill>
              </a:rPr>
              <a:t>plan galactique</a:t>
            </a:r>
          </a:p>
        </p:txBody>
      </p:sp>
      <p:sp>
        <p:nvSpPr>
          <p:cNvPr id="40" name="L-Shape 39">
            <a:extLst>
              <a:ext uri="{FF2B5EF4-FFF2-40B4-BE49-F238E27FC236}">
                <a16:creationId xmlns:a16="http://schemas.microsoft.com/office/drawing/2014/main" id="{2394A812-13E0-B9B9-91F2-D012F8F65E1A}"/>
              </a:ext>
            </a:extLst>
          </p:cNvPr>
          <p:cNvSpPr/>
          <p:nvPr/>
        </p:nvSpPr>
        <p:spPr>
          <a:xfrm rot="13691150">
            <a:off x="249252" y="350092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41" name="Picture 40">
            <a:extLst>
              <a:ext uri="{FF2B5EF4-FFF2-40B4-BE49-F238E27FC236}">
                <a16:creationId xmlns:a16="http://schemas.microsoft.com/office/drawing/2014/main" id="{DB49B3BD-547C-8A1C-7732-FC627E2B08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95629" y="3943002"/>
            <a:ext cx="3329023" cy="2310023"/>
          </a:xfrm>
          <a:prstGeom prst="rect">
            <a:avLst/>
          </a:prstGeom>
          <a:effectLst>
            <a:outerShdw blurRad="50800" dist="38100" dir="2700000" algn="tl" rotWithShape="0">
              <a:prstClr val="black">
                <a:alpha val="40000"/>
              </a:prstClr>
            </a:outerShdw>
          </a:effectLst>
        </p:spPr>
      </p:pic>
      <p:pic>
        <p:nvPicPr>
          <p:cNvPr id="42" name="Picture 41">
            <a:extLst>
              <a:ext uri="{FF2B5EF4-FFF2-40B4-BE49-F238E27FC236}">
                <a16:creationId xmlns:a16="http://schemas.microsoft.com/office/drawing/2014/main" id="{FCB62B82-7265-20C4-B43A-E8F62304131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3760" y="3943002"/>
            <a:ext cx="3329023" cy="2328142"/>
          </a:xfrm>
          <a:prstGeom prst="rect">
            <a:avLst/>
          </a:prstGeom>
          <a:effectLst>
            <a:outerShdw blurRad="50800" dist="38100" dir="2700000" algn="tl" rotWithShape="0">
              <a:prstClr val="black">
                <a:alpha val="40000"/>
              </a:prstClr>
            </a:outerShdw>
          </a:effectLst>
        </p:spPr>
      </p:pic>
      <p:sp>
        <p:nvSpPr>
          <p:cNvPr id="43" name="TextBox 42">
            <a:extLst>
              <a:ext uri="{FF2B5EF4-FFF2-40B4-BE49-F238E27FC236}">
                <a16:creationId xmlns:a16="http://schemas.microsoft.com/office/drawing/2014/main" id="{5AE27527-AA21-36E7-D873-1F9D6BC34312}"/>
              </a:ext>
            </a:extLst>
          </p:cNvPr>
          <p:cNvSpPr txBox="1"/>
          <p:nvPr/>
        </p:nvSpPr>
        <p:spPr>
          <a:xfrm>
            <a:off x="1794384" y="6271144"/>
            <a:ext cx="3556797" cy="338554"/>
          </a:xfrm>
          <a:prstGeom prst="rect">
            <a:avLst/>
          </a:prstGeom>
          <a:noFill/>
        </p:spPr>
        <p:txBody>
          <a:bodyPr wrap="square" rtlCol="0">
            <a:spAutoFit/>
          </a:bodyPr>
          <a:lstStyle/>
          <a:p>
            <a:pPr algn="ctr"/>
            <a:r>
              <a:rPr lang="fr-FR" sz="800" dirty="0"/>
              <a:t>Moyenne des distances entre les membres d'un même super-groupe en fonction du temps. Super-groupes : BEC à gauche et FAD à droite. </a:t>
            </a:r>
            <a:endParaRPr lang="fr-FR" sz="800" i="1" dirty="0">
              <a:solidFill>
                <a:srgbClr val="0F172A"/>
              </a:solidFill>
            </a:endParaRPr>
          </a:p>
        </p:txBody>
      </p:sp>
      <p:cxnSp>
        <p:nvCxnSpPr>
          <p:cNvPr id="44" name="Connecteur droit 4">
            <a:extLst>
              <a:ext uri="{FF2B5EF4-FFF2-40B4-BE49-F238E27FC236}">
                <a16:creationId xmlns:a16="http://schemas.microsoft.com/office/drawing/2014/main" id="{4E90A7D8-7796-6144-C70B-756EDDCA03AD}"/>
              </a:ext>
            </a:extLst>
          </p:cNvPr>
          <p:cNvCxnSpPr>
            <a:cxnSpLocks/>
          </p:cNvCxnSpPr>
          <p:nvPr/>
        </p:nvCxnSpPr>
        <p:spPr>
          <a:xfrm flipV="1">
            <a:off x="7386271" y="1455943"/>
            <a:ext cx="0" cy="5125180"/>
          </a:xfrm>
          <a:prstGeom prst="line">
            <a:avLst/>
          </a:prstGeom>
          <a:ln>
            <a:solidFill>
              <a:srgbClr val="2596BE"/>
            </a:solidFill>
          </a:ln>
        </p:spPr>
        <p:style>
          <a:lnRef idx="1">
            <a:schemeClr val="accent1"/>
          </a:lnRef>
          <a:fillRef idx="0">
            <a:schemeClr val="accent1"/>
          </a:fillRef>
          <a:effectRef idx="0">
            <a:schemeClr val="accent1"/>
          </a:effectRef>
          <a:fontRef idx="minor">
            <a:schemeClr val="tx1"/>
          </a:fontRef>
        </p:style>
      </p:cxnSp>
      <p:sp>
        <p:nvSpPr>
          <p:cNvPr id="4" name="Espace réservé de la date 3">
            <a:extLst>
              <a:ext uri="{FF2B5EF4-FFF2-40B4-BE49-F238E27FC236}">
                <a16:creationId xmlns:a16="http://schemas.microsoft.com/office/drawing/2014/main" id="{5B3DD99C-B480-9351-D01C-239833218577}"/>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Tree>
    <p:extLst>
      <p:ext uri="{BB962C8B-B14F-4D97-AF65-F5344CB8AC3E}">
        <p14:creationId xmlns:p14="http://schemas.microsoft.com/office/powerpoint/2010/main" val="1226571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1B1F6-1E7E-DA49-BE96-E90DE8F1841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CC76C4B-281C-4066-B1B3-7ACCF2B9B972}"/>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C80B2C06-CEA3-5FA7-93F5-5B86D4E4CFE0}"/>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Traceback avec un potentiel gravitationnel local</a:t>
            </a:r>
          </a:p>
        </p:txBody>
      </p:sp>
      <p:sp>
        <p:nvSpPr>
          <p:cNvPr id="5" name="Espace réservé du numéro de diapositive 4">
            <a:extLst>
              <a:ext uri="{FF2B5EF4-FFF2-40B4-BE49-F238E27FC236}">
                <a16:creationId xmlns:a16="http://schemas.microsoft.com/office/drawing/2014/main" id="{216C71B6-5BA3-6A0B-9098-255806CA51AD}"/>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9</a:t>
            </a:fld>
            <a:endParaRPr lang="fr-FR" noProof="0" dirty="0"/>
          </a:p>
        </p:txBody>
      </p:sp>
      <p:pic>
        <p:nvPicPr>
          <p:cNvPr id="11" name="Picture 2">
            <a:extLst>
              <a:ext uri="{FF2B5EF4-FFF2-40B4-BE49-F238E27FC236}">
                <a16:creationId xmlns:a16="http://schemas.microsoft.com/office/drawing/2014/main" id="{60EAEF93-8291-D8BC-22CF-1CCF3FA3A8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D0405325-3791-FAA6-AEEF-6B01D61DB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 coins arrondis 8">
            <a:extLst>
              <a:ext uri="{FF2B5EF4-FFF2-40B4-BE49-F238E27FC236}">
                <a16:creationId xmlns:a16="http://schemas.microsoft.com/office/drawing/2014/main" id="{4A0616E3-A10F-ED29-4051-222F960CF863}"/>
              </a:ext>
            </a:extLst>
          </p:cNvPr>
          <p:cNvSpPr/>
          <p:nvPr/>
        </p:nvSpPr>
        <p:spPr>
          <a:xfrm>
            <a:off x="43393" y="1458460"/>
            <a:ext cx="7172202" cy="111346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19" name="ZoneTexte 13">
            <a:extLst>
              <a:ext uri="{FF2B5EF4-FFF2-40B4-BE49-F238E27FC236}">
                <a16:creationId xmlns:a16="http://schemas.microsoft.com/office/drawing/2014/main" id="{01126346-FCF7-ECBA-A085-7B38464F04FD}"/>
              </a:ext>
            </a:extLst>
          </p:cNvPr>
          <p:cNvSpPr txBox="1"/>
          <p:nvPr/>
        </p:nvSpPr>
        <p:spPr>
          <a:xfrm>
            <a:off x="466165" y="1531699"/>
            <a:ext cx="1329693"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Motivations</a:t>
            </a:r>
            <a:endParaRPr lang="fr-FR" noProof="0" dirty="0">
              <a:solidFill>
                <a:schemeClr val="bg2">
                  <a:lumMod val="25000"/>
                </a:schemeClr>
              </a:solidFill>
            </a:endParaRPr>
          </a:p>
        </p:txBody>
      </p:sp>
      <p:sp>
        <p:nvSpPr>
          <p:cNvPr id="21" name="ZoneTexte 14">
            <a:extLst>
              <a:ext uri="{FF2B5EF4-FFF2-40B4-BE49-F238E27FC236}">
                <a16:creationId xmlns:a16="http://schemas.microsoft.com/office/drawing/2014/main" id="{2C26734D-3E0B-D3F1-49CC-17C10B4827F0}"/>
              </a:ext>
            </a:extLst>
          </p:cNvPr>
          <p:cNvSpPr txBox="1"/>
          <p:nvPr/>
        </p:nvSpPr>
        <p:spPr>
          <a:xfrm>
            <a:off x="336075" y="1872541"/>
            <a:ext cx="6990633" cy="600164"/>
          </a:xfrm>
          <a:prstGeom prst="rect">
            <a:avLst/>
          </a:prstGeom>
          <a:noFill/>
        </p:spPr>
        <p:txBody>
          <a:bodyPr wrap="square" lIns="91440" tIns="45720" rIns="91440" bIns="45720" rtlCol="0" anchor="t">
            <a:spAutoFit/>
          </a:bodyPr>
          <a:lstStyle/>
          <a:p>
            <a:r>
              <a:rPr lang="fr-FR" sz="1100" dirty="0">
                <a:solidFill>
                  <a:schemeClr val="bg2">
                    <a:lumMod val="25000"/>
                  </a:schemeClr>
                </a:solidFill>
                <a:ea typeface="Calibri"/>
                <a:cs typeface="Calibri"/>
              </a:rPr>
              <a:t>Prendre en compte le </a:t>
            </a:r>
            <a:r>
              <a:rPr lang="fr-FR" sz="1100" b="1" dirty="0">
                <a:solidFill>
                  <a:schemeClr val="bg2">
                    <a:lumMod val="25000"/>
                  </a:schemeClr>
                </a:solidFill>
                <a:ea typeface="Calibri"/>
                <a:cs typeface="Calibri"/>
              </a:rPr>
              <a:t>potentiel gravitationnel de la Galaxie</a:t>
            </a:r>
            <a:r>
              <a:rPr lang="fr-FR" sz="1100" dirty="0">
                <a:solidFill>
                  <a:schemeClr val="bg2">
                    <a:lumMod val="25000"/>
                  </a:schemeClr>
                </a:solidFill>
                <a:ea typeface="Calibri"/>
                <a:cs typeface="Calibri"/>
              </a:rPr>
              <a:t> + la </a:t>
            </a:r>
            <a:r>
              <a:rPr lang="fr-FR" sz="1100" b="1" dirty="0">
                <a:solidFill>
                  <a:schemeClr val="bg2">
                    <a:lumMod val="25000"/>
                  </a:schemeClr>
                </a:solidFill>
                <a:ea typeface="Calibri"/>
                <a:cs typeface="Calibri"/>
              </a:rPr>
              <a:t>barre centrale</a:t>
            </a:r>
            <a:r>
              <a:rPr lang="fr-FR" sz="1100" dirty="0">
                <a:solidFill>
                  <a:schemeClr val="bg2">
                    <a:lumMod val="25000"/>
                  </a:schemeClr>
                </a:solidFill>
                <a:ea typeface="Calibri"/>
                <a:cs typeface="Calibri"/>
              </a:rPr>
              <a:t> + les </a:t>
            </a:r>
            <a:r>
              <a:rPr lang="fr-FR" sz="1100" b="1" dirty="0">
                <a:solidFill>
                  <a:schemeClr val="bg2">
                    <a:lumMod val="25000"/>
                  </a:schemeClr>
                </a:solidFill>
                <a:ea typeface="Calibri"/>
                <a:cs typeface="Calibri"/>
              </a:rPr>
              <a:t>bras spiraux galactiques</a:t>
            </a: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Permet d’avoir une visualisation plus </a:t>
            </a:r>
            <a:r>
              <a:rPr lang="fr-FR" sz="1100" b="1" dirty="0">
                <a:solidFill>
                  <a:schemeClr val="bg2">
                    <a:lumMod val="25000"/>
                  </a:schemeClr>
                </a:solidFill>
                <a:ea typeface="Calibri"/>
                <a:cs typeface="Calibri"/>
              </a:rPr>
              <a:t>juste</a:t>
            </a:r>
            <a:r>
              <a:rPr lang="fr-FR" sz="1100" dirty="0">
                <a:solidFill>
                  <a:schemeClr val="bg2">
                    <a:lumMod val="25000"/>
                  </a:schemeClr>
                </a:solidFill>
                <a:ea typeface="Calibri"/>
                <a:cs typeface="Calibri"/>
              </a:rPr>
              <a:t> des </a:t>
            </a:r>
            <a:r>
              <a:rPr lang="fr-FR" sz="1100" b="1" dirty="0">
                <a:solidFill>
                  <a:schemeClr val="bg2">
                    <a:lumMod val="25000"/>
                  </a:schemeClr>
                </a:solidFill>
                <a:ea typeface="Calibri"/>
                <a:cs typeface="Calibri"/>
              </a:rPr>
              <a:t>trajectoires</a:t>
            </a:r>
            <a:r>
              <a:rPr lang="fr-FR" sz="1100" dirty="0">
                <a:solidFill>
                  <a:schemeClr val="bg2">
                    <a:lumMod val="25000"/>
                  </a:schemeClr>
                </a:solidFill>
                <a:ea typeface="Calibri"/>
                <a:cs typeface="Calibri"/>
              </a:rPr>
              <a:t> dans le </a:t>
            </a:r>
            <a:r>
              <a:rPr lang="fr-FR" sz="1100" b="1" dirty="0">
                <a:solidFill>
                  <a:schemeClr val="bg2">
                    <a:lumMod val="25000"/>
                  </a:schemeClr>
                </a:solidFill>
                <a:ea typeface="Calibri"/>
                <a:cs typeface="Calibri"/>
              </a:rPr>
              <a:t>passé</a:t>
            </a:r>
          </a:p>
        </p:txBody>
      </p:sp>
      <p:pic>
        <p:nvPicPr>
          <p:cNvPr id="22" name="Graphic 21" descr="Arrow Right with solid fill">
            <a:extLst>
              <a:ext uri="{FF2B5EF4-FFF2-40B4-BE49-F238E27FC236}">
                <a16:creationId xmlns:a16="http://schemas.microsoft.com/office/drawing/2014/main" id="{3B402D10-F1B5-DBF3-F580-D56055FBBD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864" y="1842753"/>
            <a:ext cx="244511" cy="328246"/>
          </a:xfrm>
          <a:prstGeom prst="rect">
            <a:avLst/>
          </a:prstGeom>
        </p:spPr>
      </p:pic>
      <p:pic>
        <p:nvPicPr>
          <p:cNvPr id="23" name="Graphic 22" descr="Arrow Right with solid fill">
            <a:extLst>
              <a:ext uri="{FF2B5EF4-FFF2-40B4-BE49-F238E27FC236}">
                <a16:creationId xmlns:a16="http://schemas.microsoft.com/office/drawing/2014/main" id="{044920E2-09DB-A960-185E-6A53BA35CD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37" y="2191764"/>
            <a:ext cx="244511" cy="328246"/>
          </a:xfrm>
          <a:prstGeom prst="rect">
            <a:avLst/>
          </a:prstGeom>
        </p:spPr>
      </p:pic>
      <p:pic>
        <p:nvPicPr>
          <p:cNvPr id="27" name="Graphic 26" descr="Fast Forward with solid fill">
            <a:extLst>
              <a:ext uri="{FF2B5EF4-FFF2-40B4-BE49-F238E27FC236}">
                <a16:creationId xmlns:a16="http://schemas.microsoft.com/office/drawing/2014/main" id="{9115A70D-993B-D898-139C-08A5526CE4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3231" y="1579850"/>
            <a:ext cx="286379" cy="252886"/>
          </a:xfrm>
          <a:prstGeom prst="rect">
            <a:avLst/>
          </a:prstGeom>
        </p:spPr>
      </p:pic>
      <p:sp>
        <p:nvSpPr>
          <p:cNvPr id="4" name="Espace réservé de la date 3">
            <a:extLst>
              <a:ext uri="{FF2B5EF4-FFF2-40B4-BE49-F238E27FC236}">
                <a16:creationId xmlns:a16="http://schemas.microsoft.com/office/drawing/2014/main" id="{56AE60FE-D01D-D73D-E18B-C4B8FF8FF406}"/>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sp>
        <p:nvSpPr>
          <p:cNvPr id="7" name="Rectangle : coins arrondis 8">
            <a:extLst>
              <a:ext uri="{FF2B5EF4-FFF2-40B4-BE49-F238E27FC236}">
                <a16:creationId xmlns:a16="http://schemas.microsoft.com/office/drawing/2014/main" id="{4F26E514-682A-4354-E2EA-F26F757FFB68}"/>
              </a:ext>
            </a:extLst>
          </p:cNvPr>
          <p:cNvSpPr/>
          <p:nvPr/>
        </p:nvSpPr>
        <p:spPr>
          <a:xfrm>
            <a:off x="7440433" y="1445321"/>
            <a:ext cx="4593282" cy="1126604"/>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9" name="ZoneTexte 13">
            <a:extLst>
              <a:ext uri="{FF2B5EF4-FFF2-40B4-BE49-F238E27FC236}">
                <a16:creationId xmlns:a16="http://schemas.microsoft.com/office/drawing/2014/main" id="{C22FF5E1-A37E-E6B8-7452-5E2A67CC52D1}"/>
              </a:ext>
            </a:extLst>
          </p:cNvPr>
          <p:cNvSpPr txBox="1"/>
          <p:nvPr/>
        </p:nvSpPr>
        <p:spPr>
          <a:xfrm>
            <a:off x="7826705" y="1458460"/>
            <a:ext cx="4129784"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Collaboration avec l’université de Strasbourg</a:t>
            </a:r>
            <a:endParaRPr lang="fr-FR" noProof="0" dirty="0">
              <a:solidFill>
                <a:schemeClr val="bg2">
                  <a:lumMod val="25000"/>
                </a:schemeClr>
              </a:solidFill>
            </a:endParaRPr>
          </a:p>
        </p:txBody>
      </p:sp>
      <p:sp>
        <p:nvSpPr>
          <p:cNvPr id="10" name="ZoneTexte 14">
            <a:extLst>
              <a:ext uri="{FF2B5EF4-FFF2-40B4-BE49-F238E27FC236}">
                <a16:creationId xmlns:a16="http://schemas.microsoft.com/office/drawing/2014/main" id="{095A537C-AEEA-B0C5-F722-C5AD2433CF9D}"/>
              </a:ext>
            </a:extLst>
          </p:cNvPr>
          <p:cNvSpPr txBox="1"/>
          <p:nvPr/>
        </p:nvSpPr>
        <p:spPr>
          <a:xfrm>
            <a:off x="7638367" y="1832736"/>
            <a:ext cx="4506461" cy="600164"/>
          </a:xfrm>
          <a:prstGeom prst="rect">
            <a:avLst/>
          </a:prstGeom>
          <a:noFill/>
        </p:spPr>
        <p:txBody>
          <a:bodyPr wrap="square" lIns="91440" tIns="45720" rIns="91440" bIns="45720" rtlCol="0" anchor="t">
            <a:spAutoFit/>
          </a:bodyPr>
          <a:lstStyle/>
          <a:p>
            <a:r>
              <a:rPr lang="fr-FR" sz="1100" b="1" dirty="0">
                <a:solidFill>
                  <a:schemeClr val="bg2">
                    <a:lumMod val="25000"/>
                  </a:schemeClr>
                </a:solidFill>
                <a:ea typeface="Calibri"/>
                <a:cs typeface="Calibri"/>
              </a:rPr>
              <a:t>Yassin Khalil </a:t>
            </a:r>
            <a:r>
              <a:rPr lang="fr-FR" sz="1100" dirty="0">
                <a:solidFill>
                  <a:schemeClr val="bg2">
                    <a:lumMod val="25000"/>
                  </a:schemeClr>
                </a:solidFill>
                <a:ea typeface="Calibri"/>
                <a:cs typeface="Calibri"/>
              </a:rPr>
              <a:t>et</a:t>
            </a:r>
            <a:r>
              <a:rPr lang="fr-FR" sz="1100" b="1" dirty="0">
                <a:solidFill>
                  <a:schemeClr val="bg2">
                    <a:lumMod val="25000"/>
                  </a:schemeClr>
                </a:solidFill>
                <a:ea typeface="Calibri"/>
                <a:cs typeface="Calibri"/>
              </a:rPr>
              <a:t> Benoit </a:t>
            </a:r>
            <a:r>
              <a:rPr lang="fr-FR" sz="1100" b="1" dirty="0" err="1">
                <a:solidFill>
                  <a:schemeClr val="bg2">
                    <a:lumMod val="25000"/>
                  </a:schemeClr>
                </a:solidFill>
                <a:ea typeface="Calibri"/>
                <a:cs typeface="Calibri"/>
              </a:rPr>
              <a:t>Famaey</a:t>
            </a:r>
            <a:endParaRPr lang="fr-FR" sz="1100" b="1" dirty="0">
              <a:solidFill>
                <a:schemeClr val="bg2">
                  <a:lumMod val="25000"/>
                </a:schemeClr>
              </a:solidFill>
              <a:ea typeface="Calibri"/>
              <a:cs typeface="Calibri"/>
            </a:endParaRP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Modélisation du </a:t>
            </a:r>
            <a:r>
              <a:rPr lang="fr-FR" sz="1100" b="1" dirty="0">
                <a:solidFill>
                  <a:schemeClr val="bg2">
                    <a:lumMod val="25000"/>
                  </a:schemeClr>
                </a:solidFill>
                <a:ea typeface="Calibri"/>
                <a:cs typeface="Calibri"/>
              </a:rPr>
              <a:t>potentiel local</a:t>
            </a:r>
            <a:r>
              <a:rPr lang="fr-FR" sz="1100" dirty="0">
                <a:solidFill>
                  <a:schemeClr val="bg2">
                    <a:lumMod val="25000"/>
                  </a:schemeClr>
                </a:solidFill>
                <a:ea typeface="Calibri"/>
                <a:cs typeface="Calibri"/>
              </a:rPr>
              <a:t>, validé avec </a:t>
            </a:r>
            <a:r>
              <a:rPr lang="fr-FR" sz="1100" b="1" dirty="0">
                <a:solidFill>
                  <a:schemeClr val="bg2">
                    <a:lumMod val="25000"/>
                  </a:schemeClr>
                </a:solidFill>
                <a:ea typeface="Calibri"/>
                <a:cs typeface="Calibri"/>
              </a:rPr>
              <a:t>Gaia</a:t>
            </a:r>
            <a:r>
              <a:rPr lang="fr-FR" sz="1100" dirty="0">
                <a:solidFill>
                  <a:schemeClr val="bg2">
                    <a:lumMod val="25000"/>
                  </a:schemeClr>
                </a:solidFill>
                <a:ea typeface="Calibri"/>
                <a:cs typeface="Calibri"/>
              </a:rPr>
              <a:t>.</a:t>
            </a:r>
            <a:endParaRPr lang="fr-FR" sz="1100" b="1" dirty="0">
              <a:solidFill>
                <a:schemeClr val="bg2">
                  <a:lumMod val="25000"/>
                </a:schemeClr>
              </a:solidFill>
              <a:ea typeface="Calibri"/>
              <a:cs typeface="Calibri"/>
            </a:endParaRPr>
          </a:p>
        </p:txBody>
      </p:sp>
      <p:pic>
        <p:nvPicPr>
          <p:cNvPr id="20" name="Graphic 19" descr="Handshake with solid fill">
            <a:extLst>
              <a:ext uri="{FF2B5EF4-FFF2-40B4-BE49-F238E27FC236}">
                <a16:creationId xmlns:a16="http://schemas.microsoft.com/office/drawing/2014/main" id="{FC71A818-DD7C-BD6E-5B1D-F60B37BE47E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03184" y="1456675"/>
            <a:ext cx="384687" cy="384687"/>
          </a:xfrm>
          <a:prstGeom prst="rect">
            <a:avLst/>
          </a:prstGeom>
        </p:spPr>
      </p:pic>
      <p:sp>
        <p:nvSpPr>
          <p:cNvPr id="24" name="L-Shape 23">
            <a:extLst>
              <a:ext uri="{FF2B5EF4-FFF2-40B4-BE49-F238E27FC236}">
                <a16:creationId xmlns:a16="http://schemas.microsoft.com/office/drawing/2014/main" id="{1CB4121C-0632-6A86-D551-55C6DFE6926B}"/>
              </a:ext>
            </a:extLst>
          </p:cNvPr>
          <p:cNvSpPr/>
          <p:nvPr/>
        </p:nvSpPr>
        <p:spPr>
          <a:xfrm rot="13691150">
            <a:off x="7551905" y="1932779"/>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5" name="L-Shape 24">
            <a:extLst>
              <a:ext uri="{FF2B5EF4-FFF2-40B4-BE49-F238E27FC236}">
                <a16:creationId xmlns:a16="http://schemas.microsoft.com/office/drawing/2014/main" id="{8DB9251B-831E-136D-9FF9-569DF439ED84}"/>
              </a:ext>
            </a:extLst>
          </p:cNvPr>
          <p:cNvSpPr/>
          <p:nvPr/>
        </p:nvSpPr>
        <p:spPr>
          <a:xfrm rot="13691150">
            <a:off x="7552461" y="225818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1" name="Picture 30">
            <a:extLst>
              <a:ext uri="{FF2B5EF4-FFF2-40B4-BE49-F238E27FC236}">
                <a16:creationId xmlns:a16="http://schemas.microsoft.com/office/drawing/2014/main" id="{FFEBD2F6-D82C-92B4-8E19-E18DB0899E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164" y="2768849"/>
            <a:ext cx="6098043" cy="3310260"/>
          </a:xfrm>
          <a:prstGeom prst="rect">
            <a:avLst/>
          </a:prstGeom>
          <a:effectLst>
            <a:outerShdw blurRad="50800" dist="38100" dir="2700000" algn="tl" rotWithShape="0">
              <a:prstClr val="black">
                <a:alpha val="40000"/>
              </a:prstClr>
            </a:outerShdw>
          </a:effectLst>
        </p:spPr>
      </p:pic>
      <p:pic>
        <p:nvPicPr>
          <p:cNvPr id="35" name="Picture 34">
            <a:extLst>
              <a:ext uri="{FF2B5EF4-FFF2-40B4-BE49-F238E27FC236}">
                <a16:creationId xmlns:a16="http://schemas.microsoft.com/office/drawing/2014/main" id="{54627899-E64C-0C22-2873-3802D147CE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94428" y="2685320"/>
            <a:ext cx="3194337" cy="3714875"/>
          </a:xfrm>
          <a:prstGeom prst="rect">
            <a:avLst/>
          </a:prstGeom>
          <a:effectLst>
            <a:outerShdw blurRad="50800" dist="38100" dir="2700000" algn="tl" rotWithShape="0">
              <a:prstClr val="black">
                <a:alpha val="40000"/>
              </a:prstClr>
            </a:outerShdw>
          </a:effectLst>
        </p:spPr>
      </p:pic>
      <p:sp>
        <p:nvSpPr>
          <p:cNvPr id="37" name="TextBox 36">
            <a:extLst>
              <a:ext uri="{FF2B5EF4-FFF2-40B4-BE49-F238E27FC236}">
                <a16:creationId xmlns:a16="http://schemas.microsoft.com/office/drawing/2014/main" id="{F4AE72C6-7299-B098-37C5-21572F81D2A3}"/>
              </a:ext>
            </a:extLst>
          </p:cNvPr>
          <p:cNvSpPr txBox="1"/>
          <p:nvPr/>
        </p:nvSpPr>
        <p:spPr>
          <a:xfrm>
            <a:off x="934521" y="6121636"/>
            <a:ext cx="4665327" cy="215444"/>
          </a:xfrm>
          <a:prstGeom prst="rect">
            <a:avLst/>
          </a:prstGeom>
          <a:noFill/>
        </p:spPr>
        <p:txBody>
          <a:bodyPr wrap="square" rtlCol="0">
            <a:spAutoFit/>
          </a:bodyPr>
          <a:lstStyle/>
          <a:p>
            <a:pPr algn="ctr"/>
            <a:r>
              <a:rPr lang="fr-FR" sz="800" i="1" dirty="0">
                <a:solidFill>
                  <a:srgbClr val="0F172A"/>
                </a:solidFill>
              </a:rPr>
              <a:t>Calcul des TCA des groupes d’étoiles massives à partir d’un potentiel gravitationnel local par Y. Khalil</a:t>
            </a:r>
          </a:p>
        </p:txBody>
      </p:sp>
      <p:sp>
        <p:nvSpPr>
          <p:cNvPr id="38" name="Rectangle : coins arrondis 8">
            <a:extLst>
              <a:ext uri="{FF2B5EF4-FFF2-40B4-BE49-F238E27FC236}">
                <a16:creationId xmlns:a16="http://schemas.microsoft.com/office/drawing/2014/main" id="{E51C736D-55EC-2D7B-E213-BF82FE59BB7F}"/>
              </a:ext>
            </a:extLst>
          </p:cNvPr>
          <p:cNvSpPr/>
          <p:nvPr/>
        </p:nvSpPr>
        <p:spPr>
          <a:xfrm>
            <a:off x="6470219" y="3334514"/>
            <a:ext cx="1670197" cy="951562"/>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45" name="ZoneTexte 13">
            <a:extLst>
              <a:ext uri="{FF2B5EF4-FFF2-40B4-BE49-F238E27FC236}">
                <a16:creationId xmlns:a16="http://schemas.microsoft.com/office/drawing/2014/main" id="{CB3B1822-468E-A2F4-BE11-21CCD9465183}"/>
              </a:ext>
            </a:extLst>
          </p:cNvPr>
          <p:cNvSpPr txBox="1"/>
          <p:nvPr/>
        </p:nvSpPr>
        <p:spPr>
          <a:xfrm>
            <a:off x="6640471" y="3469915"/>
            <a:ext cx="1329693" cy="338554"/>
          </a:xfrm>
          <a:prstGeom prst="rect">
            <a:avLst/>
          </a:prstGeom>
          <a:noFill/>
        </p:spPr>
        <p:txBody>
          <a:bodyPr wrap="square" lIns="91440" tIns="45720" rIns="91440" bIns="45720" rtlCol="0" anchor="t">
            <a:spAutoFit/>
          </a:bodyPr>
          <a:lstStyle/>
          <a:p>
            <a:pPr algn="ctr"/>
            <a:r>
              <a:rPr lang="fr-FR" sz="1600" b="1" noProof="0" dirty="0">
                <a:solidFill>
                  <a:srgbClr val="D9D9D9"/>
                </a:solidFill>
              </a:rPr>
              <a:t>BCE</a:t>
            </a:r>
            <a:endParaRPr lang="fr-FR" noProof="0" dirty="0">
              <a:solidFill>
                <a:srgbClr val="D9D9D9"/>
              </a:solidFill>
            </a:endParaRPr>
          </a:p>
        </p:txBody>
      </p:sp>
      <p:sp>
        <p:nvSpPr>
          <p:cNvPr id="46" name="ZoneTexte 13">
            <a:extLst>
              <a:ext uri="{FF2B5EF4-FFF2-40B4-BE49-F238E27FC236}">
                <a16:creationId xmlns:a16="http://schemas.microsoft.com/office/drawing/2014/main" id="{46578EAF-FB5A-AF79-47DD-73F53E254EB5}"/>
              </a:ext>
            </a:extLst>
          </p:cNvPr>
          <p:cNvSpPr txBox="1"/>
          <p:nvPr/>
        </p:nvSpPr>
        <p:spPr>
          <a:xfrm>
            <a:off x="6640470" y="3745063"/>
            <a:ext cx="1329693" cy="276999"/>
          </a:xfrm>
          <a:prstGeom prst="rect">
            <a:avLst/>
          </a:prstGeom>
          <a:noFill/>
        </p:spPr>
        <p:txBody>
          <a:bodyPr wrap="square" lIns="91440" tIns="45720" rIns="91440" bIns="45720" rtlCol="0" anchor="t">
            <a:spAutoFit/>
          </a:bodyPr>
          <a:lstStyle/>
          <a:p>
            <a:pPr algn="ctr"/>
            <a:r>
              <a:rPr lang="fr-FR" sz="1200" noProof="0" dirty="0">
                <a:solidFill>
                  <a:srgbClr val="D9D9D9"/>
                </a:solidFill>
              </a:rPr>
              <a:t>-2.90 </a:t>
            </a:r>
            <a:r>
              <a:rPr lang="fr-FR" sz="1200" noProof="0" dirty="0" err="1">
                <a:solidFill>
                  <a:srgbClr val="D9D9D9"/>
                </a:solidFill>
              </a:rPr>
              <a:t>Myr</a:t>
            </a:r>
            <a:endParaRPr lang="fr-FR" sz="1400" noProof="0" dirty="0">
              <a:solidFill>
                <a:srgbClr val="D9D9D9"/>
              </a:solidFill>
            </a:endParaRPr>
          </a:p>
        </p:txBody>
      </p:sp>
      <p:sp>
        <p:nvSpPr>
          <p:cNvPr id="47" name="Rectangle : coins arrondis 8">
            <a:extLst>
              <a:ext uri="{FF2B5EF4-FFF2-40B4-BE49-F238E27FC236}">
                <a16:creationId xmlns:a16="http://schemas.microsoft.com/office/drawing/2014/main" id="{19B1F98E-85A8-B6DC-40ED-5B9B2EB4ADFD}"/>
              </a:ext>
            </a:extLst>
          </p:cNvPr>
          <p:cNvSpPr/>
          <p:nvPr/>
        </p:nvSpPr>
        <p:spPr>
          <a:xfrm>
            <a:off x="6470219" y="4505878"/>
            <a:ext cx="1670197" cy="951562"/>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48" name="ZoneTexte 13">
            <a:extLst>
              <a:ext uri="{FF2B5EF4-FFF2-40B4-BE49-F238E27FC236}">
                <a16:creationId xmlns:a16="http://schemas.microsoft.com/office/drawing/2014/main" id="{5B27F3D8-DD03-5FC0-C259-756C53ADB4E0}"/>
              </a:ext>
            </a:extLst>
          </p:cNvPr>
          <p:cNvSpPr txBox="1"/>
          <p:nvPr/>
        </p:nvSpPr>
        <p:spPr>
          <a:xfrm>
            <a:off x="6640471" y="4641279"/>
            <a:ext cx="1329693" cy="338554"/>
          </a:xfrm>
          <a:prstGeom prst="rect">
            <a:avLst/>
          </a:prstGeom>
          <a:noFill/>
        </p:spPr>
        <p:txBody>
          <a:bodyPr wrap="square" lIns="91440" tIns="45720" rIns="91440" bIns="45720" rtlCol="0" anchor="t">
            <a:spAutoFit/>
          </a:bodyPr>
          <a:lstStyle/>
          <a:p>
            <a:pPr algn="ctr"/>
            <a:r>
              <a:rPr lang="fr-FR" sz="1600" b="1" noProof="0" dirty="0">
                <a:solidFill>
                  <a:srgbClr val="D9D9D9"/>
                </a:solidFill>
              </a:rPr>
              <a:t>FAD</a:t>
            </a:r>
            <a:endParaRPr lang="fr-FR" noProof="0" dirty="0">
              <a:solidFill>
                <a:srgbClr val="D9D9D9"/>
              </a:solidFill>
            </a:endParaRPr>
          </a:p>
        </p:txBody>
      </p:sp>
      <p:sp>
        <p:nvSpPr>
          <p:cNvPr id="49" name="ZoneTexte 13">
            <a:extLst>
              <a:ext uri="{FF2B5EF4-FFF2-40B4-BE49-F238E27FC236}">
                <a16:creationId xmlns:a16="http://schemas.microsoft.com/office/drawing/2014/main" id="{EA5B9E5E-550C-8463-C68C-F7766E6C9ED9}"/>
              </a:ext>
            </a:extLst>
          </p:cNvPr>
          <p:cNvSpPr txBox="1"/>
          <p:nvPr/>
        </p:nvSpPr>
        <p:spPr>
          <a:xfrm>
            <a:off x="6640470" y="4916427"/>
            <a:ext cx="1329693" cy="276999"/>
          </a:xfrm>
          <a:prstGeom prst="rect">
            <a:avLst/>
          </a:prstGeom>
          <a:noFill/>
        </p:spPr>
        <p:txBody>
          <a:bodyPr wrap="square" lIns="91440" tIns="45720" rIns="91440" bIns="45720" rtlCol="0" anchor="t">
            <a:spAutoFit/>
          </a:bodyPr>
          <a:lstStyle/>
          <a:p>
            <a:pPr algn="ctr"/>
            <a:r>
              <a:rPr lang="fr-FR" sz="1200" noProof="0" dirty="0">
                <a:solidFill>
                  <a:srgbClr val="D9D9D9"/>
                </a:solidFill>
              </a:rPr>
              <a:t>-6.94 </a:t>
            </a:r>
            <a:r>
              <a:rPr lang="fr-FR" sz="1200" noProof="0" dirty="0" err="1">
                <a:solidFill>
                  <a:srgbClr val="D9D9D9"/>
                </a:solidFill>
              </a:rPr>
              <a:t>Myr</a:t>
            </a:r>
            <a:endParaRPr lang="fr-FR" sz="1400" noProof="0" dirty="0">
              <a:solidFill>
                <a:srgbClr val="D9D9D9"/>
              </a:solidFill>
            </a:endParaRPr>
          </a:p>
        </p:txBody>
      </p:sp>
    </p:spTree>
    <p:extLst>
      <p:ext uri="{BB962C8B-B14F-4D97-AF65-F5344CB8AC3E}">
        <p14:creationId xmlns:p14="http://schemas.microsoft.com/office/powerpoint/2010/main" val="3679956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EE1A-CF53-5575-EE4A-D0C7C1BEB0F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9262AE1-1088-CAE3-0304-1606D0085266}"/>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EC367AC8-42FD-6E8C-1687-AE8BC3718819}"/>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Processus de collision de nuages moléculaires</a:t>
            </a:r>
          </a:p>
        </p:txBody>
      </p:sp>
      <p:sp>
        <p:nvSpPr>
          <p:cNvPr id="5" name="Espace réservé du numéro de diapositive 4">
            <a:extLst>
              <a:ext uri="{FF2B5EF4-FFF2-40B4-BE49-F238E27FC236}">
                <a16:creationId xmlns:a16="http://schemas.microsoft.com/office/drawing/2014/main" id="{ADF231AC-2ABF-7141-26E4-0AA5B9D6E257}"/>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10</a:t>
            </a:fld>
            <a:endParaRPr lang="fr-FR" noProof="0" dirty="0"/>
          </a:p>
        </p:txBody>
      </p:sp>
      <p:pic>
        <p:nvPicPr>
          <p:cNvPr id="11" name="Picture 2">
            <a:extLst>
              <a:ext uri="{FF2B5EF4-FFF2-40B4-BE49-F238E27FC236}">
                <a16:creationId xmlns:a16="http://schemas.microsoft.com/office/drawing/2014/main" id="{84EEBC13-3FB0-C8D4-40B7-3AD26CCCC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3B94A5A8-02DB-2426-35BD-7BEA744A7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a:extLst>
              <a:ext uri="{FF2B5EF4-FFF2-40B4-BE49-F238E27FC236}">
                <a16:creationId xmlns:a16="http://schemas.microsoft.com/office/drawing/2014/main" id="{804A6235-4B62-8F39-CBF4-366AF0C96472}"/>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17/06/2026</a:t>
            </a:fld>
            <a:endParaRPr lang="fr-FR" noProof="0" dirty="0"/>
          </a:p>
        </p:txBody>
      </p:sp>
      <p:pic>
        <p:nvPicPr>
          <p:cNvPr id="8" name="Picture 7">
            <a:extLst>
              <a:ext uri="{FF2B5EF4-FFF2-40B4-BE49-F238E27FC236}">
                <a16:creationId xmlns:a16="http://schemas.microsoft.com/office/drawing/2014/main" id="{CB7D5484-C328-8658-A2A9-1D666F3DDC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1067" y="2015192"/>
            <a:ext cx="4696723" cy="3460248"/>
          </a:xfrm>
          <a:prstGeom prst="rect">
            <a:avLst/>
          </a:prstGeom>
          <a:effectLst>
            <a:outerShdw blurRad="50800" dist="38100" dir="2700000" algn="tl" rotWithShape="0">
              <a:prstClr val="black">
                <a:alpha val="40000"/>
              </a:prstClr>
            </a:outerShdw>
          </a:effectLst>
        </p:spPr>
      </p:pic>
      <p:sp>
        <p:nvSpPr>
          <p:cNvPr id="13" name="Rectangle : coins arrondis 8">
            <a:extLst>
              <a:ext uri="{FF2B5EF4-FFF2-40B4-BE49-F238E27FC236}">
                <a16:creationId xmlns:a16="http://schemas.microsoft.com/office/drawing/2014/main" id="{C9DBBBEF-3B5B-A3CD-CDA2-A54C52CE21B8}"/>
              </a:ext>
            </a:extLst>
          </p:cNvPr>
          <p:cNvSpPr/>
          <p:nvPr/>
        </p:nvSpPr>
        <p:spPr>
          <a:xfrm>
            <a:off x="43393" y="1458460"/>
            <a:ext cx="6874992" cy="111346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14" name="ZoneTexte 13">
            <a:extLst>
              <a:ext uri="{FF2B5EF4-FFF2-40B4-BE49-F238E27FC236}">
                <a16:creationId xmlns:a16="http://schemas.microsoft.com/office/drawing/2014/main" id="{4247B62A-3BF2-B7D6-3EE6-7CE2EBA7E648}"/>
              </a:ext>
            </a:extLst>
          </p:cNvPr>
          <p:cNvSpPr txBox="1"/>
          <p:nvPr/>
        </p:nvSpPr>
        <p:spPr>
          <a:xfrm>
            <a:off x="466165" y="1531699"/>
            <a:ext cx="1329693"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Points clés</a:t>
            </a:r>
            <a:endParaRPr lang="fr-FR" noProof="0" dirty="0">
              <a:solidFill>
                <a:schemeClr val="bg2">
                  <a:lumMod val="25000"/>
                </a:schemeClr>
              </a:solidFill>
            </a:endParaRPr>
          </a:p>
        </p:txBody>
      </p:sp>
      <p:sp>
        <p:nvSpPr>
          <p:cNvPr id="15" name="ZoneTexte 14">
            <a:extLst>
              <a:ext uri="{FF2B5EF4-FFF2-40B4-BE49-F238E27FC236}">
                <a16:creationId xmlns:a16="http://schemas.microsoft.com/office/drawing/2014/main" id="{B021FBE5-F7D4-39DB-8060-6EEA506DF8BB}"/>
              </a:ext>
            </a:extLst>
          </p:cNvPr>
          <p:cNvSpPr txBox="1"/>
          <p:nvPr/>
        </p:nvSpPr>
        <p:spPr>
          <a:xfrm>
            <a:off x="336075" y="1872541"/>
            <a:ext cx="6990633" cy="600164"/>
          </a:xfrm>
          <a:prstGeom prst="rect">
            <a:avLst/>
          </a:prstGeom>
          <a:noFill/>
        </p:spPr>
        <p:txBody>
          <a:bodyPr wrap="square" lIns="91440" tIns="45720" rIns="91440" bIns="45720" rtlCol="0" anchor="t">
            <a:spAutoFit/>
          </a:bodyPr>
          <a:lstStyle/>
          <a:p>
            <a:r>
              <a:rPr lang="fr-FR" sz="1100" b="1" dirty="0">
                <a:solidFill>
                  <a:schemeClr val="bg2">
                    <a:lumMod val="25000"/>
                  </a:schemeClr>
                </a:solidFill>
                <a:ea typeface="Calibri"/>
                <a:cs typeface="Calibri"/>
              </a:rPr>
              <a:t>Il n’y a pas de collision frontale</a:t>
            </a: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Un </a:t>
            </a:r>
            <a:r>
              <a:rPr lang="fr-FR" sz="1100" b="1" dirty="0">
                <a:solidFill>
                  <a:schemeClr val="bg2">
                    <a:lumMod val="25000"/>
                  </a:schemeClr>
                </a:solidFill>
                <a:ea typeface="Calibri"/>
                <a:cs typeface="Calibri"/>
              </a:rPr>
              <a:t>filament</a:t>
            </a:r>
            <a:r>
              <a:rPr lang="fr-FR" sz="1100" dirty="0">
                <a:solidFill>
                  <a:schemeClr val="bg2">
                    <a:lumMod val="25000"/>
                  </a:schemeClr>
                </a:solidFill>
                <a:ea typeface="Calibri"/>
                <a:cs typeface="Calibri"/>
              </a:rPr>
              <a:t> </a:t>
            </a:r>
            <a:r>
              <a:rPr lang="fr-FR" sz="1100" b="1" dirty="0">
                <a:solidFill>
                  <a:schemeClr val="bg2">
                    <a:lumMod val="25000"/>
                  </a:schemeClr>
                </a:solidFill>
                <a:ea typeface="Calibri"/>
                <a:cs typeface="Calibri"/>
              </a:rPr>
              <a:t>dense</a:t>
            </a:r>
            <a:r>
              <a:rPr lang="fr-FR" sz="1100" dirty="0">
                <a:solidFill>
                  <a:schemeClr val="bg2">
                    <a:lumMod val="25000"/>
                  </a:schemeClr>
                </a:solidFill>
                <a:ea typeface="Calibri"/>
                <a:cs typeface="Calibri"/>
              </a:rPr>
              <a:t> en </a:t>
            </a:r>
            <a:r>
              <a:rPr lang="fr-FR" sz="1100" b="1" dirty="0">
                <a:solidFill>
                  <a:schemeClr val="bg2">
                    <a:lumMod val="25000"/>
                  </a:schemeClr>
                </a:solidFill>
                <a:ea typeface="Calibri"/>
                <a:cs typeface="Calibri"/>
              </a:rPr>
              <a:t>mouvement</a:t>
            </a:r>
            <a:r>
              <a:rPr lang="fr-FR" sz="1100" dirty="0">
                <a:solidFill>
                  <a:schemeClr val="bg2">
                    <a:lumMod val="25000"/>
                  </a:schemeClr>
                </a:solidFill>
                <a:ea typeface="Calibri"/>
                <a:cs typeface="Calibri"/>
              </a:rPr>
              <a:t> traverse le </a:t>
            </a:r>
            <a:r>
              <a:rPr lang="fr-FR" sz="1100" b="1" dirty="0">
                <a:solidFill>
                  <a:schemeClr val="bg2">
                    <a:lumMod val="25000"/>
                  </a:schemeClr>
                </a:solidFill>
                <a:ea typeface="Calibri"/>
                <a:cs typeface="Calibri"/>
              </a:rPr>
              <a:t>halo de matière peu dense</a:t>
            </a:r>
            <a:r>
              <a:rPr lang="fr-FR" sz="1100" dirty="0">
                <a:solidFill>
                  <a:schemeClr val="bg2">
                    <a:lumMod val="25000"/>
                  </a:schemeClr>
                </a:solidFill>
                <a:ea typeface="Calibri"/>
                <a:cs typeface="Calibri"/>
              </a:rPr>
              <a:t> d’un cœur de nuage moléculaire</a:t>
            </a:r>
            <a:endParaRPr lang="fr-FR" sz="1100" b="1" dirty="0">
              <a:solidFill>
                <a:schemeClr val="bg2">
                  <a:lumMod val="25000"/>
                </a:schemeClr>
              </a:solidFill>
              <a:ea typeface="Calibri"/>
              <a:cs typeface="Calibri"/>
            </a:endParaRPr>
          </a:p>
        </p:txBody>
      </p:sp>
      <p:pic>
        <p:nvPicPr>
          <p:cNvPr id="17" name="Graphic 16" descr="Arrow Right with solid fill">
            <a:extLst>
              <a:ext uri="{FF2B5EF4-FFF2-40B4-BE49-F238E27FC236}">
                <a16:creationId xmlns:a16="http://schemas.microsoft.com/office/drawing/2014/main" id="{773E096A-45B3-4D59-BE16-A5DE53A9BB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864" y="1842753"/>
            <a:ext cx="244511" cy="328246"/>
          </a:xfrm>
          <a:prstGeom prst="rect">
            <a:avLst/>
          </a:prstGeom>
        </p:spPr>
      </p:pic>
      <p:pic>
        <p:nvPicPr>
          <p:cNvPr id="18" name="Graphic 17" descr="Arrow Right with solid fill">
            <a:extLst>
              <a:ext uri="{FF2B5EF4-FFF2-40B4-BE49-F238E27FC236}">
                <a16:creationId xmlns:a16="http://schemas.microsoft.com/office/drawing/2014/main" id="{08706120-E19B-B8F3-D026-5AE98F8BE3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37" y="2191764"/>
            <a:ext cx="244511" cy="328246"/>
          </a:xfrm>
          <a:prstGeom prst="rect">
            <a:avLst/>
          </a:prstGeom>
        </p:spPr>
      </p:pic>
      <p:pic>
        <p:nvPicPr>
          <p:cNvPr id="28" name="Graphic 27" descr="Bullseye with solid fill">
            <a:extLst>
              <a:ext uri="{FF2B5EF4-FFF2-40B4-BE49-F238E27FC236}">
                <a16:creationId xmlns:a16="http://schemas.microsoft.com/office/drawing/2014/main" id="{B6CCA520-CDC0-5B45-30BF-947D183155E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737" y="1540430"/>
            <a:ext cx="338554" cy="338554"/>
          </a:xfrm>
          <a:prstGeom prst="rect">
            <a:avLst/>
          </a:prstGeom>
        </p:spPr>
      </p:pic>
      <p:sp>
        <p:nvSpPr>
          <p:cNvPr id="30" name="Rectangle : coins arrondis 8">
            <a:extLst>
              <a:ext uri="{FF2B5EF4-FFF2-40B4-BE49-F238E27FC236}">
                <a16:creationId xmlns:a16="http://schemas.microsoft.com/office/drawing/2014/main" id="{0890DCD0-CEDF-9325-F8C4-EEAC37C81DAB}"/>
              </a:ext>
            </a:extLst>
          </p:cNvPr>
          <p:cNvSpPr/>
          <p:nvPr/>
        </p:nvSpPr>
        <p:spPr>
          <a:xfrm>
            <a:off x="84764" y="3022510"/>
            <a:ext cx="1670197" cy="951562"/>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fr-FR" sz="1200" noProof="0" dirty="0">
              <a:ea typeface="Calibri"/>
              <a:cs typeface="Calibri"/>
            </a:endParaRPr>
          </a:p>
        </p:txBody>
      </p:sp>
      <p:sp>
        <p:nvSpPr>
          <p:cNvPr id="32" name="ZoneTexte 13">
            <a:extLst>
              <a:ext uri="{FF2B5EF4-FFF2-40B4-BE49-F238E27FC236}">
                <a16:creationId xmlns:a16="http://schemas.microsoft.com/office/drawing/2014/main" id="{EB135659-5590-1B5C-754D-D7F0B2B11F21}"/>
              </a:ext>
            </a:extLst>
          </p:cNvPr>
          <p:cNvSpPr txBox="1"/>
          <p:nvPr/>
        </p:nvSpPr>
        <p:spPr>
          <a:xfrm>
            <a:off x="266490" y="3030009"/>
            <a:ext cx="1329693" cy="338554"/>
          </a:xfrm>
          <a:prstGeom prst="rect">
            <a:avLst/>
          </a:prstGeom>
          <a:noFill/>
        </p:spPr>
        <p:txBody>
          <a:bodyPr wrap="square" lIns="91440" tIns="45720" rIns="91440" bIns="45720" rtlCol="0" anchor="t">
            <a:spAutoFit/>
          </a:bodyPr>
          <a:lstStyle/>
          <a:p>
            <a:pPr algn="ctr"/>
            <a:r>
              <a:rPr lang="fr-FR" sz="1600" b="1" noProof="0" dirty="0">
                <a:solidFill>
                  <a:srgbClr val="D9D9D9"/>
                </a:solidFill>
              </a:rPr>
              <a:t>Densités</a:t>
            </a:r>
            <a:endParaRPr lang="fr-FR" noProof="0" dirty="0">
              <a:solidFill>
                <a:srgbClr val="D9D9D9"/>
              </a:solidFill>
            </a:endParaRPr>
          </a:p>
        </p:txBody>
      </p:sp>
      <mc:AlternateContent xmlns:mc="http://schemas.openxmlformats.org/markup-compatibility/2006">
        <mc:Choice xmlns:a14="http://schemas.microsoft.com/office/drawing/2010/main" Requires="a14">
          <p:sp>
            <p:nvSpPr>
              <p:cNvPr id="33" name="ZoneTexte 13">
                <a:extLst>
                  <a:ext uri="{FF2B5EF4-FFF2-40B4-BE49-F238E27FC236}">
                    <a16:creationId xmlns:a16="http://schemas.microsoft.com/office/drawing/2014/main" id="{3FB0A386-B982-C90C-B48D-8DD43CA69456}"/>
                  </a:ext>
                </a:extLst>
              </p:cNvPr>
              <p:cNvSpPr txBox="1"/>
              <p:nvPr/>
            </p:nvSpPr>
            <p:spPr>
              <a:xfrm>
                <a:off x="-244842" y="3315266"/>
                <a:ext cx="2329407" cy="283924"/>
              </a:xfrm>
              <a:prstGeom prst="rect">
                <a:avLst/>
              </a:prstGeom>
              <a:noFill/>
            </p:spPr>
            <p:txBody>
              <a:bodyPr wrap="square" lIns="91440" tIns="45720" rIns="91440" bIns="45720" rtlCol="0" anchor="t">
                <a:spAutoFit/>
              </a:bodyPr>
              <a:lstStyle/>
              <a:p>
                <a:pPr algn="ctr"/>
                <a:r>
                  <a:rPr lang="fr-FR" sz="1200" b="1" dirty="0">
                    <a:solidFill>
                      <a:srgbClr val="D9D9D9"/>
                    </a:solidFill>
                  </a:rPr>
                  <a:t>Cœur dense</a:t>
                </a:r>
                <a:r>
                  <a:rPr lang="fr-FR" sz="1200" dirty="0">
                    <a:solidFill>
                      <a:srgbClr val="D9D9D9"/>
                    </a:solidFill>
                  </a:rPr>
                  <a:t>: </a:t>
                </a:r>
                <a14:m>
                  <m:oMath xmlns:m="http://schemas.openxmlformats.org/officeDocument/2006/math">
                    <m:sSup>
                      <m:sSupPr>
                        <m:ctrlPr>
                          <a:rPr lang="fr-FR" sz="1200" i="1" smtClean="0">
                            <a:solidFill>
                              <a:srgbClr val="D9D9D9"/>
                            </a:solidFill>
                            <a:latin typeface="Cambria Math" panose="02040503050406030204" pitchFamily="18" charset="0"/>
                          </a:rPr>
                        </m:ctrlPr>
                      </m:sSupPr>
                      <m:e>
                        <m:r>
                          <a:rPr lang="fr-FR" sz="1200" b="0" i="1" smtClean="0">
                            <a:solidFill>
                              <a:srgbClr val="D9D9D9"/>
                            </a:solidFill>
                            <a:latin typeface="Cambria Math" panose="02040503050406030204" pitchFamily="18" charset="0"/>
                          </a:rPr>
                          <m:t>10</m:t>
                        </m:r>
                      </m:e>
                      <m:sup>
                        <m:r>
                          <a:rPr lang="fr-FR" sz="1200" b="0" i="1" smtClean="0">
                            <a:solidFill>
                              <a:srgbClr val="D9D9D9"/>
                            </a:solidFill>
                            <a:latin typeface="Cambria Math" panose="02040503050406030204" pitchFamily="18" charset="0"/>
                          </a:rPr>
                          <m:t>5</m:t>
                        </m:r>
                      </m:sup>
                    </m:sSup>
                    <m:r>
                      <a:rPr lang="fr-FR" sz="1200" b="0" i="1" smtClean="0">
                        <a:solidFill>
                          <a:srgbClr val="D9D9D9"/>
                        </a:solidFill>
                        <a:latin typeface="Cambria Math" panose="02040503050406030204" pitchFamily="18" charset="0"/>
                      </a:rPr>
                      <m:t> </m:t>
                    </m:r>
                    <m:sSup>
                      <m:sSupPr>
                        <m:ctrlPr>
                          <a:rPr lang="fr-FR" sz="1200" i="1" smtClean="0">
                            <a:solidFill>
                              <a:srgbClr val="D9D9D9"/>
                            </a:solidFill>
                            <a:latin typeface="Cambria Math" panose="02040503050406030204" pitchFamily="18" charset="0"/>
                          </a:rPr>
                        </m:ctrlPr>
                      </m:sSupPr>
                      <m:e>
                        <m:r>
                          <a:rPr lang="fr-FR" sz="1200" b="0" i="1" smtClean="0">
                            <a:solidFill>
                              <a:srgbClr val="D9D9D9"/>
                            </a:solidFill>
                            <a:latin typeface="Cambria Math" panose="02040503050406030204" pitchFamily="18" charset="0"/>
                          </a:rPr>
                          <m:t>𝑐𝑚</m:t>
                        </m:r>
                      </m:e>
                      <m:sup>
                        <m:r>
                          <a:rPr lang="fr-FR" sz="1200" b="0" i="1" smtClean="0">
                            <a:solidFill>
                              <a:srgbClr val="D9D9D9"/>
                            </a:solidFill>
                            <a:latin typeface="Cambria Math" panose="02040503050406030204" pitchFamily="18" charset="0"/>
                          </a:rPr>
                          <m:t>−3</m:t>
                        </m:r>
                      </m:sup>
                    </m:sSup>
                  </m:oMath>
                </a14:m>
                <a:endParaRPr lang="fr-FR" sz="1400" noProof="0" dirty="0">
                  <a:solidFill>
                    <a:srgbClr val="D9D9D9"/>
                  </a:solidFill>
                </a:endParaRPr>
              </a:p>
            </p:txBody>
          </p:sp>
        </mc:Choice>
        <mc:Fallback>
          <p:sp>
            <p:nvSpPr>
              <p:cNvPr id="33" name="ZoneTexte 13">
                <a:extLst>
                  <a:ext uri="{FF2B5EF4-FFF2-40B4-BE49-F238E27FC236}">
                    <a16:creationId xmlns:a16="http://schemas.microsoft.com/office/drawing/2014/main" id="{3FB0A386-B982-C90C-B48D-8DD43CA69456}"/>
                  </a:ext>
                </a:extLst>
              </p:cNvPr>
              <p:cNvSpPr txBox="1">
                <a:spLocks noRot="1" noChangeAspect="1" noMove="1" noResize="1" noEditPoints="1" noAdjustHandles="1" noChangeArrowheads="1" noChangeShapeType="1" noTextEdit="1"/>
              </p:cNvSpPr>
              <p:nvPr/>
            </p:nvSpPr>
            <p:spPr>
              <a:xfrm>
                <a:off x="-244842" y="3315266"/>
                <a:ext cx="2329407" cy="283924"/>
              </a:xfrm>
              <a:prstGeom prst="rect">
                <a:avLst/>
              </a:prstGeom>
              <a:blipFill>
                <a:blip r:embed="rId7"/>
                <a:stretch>
                  <a:fillRect b="-17391"/>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34" name="ZoneTexte 13">
                <a:extLst>
                  <a:ext uri="{FF2B5EF4-FFF2-40B4-BE49-F238E27FC236}">
                    <a16:creationId xmlns:a16="http://schemas.microsoft.com/office/drawing/2014/main" id="{EA8319AC-A889-6767-30BA-720102DF4AE6}"/>
                  </a:ext>
                </a:extLst>
              </p:cNvPr>
              <p:cNvSpPr txBox="1"/>
              <p:nvPr/>
            </p:nvSpPr>
            <p:spPr>
              <a:xfrm>
                <a:off x="-233368" y="3564804"/>
                <a:ext cx="2329407" cy="283924"/>
              </a:xfrm>
              <a:prstGeom prst="rect">
                <a:avLst/>
              </a:prstGeom>
              <a:noFill/>
            </p:spPr>
            <p:txBody>
              <a:bodyPr wrap="square" lIns="91440" tIns="45720" rIns="91440" bIns="45720" rtlCol="0" anchor="t">
                <a:spAutoFit/>
              </a:bodyPr>
              <a:lstStyle/>
              <a:p>
                <a:pPr algn="ctr"/>
                <a:r>
                  <a:rPr lang="fr-FR" sz="1200" b="1" dirty="0">
                    <a:solidFill>
                      <a:srgbClr val="D9D9D9"/>
                    </a:solidFill>
                  </a:rPr>
                  <a:t>Halo</a:t>
                </a:r>
                <a:r>
                  <a:rPr lang="fr-FR" sz="1200" dirty="0">
                    <a:solidFill>
                      <a:srgbClr val="D9D9D9"/>
                    </a:solidFill>
                  </a:rPr>
                  <a:t>: 50-200 </a:t>
                </a:r>
                <a14:m>
                  <m:oMath xmlns:m="http://schemas.openxmlformats.org/officeDocument/2006/math">
                    <m:sSup>
                      <m:sSupPr>
                        <m:ctrlPr>
                          <a:rPr lang="fr-FR" sz="1200" i="1" smtClean="0">
                            <a:solidFill>
                              <a:srgbClr val="D9D9D9"/>
                            </a:solidFill>
                            <a:latin typeface="Cambria Math" panose="02040503050406030204" pitchFamily="18" charset="0"/>
                          </a:rPr>
                        </m:ctrlPr>
                      </m:sSupPr>
                      <m:e>
                        <m:r>
                          <a:rPr lang="fr-FR" sz="1200" b="0" i="1" smtClean="0">
                            <a:solidFill>
                              <a:srgbClr val="D9D9D9"/>
                            </a:solidFill>
                            <a:latin typeface="Cambria Math" panose="02040503050406030204" pitchFamily="18" charset="0"/>
                          </a:rPr>
                          <m:t>𝑐𝑚</m:t>
                        </m:r>
                      </m:e>
                      <m:sup>
                        <m:r>
                          <a:rPr lang="fr-FR" sz="1200" b="0" i="1" smtClean="0">
                            <a:solidFill>
                              <a:srgbClr val="D9D9D9"/>
                            </a:solidFill>
                            <a:latin typeface="Cambria Math" panose="02040503050406030204" pitchFamily="18" charset="0"/>
                          </a:rPr>
                          <m:t>−3</m:t>
                        </m:r>
                      </m:sup>
                    </m:sSup>
                  </m:oMath>
                </a14:m>
                <a:endParaRPr lang="fr-FR" sz="1400" noProof="0" dirty="0">
                  <a:solidFill>
                    <a:srgbClr val="D9D9D9"/>
                  </a:solidFill>
                </a:endParaRPr>
              </a:p>
            </p:txBody>
          </p:sp>
        </mc:Choice>
        <mc:Fallback>
          <p:sp>
            <p:nvSpPr>
              <p:cNvPr id="34" name="ZoneTexte 13">
                <a:extLst>
                  <a:ext uri="{FF2B5EF4-FFF2-40B4-BE49-F238E27FC236}">
                    <a16:creationId xmlns:a16="http://schemas.microsoft.com/office/drawing/2014/main" id="{EA8319AC-A889-6767-30BA-720102DF4AE6}"/>
                  </a:ext>
                </a:extLst>
              </p:cNvPr>
              <p:cNvSpPr txBox="1">
                <a:spLocks noRot="1" noChangeAspect="1" noMove="1" noResize="1" noEditPoints="1" noAdjustHandles="1" noChangeArrowheads="1" noChangeShapeType="1" noTextEdit="1"/>
              </p:cNvSpPr>
              <p:nvPr/>
            </p:nvSpPr>
            <p:spPr>
              <a:xfrm>
                <a:off x="-233368" y="3564804"/>
                <a:ext cx="2329407" cy="283924"/>
              </a:xfrm>
              <a:prstGeom prst="rect">
                <a:avLst/>
              </a:prstGeom>
              <a:blipFill>
                <a:blip r:embed="rId8"/>
                <a:stretch>
                  <a:fillRect b="-17391"/>
                </a:stretch>
              </a:blipFill>
            </p:spPr>
            <p:txBody>
              <a:bodyPr/>
              <a:lstStyle/>
              <a:p>
                <a:r>
                  <a:rPr lang="fr-FR">
                    <a:noFill/>
                  </a:rPr>
                  <a:t> </a:t>
                </a:r>
              </a:p>
            </p:txBody>
          </p:sp>
        </mc:Fallback>
      </mc:AlternateContent>
      <p:sp>
        <p:nvSpPr>
          <p:cNvPr id="36" name="Rectangle : coins arrondis 8">
            <a:extLst>
              <a:ext uri="{FF2B5EF4-FFF2-40B4-BE49-F238E27FC236}">
                <a16:creationId xmlns:a16="http://schemas.microsoft.com/office/drawing/2014/main" id="{5E5AB97A-73F0-606E-665A-5A7FD47F93B8}"/>
              </a:ext>
            </a:extLst>
          </p:cNvPr>
          <p:cNvSpPr/>
          <p:nvPr/>
        </p:nvSpPr>
        <p:spPr>
          <a:xfrm>
            <a:off x="1895316" y="2737657"/>
            <a:ext cx="5019205" cy="1548419"/>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39" name="ZoneTexte 13">
            <a:extLst>
              <a:ext uri="{FF2B5EF4-FFF2-40B4-BE49-F238E27FC236}">
                <a16:creationId xmlns:a16="http://schemas.microsoft.com/office/drawing/2014/main" id="{A63B4CAC-2525-8E8A-C002-C513E20927A9}"/>
              </a:ext>
            </a:extLst>
          </p:cNvPr>
          <p:cNvSpPr txBox="1"/>
          <p:nvPr/>
        </p:nvSpPr>
        <p:spPr>
          <a:xfrm>
            <a:off x="2372800" y="2786508"/>
            <a:ext cx="3979195" cy="369332"/>
          </a:xfrm>
          <a:prstGeom prst="rect">
            <a:avLst/>
          </a:prstGeom>
          <a:noFill/>
        </p:spPr>
        <p:txBody>
          <a:bodyPr wrap="square" lIns="91440" tIns="45720" rIns="91440" bIns="45720" rtlCol="0" anchor="t">
            <a:spAutoFit/>
          </a:bodyPr>
          <a:lstStyle/>
          <a:p>
            <a:r>
              <a:rPr lang="fr-FR" b="1" noProof="0" dirty="0">
                <a:solidFill>
                  <a:schemeClr val="bg2">
                    <a:lumMod val="25000"/>
                  </a:schemeClr>
                </a:solidFill>
              </a:rPr>
              <a:t>Le champ magnétique</a:t>
            </a:r>
          </a:p>
        </p:txBody>
      </p:sp>
      <p:pic>
        <p:nvPicPr>
          <p:cNvPr id="44" name="Graphic 43" descr="Magnet with solid fill">
            <a:extLst>
              <a:ext uri="{FF2B5EF4-FFF2-40B4-BE49-F238E27FC236}">
                <a16:creationId xmlns:a16="http://schemas.microsoft.com/office/drawing/2014/main" id="{3B2737CD-924C-956F-A546-26E614DD8AD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24075" y="2817646"/>
            <a:ext cx="333997" cy="333997"/>
          </a:xfrm>
          <a:prstGeom prst="rect">
            <a:avLst/>
          </a:prstGeom>
        </p:spPr>
      </p:pic>
      <p:sp>
        <p:nvSpPr>
          <p:cNvPr id="50" name="L-Shape 49">
            <a:extLst>
              <a:ext uri="{FF2B5EF4-FFF2-40B4-BE49-F238E27FC236}">
                <a16:creationId xmlns:a16="http://schemas.microsoft.com/office/drawing/2014/main" id="{8A780BF5-CB0D-8D7C-FC08-6F253BBF0AFA}"/>
              </a:ext>
            </a:extLst>
          </p:cNvPr>
          <p:cNvSpPr/>
          <p:nvPr/>
        </p:nvSpPr>
        <p:spPr>
          <a:xfrm rot="13691150">
            <a:off x="2135114" y="3253597"/>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L-Shape 50">
            <a:extLst>
              <a:ext uri="{FF2B5EF4-FFF2-40B4-BE49-F238E27FC236}">
                <a16:creationId xmlns:a16="http://schemas.microsoft.com/office/drawing/2014/main" id="{CA2673DE-A06E-C4EC-6979-E4ACF6C7DF6D}"/>
              </a:ext>
            </a:extLst>
          </p:cNvPr>
          <p:cNvSpPr/>
          <p:nvPr/>
        </p:nvSpPr>
        <p:spPr>
          <a:xfrm rot="13691150">
            <a:off x="2135670" y="3579000"/>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2" name="ZoneTexte 14">
            <a:extLst>
              <a:ext uri="{FF2B5EF4-FFF2-40B4-BE49-F238E27FC236}">
                <a16:creationId xmlns:a16="http://schemas.microsoft.com/office/drawing/2014/main" id="{EC22F50B-78D9-5CFE-9027-41302C17CFFC}"/>
              </a:ext>
            </a:extLst>
          </p:cNvPr>
          <p:cNvSpPr txBox="1"/>
          <p:nvPr/>
        </p:nvSpPr>
        <p:spPr>
          <a:xfrm>
            <a:off x="2384274" y="3121831"/>
            <a:ext cx="4297327" cy="938719"/>
          </a:xfrm>
          <a:prstGeom prst="rect">
            <a:avLst/>
          </a:prstGeom>
          <a:noFill/>
        </p:spPr>
        <p:txBody>
          <a:bodyPr wrap="square" lIns="91440" tIns="45720" rIns="91440" bIns="45720" rtlCol="0" anchor="t">
            <a:spAutoFit/>
          </a:bodyPr>
          <a:lstStyle/>
          <a:p>
            <a:r>
              <a:rPr lang="fr-FR" sz="1100" b="1" dirty="0">
                <a:solidFill>
                  <a:schemeClr val="bg2">
                    <a:lumMod val="25000"/>
                  </a:schemeClr>
                </a:solidFill>
                <a:ea typeface="Calibri"/>
                <a:cs typeface="Calibri"/>
              </a:rPr>
              <a:t>Orthogonal </a:t>
            </a:r>
            <a:r>
              <a:rPr lang="fr-FR" sz="1100" dirty="0">
                <a:solidFill>
                  <a:schemeClr val="bg2">
                    <a:lumMod val="25000"/>
                  </a:schemeClr>
                </a:solidFill>
                <a:ea typeface="Calibri"/>
                <a:cs typeface="Calibri"/>
              </a:rPr>
              <a:t>au filament</a:t>
            </a: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S’étend sur </a:t>
            </a:r>
            <a:r>
              <a:rPr lang="fr-FR" sz="1100" b="1" dirty="0">
                <a:solidFill>
                  <a:schemeClr val="bg2">
                    <a:lumMod val="25000"/>
                  </a:schemeClr>
                </a:solidFill>
                <a:ea typeface="Calibri"/>
                <a:cs typeface="Calibri"/>
              </a:rPr>
              <a:t>10 pc</a:t>
            </a:r>
          </a:p>
          <a:p>
            <a:endParaRPr lang="fr-FR" sz="1100" b="1"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Agit comme un </a:t>
            </a:r>
            <a:r>
              <a:rPr lang="fr-FR" sz="1100" b="1" dirty="0">
                <a:solidFill>
                  <a:schemeClr val="bg2">
                    <a:lumMod val="25000"/>
                  </a:schemeClr>
                </a:solidFill>
                <a:ea typeface="Calibri"/>
                <a:cs typeface="Calibri"/>
              </a:rPr>
              <a:t>râteau qui accrète la matière vers le cœur du filament</a:t>
            </a:r>
          </a:p>
        </p:txBody>
      </p:sp>
      <p:sp>
        <p:nvSpPr>
          <p:cNvPr id="53" name="L-Shape 52">
            <a:extLst>
              <a:ext uri="{FF2B5EF4-FFF2-40B4-BE49-F238E27FC236}">
                <a16:creationId xmlns:a16="http://schemas.microsoft.com/office/drawing/2014/main" id="{5039D704-154F-5BED-AB0D-71FC049C0566}"/>
              </a:ext>
            </a:extLst>
          </p:cNvPr>
          <p:cNvSpPr/>
          <p:nvPr/>
        </p:nvSpPr>
        <p:spPr>
          <a:xfrm rot="13691150">
            <a:off x="2124170" y="3903928"/>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4" name="Rectangle : coins arrondis 8">
            <a:extLst>
              <a:ext uri="{FF2B5EF4-FFF2-40B4-BE49-F238E27FC236}">
                <a16:creationId xmlns:a16="http://schemas.microsoft.com/office/drawing/2014/main" id="{F4DB61D2-4F87-FB4B-55D9-D61B24205D56}"/>
              </a:ext>
            </a:extLst>
          </p:cNvPr>
          <p:cNvSpPr/>
          <p:nvPr/>
        </p:nvSpPr>
        <p:spPr>
          <a:xfrm>
            <a:off x="195948" y="4431164"/>
            <a:ext cx="6718573" cy="1322654"/>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55" name="ZoneTexte 13">
            <a:extLst>
              <a:ext uri="{FF2B5EF4-FFF2-40B4-BE49-F238E27FC236}">
                <a16:creationId xmlns:a16="http://schemas.microsoft.com/office/drawing/2014/main" id="{A8253BF1-333D-1C20-3B8F-3D270A5077F3}"/>
              </a:ext>
            </a:extLst>
          </p:cNvPr>
          <p:cNvSpPr txBox="1"/>
          <p:nvPr/>
        </p:nvSpPr>
        <p:spPr>
          <a:xfrm>
            <a:off x="673432" y="4480014"/>
            <a:ext cx="6008169" cy="369332"/>
          </a:xfrm>
          <a:prstGeom prst="rect">
            <a:avLst/>
          </a:prstGeom>
          <a:noFill/>
        </p:spPr>
        <p:txBody>
          <a:bodyPr wrap="square" lIns="91440" tIns="45720" rIns="91440" bIns="45720" rtlCol="0" anchor="t">
            <a:spAutoFit/>
          </a:bodyPr>
          <a:lstStyle/>
          <a:p>
            <a:r>
              <a:rPr lang="fr-FR" b="1" noProof="0" dirty="0">
                <a:solidFill>
                  <a:schemeClr val="bg2">
                    <a:lumMod val="25000"/>
                  </a:schemeClr>
                </a:solidFill>
              </a:rPr>
              <a:t>Estimation de la distance que doit parcourir le filament</a:t>
            </a:r>
          </a:p>
        </p:txBody>
      </p:sp>
      <p:pic>
        <p:nvPicPr>
          <p:cNvPr id="61" name="Graphic 60" descr="Ruler with solid fill">
            <a:extLst>
              <a:ext uri="{FF2B5EF4-FFF2-40B4-BE49-F238E27FC236}">
                <a16:creationId xmlns:a16="http://schemas.microsoft.com/office/drawing/2014/main" id="{6DF2B741-6EA9-2E52-285F-48FC49B8DA8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929" y="4556978"/>
            <a:ext cx="276461" cy="277637"/>
          </a:xfrm>
          <a:prstGeom prst="rect">
            <a:avLst/>
          </a:prstGeom>
        </p:spPr>
      </p:pic>
      <p:pic>
        <p:nvPicPr>
          <p:cNvPr id="63" name="Picture 62">
            <a:extLst>
              <a:ext uri="{FF2B5EF4-FFF2-40B4-BE49-F238E27FC236}">
                <a16:creationId xmlns:a16="http://schemas.microsoft.com/office/drawing/2014/main" id="{CF06813F-BE1C-30C9-154D-A4F24E37366D}"/>
              </a:ext>
            </a:extLst>
          </p:cNvPr>
          <p:cNvPicPr>
            <a:picLocks noChangeAspect="1"/>
          </p:cNvPicPr>
          <p:nvPr/>
        </p:nvPicPr>
        <p:blipFill>
          <a:blip r:embed="rId11"/>
          <a:stretch>
            <a:fillRect/>
          </a:stretch>
        </p:blipFill>
        <p:spPr>
          <a:xfrm>
            <a:off x="2207719" y="4834615"/>
            <a:ext cx="2228965" cy="368319"/>
          </a:xfrm>
          <a:prstGeom prst="rect">
            <a:avLst/>
          </a:prstGeom>
        </p:spPr>
      </p:pic>
      <p:pic>
        <p:nvPicPr>
          <p:cNvPr id="65" name="Picture 64">
            <a:extLst>
              <a:ext uri="{FF2B5EF4-FFF2-40B4-BE49-F238E27FC236}">
                <a16:creationId xmlns:a16="http://schemas.microsoft.com/office/drawing/2014/main" id="{7FBA7D7B-E6C0-0C79-47A8-DCC1D048C8BC}"/>
              </a:ext>
            </a:extLst>
          </p:cNvPr>
          <p:cNvPicPr>
            <a:picLocks noChangeAspect="1"/>
          </p:cNvPicPr>
          <p:nvPr/>
        </p:nvPicPr>
        <p:blipFill>
          <a:blip r:embed="rId12"/>
          <a:stretch>
            <a:fillRect/>
          </a:stretch>
        </p:blipFill>
        <p:spPr>
          <a:xfrm>
            <a:off x="1960056" y="5231136"/>
            <a:ext cx="2724290" cy="311166"/>
          </a:xfrm>
          <a:prstGeom prst="rect">
            <a:avLst/>
          </a:prstGeom>
        </p:spPr>
      </p:pic>
      <p:sp>
        <p:nvSpPr>
          <p:cNvPr id="66" name="Rectangle : coins arrondis 8">
            <a:extLst>
              <a:ext uri="{FF2B5EF4-FFF2-40B4-BE49-F238E27FC236}">
                <a16:creationId xmlns:a16="http://schemas.microsoft.com/office/drawing/2014/main" id="{0502D7A7-38F6-B39B-A22B-F283AE450E47}"/>
              </a:ext>
            </a:extLst>
          </p:cNvPr>
          <p:cNvSpPr/>
          <p:nvPr/>
        </p:nvSpPr>
        <p:spPr>
          <a:xfrm>
            <a:off x="199242" y="5875189"/>
            <a:ext cx="8254646" cy="523695"/>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mc:AlternateContent xmlns:mc="http://schemas.openxmlformats.org/markup-compatibility/2006">
        <mc:Choice xmlns:a14="http://schemas.microsoft.com/office/drawing/2010/main" Requires="a14">
          <p:sp>
            <p:nvSpPr>
              <p:cNvPr id="67" name="ZoneTexte 13">
                <a:extLst>
                  <a:ext uri="{FF2B5EF4-FFF2-40B4-BE49-F238E27FC236}">
                    <a16:creationId xmlns:a16="http://schemas.microsoft.com/office/drawing/2014/main" id="{F93B7DF7-2F3B-E32F-5512-3754B64F76DF}"/>
                  </a:ext>
                </a:extLst>
              </p:cNvPr>
              <p:cNvSpPr txBox="1"/>
              <p:nvPr/>
            </p:nvSpPr>
            <p:spPr>
              <a:xfrm>
                <a:off x="741660" y="5974409"/>
                <a:ext cx="7530797" cy="281167"/>
              </a:xfrm>
              <a:prstGeom prst="rect">
                <a:avLst/>
              </a:prstGeom>
              <a:noFill/>
            </p:spPr>
            <p:txBody>
              <a:bodyPr wrap="square" lIns="91440" tIns="45720" rIns="91440" bIns="45720" rtlCol="0" anchor="t">
                <a:spAutoFit/>
              </a:bodyPr>
              <a:lstStyle/>
              <a:p>
                <a:pPr algn="ctr"/>
                <a:r>
                  <a:rPr lang="fr-FR" sz="1200" b="1" dirty="0">
                    <a:solidFill>
                      <a:srgbClr val="D9D9D9"/>
                    </a:solidFill>
                  </a:rPr>
                  <a:t>Avec une vitesse de 15 </a:t>
                </a:r>
                <a14:m>
                  <m:oMath xmlns:m="http://schemas.openxmlformats.org/officeDocument/2006/math">
                    <m:r>
                      <a:rPr lang="fr-FR" sz="1200" b="1" i="1" smtClean="0">
                        <a:solidFill>
                          <a:srgbClr val="D9D9D9"/>
                        </a:solidFill>
                        <a:latin typeface="Cambria Math" panose="02040503050406030204" pitchFamily="18" charset="0"/>
                      </a:rPr>
                      <m:t>𝒑𝒄</m:t>
                    </m:r>
                    <m:r>
                      <a:rPr lang="fr-FR" sz="1200" b="1" i="1" smtClean="0">
                        <a:solidFill>
                          <a:srgbClr val="D9D9D9"/>
                        </a:solidFill>
                        <a:latin typeface="Cambria Math" panose="02040503050406030204" pitchFamily="18" charset="0"/>
                        <a:ea typeface="Cambria Math" panose="02040503050406030204" pitchFamily="18" charset="0"/>
                      </a:rPr>
                      <m:t>∙</m:t>
                    </m:r>
                    <m:sSup>
                      <m:sSupPr>
                        <m:ctrlPr>
                          <a:rPr lang="fr-FR" sz="1200" b="1" i="1" smtClean="0">
                            <a:solidFill>
                              <a:srgbClr val="D9D9D9"/>
                            </a:solidFill>
                            <a:latin typeface="Cambria Math" panose="02040503050406030204" pitchFamily="18" charset="0"/>
                            <a:ea typeface="Cambria Math" panose="02040503050406030204" pitchFamily="18" charset="0"/>
                          </a:rPr>
                        </m:ctrlPr>
                      </m:sSupPr>
                      <m:e>
                        <m:r>
                          <a:rPr lang="fr-FR" sz="1200" b="1" i="1" smtClean="0">
                            <a:solidFill>
                              <a:srgbClr val="D9D9D9"/>
                            </a:solidFill>
                            <a:latin typeface="Cambria Math" panose="02040503050406030204" pitchFamily="18" charset="0"/>
                            <a:ea typeface="Cambria Math" panose="02040503050406030204" pitchFamily="18" charset="0"/>
                          </a:rPr>
                          <m:t>𝑴𝒚𝒓</m:t>
                        </m:r>
                      </m:e>
                      <m:sup>
                        <m:r>
                          <a:rPr lang="fr-FR" sz="1200" b="1" i="1" smtClean="0">
                            <a:solidFill>
                              <a:srgbClr val="D9D9D9"/>
                            </a:solidFill>
                            <a:latin typeface="Cambria Math" panose="02040503050406030204" pitchFamily="18" charset="0"/>
                            <a:ea typeface="Cambria Math" panose="02040503050406030204" pitchFamily="18" charset="0"/>
                          </a:rPr>
                          <m:t>−</m:t>
                        </m:r>
                        <m:r>
                          <a:rPr lang="fr-FR" sz="1200" b="1" i="1" smtClean="0">
                            <a:solidFill>
                              <a:srgbClr val="D9D9D9"/>
                            </a:solidFill>
                            <a:latin typeface="Cambria Math" panose="02040503050406030204" pitchFamily="18" charset="0"/>
                            <a:ea typeface="Cambria Math" panose="02040503050406030204" pitchFamily="18" charset="0"/>
                          </a:rPr>
                          <m:t>𝟏</m:t>
                        </m:r>
                      </m:sup>
                    </m:sSup>
                  </m:oMath>
                </a14:m>
                <a:r>
                  <a:rPr lang="fr-FR" sz="1200" b="1" dirty="0">
                    <a:solidFill>
                      <a:srgbClr val="D9D9D9"/>
                    </a:solidFill>
                  </a:rPr>
                  <a:t> , le nuage prendrait approximativement 4 </a:t>
                </a:r>
                <a:r>
                  <a:rPr lang="fr-FR" sz="1200" b="1" dirty="0" err="1">
                    <a:solidFill>
                      <a:srgbClr val="D9D9D9"/>
                    </a:solidFill>
                  </a:rPr>
                  <a:t>Myr</a:t>
                </a:r>
                <a:r>
                  <a:rPr lang="fr-FR" sz="1200" b="1" dirty="0">
                    <a:solidFill>
                      <a:srgbClr val="D9D9D9"/>
                    </a:solidFill>
                  </a:rPr>
                  <a:t> pour doubler sa densité</a:t>
                </a:r>
              </a:p>
            </p:txBody>
          </p:sp>
        </mc:Choice>
        <mc:Fallback>
          <p:sp>
            <p:nvSpPr>
              <p:cNvPr id="67" name="ZoneTexte 13">
                <a:extLst>
                  <a:ext uri="{FF2B5EF4-FFF2-40B4-BE49-F238E27FC236}">
                    <a16:creationId xmlns:a16="http://schemas.microsoft.com/office/drawing/2014/main" id="{F93B7DF7-2F3B-E32F-5512-3754B64F76DF}"/>
                  </a:ext>
                </a:extLst>
              </p:cNvPr>
              <p:cNvSpPr txBox="1">
                <a:spLocks noRot="1" noChangeAspect="1" noMove="1" noResize="1" noEditPoints="1" noAdjustHandles="1" noChangeArrowheads="1" noChangeShapeType="1" noTextEdit="1"/>
              </p:cNvSpPr>
              <p:nvPr/>
            </p:nvSpPr>
            <p:spPr>
              <a:xfrm>
                <a:off x="741660" y="5974409"/>
                <a:ext cx="7530797" cy="281167"/>
              </a:xfrm>
              <a:prstGeom prst="rect">
                <a:avLst/>
              </a:prstGeom>
              <a:blipFill>
                <a:blip r:embed="rId13"/>
                <a:stretch>
                  <a:fillRect b="-17391"/>
                </a:stretch>
              </a:blipFill>
            </p:spPr>
            <p:txBody>
              <a:bodyPr/>
              <a:lstStyle/>
              <a:p>
                <a:r>
                  <a:rPr lang="fr-FR">
                    <a:noFill/>
                  </a:rPr>
                  <a:t> </a:t>
                </a:r>
              </a:p>
            </p:txBody>
          </p:sp>
        </mc:Fallback>
      </mc:AlternateContent>
      <p:pic>
        <p:nvPicPr>
          <p:cNvPr id="69" name="Graphic 68" descr="Warning with solid fill">
            <a:extLst>
              <a:ext uri="{FF2B5EF4-FFF2-40B4-BE49-F238E27FC236}">
                <a16:creationId xmlns:a16="http://schemas.microsoft.com/office/drawing/2014/main" id="{13FA9EAB-82D9-9CDC-9794-4313BA699E8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09169" y="5853144"/>
            <a:ext cx="523695" cy="523695"/>
          </a:xfrm>
          <a:prstGeom prst="rect">
            <a:avLst/>
          </a:prstGeom>
        </p:spPr>
      </p:pic>
      <p:sp>
        <p:nvSpPr>
          <p:cNvPr id="70" name="ZoneTexte 14">
            <a:extLst>
              <a:ext uri="{FF2B5EF4-FFF2-40B4-BE49-F238E27FC236}">
                <a16:creationId xmlns:a16="http://schemas.microsoft.com/office/drawing/2014/main" id="{4B94BB42-DC72-85BC-63BD-42BF9EFCC3EC}"/>
              </a:ext>
            </a:extLst>
          </p:cNvPr>
          <p:cNvSpPr txBox="1"/>
          <p:nvPr/>
        </p:nvSpPr>
        <p:spPr>
          <a:xfrm>
            <a:off x="9217943" y="5985242"/>
            <a:ext cx="2991265" cy="261610"/>
          </a:xfrm>
          <a:prstGeom prst="rect">
            <a:avLst/>
          </a:prstGeom>
          <a:noFill/>
        </p:spPr>
        <p:txBody>
          <a:bodyPr wrap="square" lIns="91440" tIns="45720" rIns="91440" bIns="45720" rtlCol="0" anchor="t">
            <a:spAutoFit/>
          </a:bodyPr>
          <a:lstStyle/>
          <a:p>
            <a:r>
              <a:rPr lang="fr-FR" sz="1100" b="1" dirty="0">
                <a:solidFill>
                  <a:schemeClr val="bg2">
                    <a:lumMod val="25000"/>
                  </a:schemeClr>
                </a:solidFill>
                <a:ea typeface="Calibri"/>
                <a:cs typeface="Calibri"/>
              </a:rPr>
              <a:t>Le nuage est aussi ralenti par ce processus</a:t>
            </a:r>
          </a:p>
        </p:txBody>
      </p:sp>
    </p:spTree>
    <p:extLst>
      <p:ext uri="{BB962C8B-B14F-4D97-AF65-F5344CB8AC3E}">
        <p14:creationId xmlns:p14="http://schemas.microsoft.com/office/powerpoint/2010/main" val="1698755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0C7DF-3237-B206-EA23-026BD2B7A36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18AE192-57B9-1EF3-085B-D0BF0E809E1C}"/>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A1459FAB-7364-BC90-6238-159A3E79B840}"/>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Proposition de scénario</a:t>
            </a:r>
          </a:p>
        </p:txBody>
      </p:sp>
      <p:sp>
        <p:nvSpPr>
          <p:cNvPr id="5" name="Espace réservé du numéro de diapositive 4">
            <a:extLst>
              <a:ext uri="{FF2B5EF4-FFF2-40B4-BE49-F238E27FC236}">
                <a16:creationId xmlns:a16="http://schemas.microsoft.com/office/drawing/2014/main" id="{301CAF77-DF47-0B52-9DE0-47753BF3D4C1}"/>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11</a:t>
            </a:fld>
            <a:endParaRPr lang="fr-FR" noProof="0" dirty="0"/>
          </a:p>
        </p:txBody>
      </p:sp>
      <p:pic>
        <p:nvPicPr>
          <p:cNvPr id="11" name="Picture 2">
            <a:extLst>
              <a:ext uri="{FF2B5EF4-FFF2-40B4-BE49-F238E27FC236}">
                <a16:creationId xmlns:a16="http://schemas.microsoft.com/office/drawing/2014/main" id="{C1CD29E0-E298-EBE1-15B5-A374DB387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FA10E976-4C29-5F33-B0D8-AFCACA391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a:extLst>
              <a:ext uri="{FF2B5EF4-FFF2-40B4-BE49-F238E27FC236}">
                <a16:creationId xmlns:a16="http://schemas.microsoft.com/office/drawing/2014/main" id="{971270A0-E915-C5B0-2672-F6DC8474F023}"/>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18/06/2026</a:t>
            </a:fld>
            <a:endParaRPr lang="fr-FR" noProof="0" dirty="0"/>
          </a:p>
        </p:txBody>
      </p:sp>
      <p:pic>
        <p:nvPicPr>
          <p:cNvPr id="3" name="Picture 2">
            <a:extLst>
              <a:ext uri="{FF2B5EF4-FFF2-40B4-BE49-F238E27FC236}">
                <a16:creationId xmlns:a16="http://schemas.microsoft.com/office/drawing/2014/main" id="{6F23E157-6F21-CBB5-6B32-62C562CC12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9535" y="1373886"/>
            <a:ext cx="4420040" cy="1767200"/>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897281D4-5ED8-1CA0-8F4C-DB06043B97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4115" y="3196482"/>
            <a:ext cx="4450879" cy="176720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02602341-883F-3FF6-E173-157AFF47C9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6511" y="5005323"/>
            <a:ext cx="4450879" cy="1767988"/>
          </a:xfrm>
          <a:prstGeom prst="rect">
            <a:avLst/>
          </a:prstGeom>
          <a:effectLst>
            <a:outerShdw blurRad="50800" dist="38100" dir="2700000" algn="tl" rotWithShape="0">
              <a:prstClr val="black">
                <a:alpha val="40000"/>
              </a:prstClr>
            </a:outerShdw>
          </a:effectLst>
        </p:spPr>
      </p:pic>
      <p:sp>
        <p:nvSpPr>
          <p:cNvPr id="10" name="Rectangle : coins arrondis 8">
            <a:extLst>
              <a:ext uri="{FF2B5EF4-FFF2-40B4-BE49-F238E27FC236}">
                <a16:creationId xmlns:a16="http://schemas.microsoft.com/office/drawing/2014/main" id="{86ED7BE5-5224-A6A8-6438-0CDBCDC63F80}"/>
              </a:ext>
            </a:extLst>
          </p:cNvPr>
          <p:cNvSpPr/>
          <p:nvPr/>
        </p:nvSpPr>
        <p:spPr>
          <a:xfrm>
            <a:off x="43392" y="1458460"/>
            <a:ext cx="7220049" cy="1534906"/>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16" name="ZoneTexte 13">
            <a:extLst>
              <a:ext uri="{FF2B5EF4-FFF2-40B4-BE49-F238E27FC236}">
                <a16:creationId xmlns:a16="http://schemas.microsoft.com/office/drawing/2014/main" id="{F61C1BA9-2E9B-0041-2DBD-F4CEE8F9D800}"/>
              </a:ext>
            </a:extLst>
          </p:cNvPr>
          <p:cNvSpPr txBox="1"/>
          <p:nvPr/>
        </p:nvSpPr>
        <p:spPr>
          <a:xfrm>
            <a:off x="466165" y="1531699"/>
            <a:ext cx="3441601" cy="338554"/>
          </a:xfrm>
          <a:prstGeom prst="rect">
            <a:avLst/>
          </a:prstGeom>
          <a:noFill/>
        </p:spPr>
        <p:txBody>
          <a:bodyPr wrap="square" lIns="91440" tIns="45720" rIns="91440" bIns="45720" rtlCol="0" anchor="t">
            <a:spAutoFit/>
          </a:bodyPr>
          <a:lstStyle/>
          <a:p>
            <a:r>
              <a:rPr lang="fr-FR" sz="1600" b="1" noProof="0" dirty="0">
                <a:solidFill>
                  <a:schemeClr val="bg2">
                    <a:lumMod val="25000"/>
                  </a:schemeClr>
                </a:solidFill>
              </a:rPr>
              <a:t>Une histoire qui se répète</a:t>
            </a:r>
            <a:endParaRPr lang="fr-FR" noProof="0" dirty="0">
              <a:solidFill>
                <a:schemeClr val="bg2">
                  <a:lumMod val="25000"/>
                </a:schemeClr>
              </a:solidFill>
            </a:endParaRPr>
          </a:p>
        </p:txBody>
      </p:sp>
      <p:sp>
        <p:nvSpPr>
          <p:cNvPr id="19" name="ZoneTexte 14">
            <a:extLst>
              <a:ext uri="{FF2B5EF4-FFF2-40B4-BE49-F238E27FC236}">
                <a16:creationId xmlns:a16="http://schemas.microsoft.com/office/drawing/2014/main" id="{D8D027EF-F9B7-844C-22D8-5EDD0F1660A8}"/>
              </a:ext>
            </a:extLst>
          </p:cNvPr>
          <p:cNvSpPr txBox="1"/>
          <p:nvPr/>
        </p:nvSpPr>
        <p:spPr>
          <a:xfrm>
            <a:off x="336075" y="1872541"/>
            <a:ext cx="6990633" cy="938719"/>
          </a:xfrm>
          <a:prstGeom prst="rect">
            <a:avLst/>
          </a:prstGeom>
          <a:noFill/>
        </p:spPr>
        <p:txBody>
          <a:bodyPr wrap="square" lIns="91440" tIns="45720" rIns="91440" bIns="45720" rtlCol="0" anchor="t">
            <a:spAutoFit/>
          </a:bodyPr>
          <a:lstStyle/>
          <a:p>
            <a:r>
              <a:rPr lang="fr-FR" sz="1100" dirty="0">
                <a:solidFill>
                  <a:schemeClr val="bg2">
                    <a:lumMod val="25000"/>
                  </a:schemeClr>
                </a:solidFill>
                <a:ea typeface="Calibri"/>
                <a:cs typeface="Calibri"/>
              </a:rPr>
              <a:t>Un nuage</a:t>
            </a:r>
            <a:r>
              <a:rPr lang="fr-FR" sz="1100" b="1" dirty="0">
                <a:solidFill>
                  <a:schemeClr val="bg2">
                    <a:lumMod val="25000"/>
                  </a:schemeClr>
                </a:solidFill>
                <a:ea typeface="Calibri"/>
                <a:cs typeface="Calibri"/>
              </a:rPr>
              <a:t> immobile </a:t>
            </a:r>
            <a:r>
              <a:rPr lang="fr-FR" sz="1100" dirty="0">
                <a:solidFill>
                  <a:schemeClr val="bg2">
                    <a:lumMod val="25000"/>
                  </a:schemeClr>
                </a:solidFill>
                <a:ea typeface="Calibri"/>
                <a:cs typeface="Calibri"/>
              </a:rPr>
              <a:t>par rapport à la </a:t>
            </a:r>
            <a:r>
              <a:rPr lang="fr-FR" sz="1100" b="1" dirty="0">
                <a:solidFill>
                  <a:schemeClr val="bg2">
                    <a:lumMod val="25000"/>
                  </a:schemeClr>
                </a:solidFill>
                <a:ea typeface="Calibri"/>
                <a:cs typeface="Calibri"/>
              </a:rPr>
              <a:t>rotation galactique moyenne</a:t>
            </a: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D’autres nuages sont </a:t>
            </a:r>
            <a:r>
              <a:rPr lang="fr-FR" sz="1100" b="1" dirty="0">
                <a:solidFill>
                  <a:schemeClr val="bg2">
                    <a:lumMod val="25000"/>
                  </a:schemeClr>
                </a:solidFill>
                <a:ea typeface="Calibri"/>
                <a:cs typeface="Calibri"/>
              </a:rPr>
              <a:t>ralentis</a:t>
            </a:r>
            <a:r>
              <a:rPr lang="fr-FR" sz="1100" dirty="0">
                <a:solidFill>
                  <a:schemeClr val="bg2">
                    <a:lumMod val="25000"/>
                  </a:schemeClr>
                </a:solidFill>
                <a:ea typeface="Calibri"/>
                <a:cs typeface="Calibri"/>
              </a:rPr>
              <a:t> par </a:t>
            </a:r>
            <a:r>
              <a:rPr lang="fr-FR" sz="1100" b="1" dirty="0">
                <a:solidFill>
                  <a:schemeClr val="bg2">
                    <a:lumMod val="25000"/>
                  </a:schemeClr>
                </a:solidFill>
                <a:ea typeface="Calibri"/>
                <a:cs typeface="Calibri"/>
              </a:rPr>
              <a:t>rapport à la rotation</a:t>
            </a:r>
            <a:r>
              <a:rPr lang="fr-FR" sz="1100" dirty="0">
                <a:solidFill>
                  <a:schemeClr val="bg2">
                    <a:lumMod val="25000"/>
                  </a:schemeClr>
                </a:solidFill>
                <a:ea typeface="Calibri"/>
                <a:cs typeface="Calibri"/>
              </a:rPr>
              <a:t> et rentrent en </a:t>
            </a:r>
            <a:r>
              <a:rPr lang="fr-FR" sz="1100" b="1" dirty="0">
                <a:solidFill>
                  <a:schemeClr val="bg2">
                    <a:lumMod val="25000"/>
                  </a:schemeClr>
                </a:solidFill>
                <a:ea typeface="Calibri"/>
                <a:cs typeface="Calibri"/>
              </a:rPr>
              <a:t>collision</a:t>
            </a:r>
            <a:r>
              <a:rPr lang="fr-FR" sz="1100" dirty="0">
                <a:solidFill>
                  <a:schemeClr val="bg2">
                    <a:lumMod val="25000"/>
                  </a:schemeClr>
                </a:solidFill>
                <a:ea typeface="Calibri"/>
                <a:cs typeface="Calibri"/>
              </a:rPr>
              <a:t> avec le nuage immobile</a:t>
            </a:r>
          </a:p>
          <a:p>
            <a:endParaRPr lang="fr-FR" sz="1100" b="1" dirty="0">
              <a:solidFill>
                <a:schemeClr val="bg2">
                  <a:lumMod val="25000"/>
                </a:schemeClr>
              </a:solidFill>
              <a:ea typeface="Calibri"/>
              <a:cs typeface="Calibri"/>
            </a:endParaRPr>
          </a:p>
          <a:p>
            <a:r>
              <a:rPr lang="fr-FR" sz="1100" b="1" dirty="0">
                <a:solidFill>
                  <a:schemeClr val="bg2">
                    <a:lumMod val="25000"/>
                  </a:schemeClr>
                </a:solidFill>
                <a:ea typeface="Calibri"/>
                <a:cs typeface="Calibri"/>
              </a:rPr>
              <a:t>La formation stellaire débute avant le TCA</a:t>
            </a:r>
          </a:p>
        </p:txBody>
      </p:sp>
      <p:pic>
        <p:nvPicPr>
          <p:cNvPr id="24" name="Graphic 23" descr="Arrow circle outline">
            <a:extLst>
              <a:ext uri="{FF2B5EF4-FFF2-40B4-BE49-F238E27FC236}">
                <a16:creationId xmlns:a16="http://schemas.microsoft.com/office/drawing/2014/main" id="{1A63D63B-E95F-D7B2-7246-10DC790083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224" y="1491070"/>
            <a:ext cx="457200" cy="457200"/>
          </a:xfrm>
          <a:prstGeom prst="rect">
            <a:avLst/>
          </a:prstGeom>
        </p:spPr>
      </p:pic>
      <p:sp>
        <p:nvSpPr>
          <p:cNvPr id="25" name="L-Shape 24">
            <a:extLst>
              <a:ext uri="{FF2B5EF4-FFF2-40B4-BE49-F238E27FC236}">
                <a16:creationId xmlns:a16="http://schemas.microsoft.com/office/drawing/2014/main" id="{480C6AA6-CBED-1F44-E292-8FE91C1F0F69}"/>
              </a:ext>
            </a:extLst>
          </p:cNvPr>
          <p:cNvSpPr/>
          <p:nvPr/>
        </p:nvSpPr>
        <p:spPr>
          <a:xfrm rot="13691150">
            <a:off x="240591" y="1979713"/>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 name="L-Shape 25">
            <a:extLst>
              <a:ext uri="{FF2B5EF4-FFF2-40B4-BE49-F238E27FC236}">
                <a16:creationId xmlns:a16="http://schemas.microsoft.com/office/drawing/2014/main" id="{5942DAFC-25B0-26A2-6A8D-BD7228B0EBAF}"/>
              </a:ext>
            </a:extLst>
          </p:cNvPr>
          <p:cNvSpPr/>
          <p:nvPr/>
        </p:nvSpPr>
        <p:spPr>
          <a:xfrm rot="13691150">
            <a:off x="235828" y="231515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L-Shape 26">
            <a:extLst>
              <a:ext uri="{FF2B5EF4-FFF2-40B4-BE49-F238E27FC236}">
                <a16:creationId xmlns:a16="http://schemas.microsoft.com/office/drawing/2014/main" id="{F5D5796B-C76A-0375-F88D-9EE98623FC87}"/>
              </a:ext>
            </a:extLst>
          </p:cNvPr>
          <p:cNvSpPr/>
          <p:nvPr/>
        </p:nvSpPr>
        <p:spPr>
          <a:xfrm rot="13691150">
            <a:off x="232955" y="2648704"/>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aphicFrame>
        <p:nvGraphicFramePr>
          <p:cNvPr id="29" name="Table 28">
            <a:extLst>
              <a:ext uri="{FF2B5EF4-FFF2-40B4-BE49-F238E27FC236}">
                <a16:creationId xmlns:a16="http://schemas.microsoft.com/office/drawing/2014/main" id="{F3A617A4-413F-8C9C-0F43-0024715A178B}"/>
              </a:ext>
            </a:extLst>
          </p:cNvPr>
          <p:cNvGraphicFramePr>
            <a:graphicFrameLocks noGrp="1"/>
          </p:cNvGraphicFramePr>
          <p:nvPr>
            <p:extLst>
              <p:ext uri="{D42A27DB-BD31-4B8C-83A1-F6EECF244321}">
                <p14:modId xmlns:p14="http://schemas.microsoft.com/office/powerpoint/2010/main" val="2789964281"/>
              </p:ext>
            </p:extLst>
          </p:nvPr>
        </p:nvGraphicFramePr>
        <p:xfrm>
          <a:off x="195948" y="3682142"/>
          <a:ext cx="7130760" cy="1569720"/>
        </p:xfrm>
        <a:graphic>
          <a:graphicData uri="http://schemas.openxmlformats.org/drawingml/2006/table">
            <a:tbl>
              <a:tblPr firstRow="1" bandRow="1">
                <a:tableStyleId>{5C22544A-7EE6-4342-B048-85BDC9FD1C3A}</a:tableStyleId>
              </a:tblPr>
              <a:tblGrid>
                <a:gridCol w="2029667">
                  <a:extLst>
                    <a:ext uri="{9D8B030D-6E8A-4147-A177-3AD203B41FA5}">
                      <a16:colId xmlns:a16="http://schemas.microsoft.com/office/drawing/2014/main" val="2137547971"/>
                    </a:ext>
                  </a:extLst>
                </a:gridCol>
                <a:gridCol w="1535713">
                  <a:extLst>
                    <a:ext uri="{9D8B030D-6E8A-4147-A177-3AD203B41FA5}">
                      <a16:colId xmlns:a16="http://schemas.microsoft.com/office/drawing/2014/main" val="1672496830"/>
                    </a:ext>
                  </a:extLst>
                </a:gridCol>
                <a:gridCol w="1782690">
                  <a:extLst>
                    <a:ext uri="{9D8B030D-6E8A-4147-A177-3AD203B41FA5}">
                      <a16:colId xmlns:a16="http://schemas.microsoft.com/office/drawing/2014/main" val="3479431062"/>
                    </a:ext>
                  </a:extLst>
                </a:gridCol>
                <a:gridCol w="1782690">
                  <a:extLst>
                    <a:ext uri="{9D8B030D-6E8A-4147-A177-3AD203B41FA5}">
                      <a16:colId xmlns:a16="http://schemas.microsoft.com/office/drawing/2014/main" val="1710514317"/>
                    </a:ext>
                  </a:extLst>
                </a:gridCol>
              </a:tblGrid>
              <a:tr h="370840">
                <a:tc>
                  <a:txBody>
                    <a:bodyPr/>
                    <a:lstStyle/>
                    <a:p>
                      <a:r>
                        <a:rPr lang="fr-FR" sz="1200" dirty="0"/>
                        <a:t>Time of Closest Approach</a:t>
                      </a:r>
                    </a:p>
                  </a:txBody>
                  <a:tcPr>
                    <a:solidFill>
                      <a:srgbClr val="0F172A"/>
                    </a:solidFill>
                  </a:tcPr>
                </a:tc>
                <a:tc>
                  <a:txBody>
                    <a:bodyPr/>
                    <a:lstStyle/>
                    <a:p>
                      <a:r>
                        <a:rPr lang="fr-FR" sz="1200" dirty="0"/>
                        <a:t>Nuage immobile</a:t>
                      </a:r>
                    </a:p>
                  </a:txBody>
                  <a:tcPr>
                    <a:solidFill>
                      <a:srgbClr val="0F172A"/>
                    </a:solidFill>
                  </a:tcPr>
                </a:tc>
                <a:tc>
                  <a:txBody>
                    <a:bodyPr/>
                    <a:lstStyle/>
                    <a:p>
                      <a:r>
                        <a:rPr lang="fr-FR" sz="1200" dirty="0"/>
                        <a:t>Nuages collisionels</a:t>
                      </a:r>
                    </a:p>
                  </a:txBody>
                  <a:tcPr>
                    <a:solidFill>
                      <a:srgbClr val="0F172A"/>
                    </a:solidFill>
                  </a:tcPr>
                </a:tc>
                <a:tc>
                  <a:txBody>
                    <a:bodyPr/>
                    <a:lstStyle/>
                    <a:p>
                      <a:r>
                        <a:rPr lang="fr-FR" sz="1200" dirty="0"/>
                        <a:t>Début de la formation stellaire</a:t>
                      </a:r>
                    </a:p>
                  </a:txBody>
                  <a:tcPr>
                    <a:solidFill>
                      <a:srgbClr val="0F172A"/>
                    </a:solidFill>
                  </a:tcPr>
                </a:tc>
                <a:extLst>
                  <a:ext uri="{0D108BD9-81ED-4DB2-BD59-A6C34878D82A}">
                    <a16:rowId xmlns:a16="http://schemas.microsoft.com/office/drawing/2014/main" val="3493340122"/>
                  </a:ext>
                </a:extLst>
              </a:tr>
              <a:tr h="370840">
                <a:tc>
                  <a:txBody>
                    <a:bodyPr/>
                    <a:lstStyle/>
                    <a:p>
                      <a:r>
                        <a:rPr lang="fr-FR" sz="1200" dirty="0"/>
                        <a:t>6 – 10 </a:t>
                      </a:r>
                      <a:r>
                        <a:rPr lang="fr-FR" sz="1200" dirty="0" err="1"/>
                        <a:t>Myr</a:t>
                      </a:r>
                      <a:endParaRPr lang="fr-FR" sz="1200" dirty="0"/>
                    </a:p>
                  </a:txBody>
                  <a:tcPr/>
                </a:tc>
                <a:tc>
                  <a:txBody>
                    <a:bodyPr/>
                    <a:lstStyle/>
                    <a:p>
                      <a:r>
                        <a:rPr lang="fr-FR" sz="1200" dirty="0"/>
                        <a:t>Groupe D</a:t>
                      </a:r>
                    </a:p>
                  </a:txBody>
                  <a:tcPr/>
                </a:tc>
                <a:tc>
                  <a:txBody>
                    <a:bodyPr/>
                    <a:lstStyle/>
                    <a:p>
                      <a:r>
                        <a:rPr lang="fr-FR" sz="1200" dirty="0"/>
                        <a:t>Groupes A et F</a:t>
                      </a:r>
                    </a:p>
                  </a:txBody>
                  <a:tcPr/>
                </a:tc>
                <a:tc>
                  <a:txBody>
                    <a:bodyPr/>
                    <a:lstStyle/>
                    <a:p>
                      <a:r>
                        <a:rPr lang="fr-FR" sz="1200" dirty="0"/>
                        <a:t>15 </a:t>
                      </a:r>
                      <a:r>
                        <a:rPr lang="fr-FR" sz="1200" dirty="0" err="1"/>
                        <a:t>Myr</a:t>
                      </a:r>
                      <a:endParaRPr lang="fr-FR" sz="1200" dirty="0"/>
                    </a:p>
                  </a:txBody>
                  <a:tcPr/>
                </a:tc>
                <a:extLst>
                  <a:ext uri="{0D108BD9-81ED-4DB2-BD59-A6C34878D82A}">
                    <a16:rowId xmlns:a16="http://schemas.microsoft.com/office/drawing/2014/main" val="3737729805"/>
                  </a:ext>
                </a:extLst>
              </a:tr>
              <a:tr h="370840">
                <a:tc>
                  <a:txBody>
                    <a:bodyPr/>
                    <a:lstStyle/>
                    <a:p>
                      <a:r>
                        <a:rPr lang="fr-FR" sz="1200" dirty="0"/>
                        <a:t>3 – 5 </a:t>
                      </a:r>
                      <a:r>
                        <a:rPr lang="fr-FR" sz="1200" dirty="0" err="1"/>
                        <a:t>Myr</a:t>
                      </a:r>
                      <a:endParaRPr lang="fr-FR" sz="1200" dirty="0"/>
                    </a:p>
                  </a:txBody>
                  <a:tcPr/>
                </a:tc>
                <a:tc>
                  <a:txBody>
                    <a:bodyPr/>
                    <a:lstStyle/>
                    <a:p>
                      <a:r>
                        <a:rPr lang="fr-FR" sz="1200" dirty="0"/>
                        <a:t>Groupe E (</a:t>
                      </a:r>
                      <a:r>
                        <a:rPr lang="fr-FR" sz="1200" dirty="0" err="1"/>
                        <a:t>Cyg</a:t>
                      </a:r>
                      <a:r>
                        <a:rPr lang="fr-FR" sz="1200" dirty="0"/>
                        <a:t> OB2)</a:t>
                      </a:r>
                    </a:p>
                  </a:txBody>
                  <a:tcPr/>
                </a:tc>
                <a:tc>
                  <a:txBody>
                    <a:bodyPr/>
                    <a:lstStyle/>
                    <a:p>
                      <a:r>
                        <a:rPr lang="fr-FR" sz="1200" dirty="0"/>
                        <a:t>Groupes B et C</a:t>
                      </a:r>
                    </a:p>
                  </a:txBody>
                  <a:tcPr/>
                </a:tc>
                <a:tc>
                  <a:txBody>
                    <a:bodyPr/>
                    <a:lstStyle/>
                    <a:p>
                      <a:r>
                        <a:rPr lang="fr-FR" sz="1200" dirty="0"/>
                        <a:t>3 à 5 </a:t>
                      </a:r>
                      <a:r>
                        <a:rPr lang="fr-FR" sz="1200" dirty="0" err="1"/>
                        <a:t>Myr</a:t>
                      </a:r>
                      <a:endParaRPr lang="fr-FR" sz="1200" dirty="0"/>
                    </a:p>
                  </a:txBody>
                  <a:tcPr/>
                </a:tc>
                <a:extLst>
                  <a:ext uri="{0D108BD9-81ED-4DB2-BD59-A6C34878D82A}">
                    <a16:rowId xmlns:a16="http://schemas.microsoft.com/office/drawing/2014/main" val="1346738465"/>
                  </a:ext>
                </a:extLst>
              </a:tr>
              <a:tr h="370840">
                <a:tc>
                  <a:txBody>
                    <a:bodyPr/>
                    <a:lstStyle/>
                    <a:p>
                      <a:r>
                        <a:rPr lang="fr-FR" sz="1200" dirty="0"/>
                        <a:t>0 </a:t>
                      </a:r>
                      <a:r>
                        <a:rPr lang="fr-FR" sz="1200" dirty="0" err="1"/>
                        <a:t>Myr</a:t>
                      </a:r>
                      <a:endParaRPr lang="fr-FR" sz="1200" dirty="0"/>
                    </a:p>
                  </a:txBody>
                  <a:tcPr/>
                </a:tc>
                <a:tc>
                  <a:txBody>
                    <a:bodyPr/>
                    <a:lstStyle/>
                    <a:p>
                      <a:r>
                        <a:rPr lang="fr-FR" sz="1200" dirty="0"/>
                        <a:t>W75N</a:t>
                      </a:r>
                    </a:p>
                  </a:txBody>
                  <a:tcPr/>
                </a:tc>
                <a:tc>
                  <a:txBody>
                    <a:bodyPr/>
                    <a:lstStyle/>
                    <a:p>
                      <a:r>
                        <a:rPr lang="fr-FR" sz="1200" dirty="0"/>
                        <a:t>DR20, DR21, IRAS20290</a:t>
                      </a:r>
                    </a:p>
                  </a:txBody>
                  <a:tcPr/>
                </a:tc>
                <a:tc>
                  <a:txBody>
                    <a:bodyPr/>
                    <a:lstStyle/>
                    <a:p>
                      <a:r>
                        <a:rPr lang="fr-FR" sz="1200" dirty="0"/>
                        <a:t>Récemment</a:t>
                      </a:r>
                    </a:p>
                  </a:txBody>
                  <a:tcPr/>
                </a:tc>
                <a:extLst>
                  <a:ext uri="{0D108BD9-81ED-4DB2-BD59-A6C34878D82A}">
                    <a16:rowId xmlns:a16="http://schemas.microsoft.com/office/drawing/2014/main" val="2924447390"/>
                  </a:ext>
                </a:extLst>
              </a:tr>
            </a:tbl>
          </a:graphicData>
        </a:graphic>
      </p:graphicFrame>
    </p:spTree>
    <p:extLst>
      <p:ext uri="{BB962C8B-B14F-4D97-AF65-F5344CB8AC3E}">
        <p14:creationId xmlns:p14="http://schemas.microsoft.com/office/powerpoint/2010/main" val="340828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21D46-4529-B722-48D9-D4E04CCBFD9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9B68E19-CDF2-AAC9-37AF-35ECAF38919F}"/>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E13F26B0-5CEB-A0BD-7215-DB373FDCD32D}"/>
              </a:ext>
            </a:extLst>
          </p:cNvPr>
          <p:cNvSpPr>
            <a:spLocks noGrp="1"/>
          </p:cNvSpPr>
          <p:nvPr>
            <p:ph type="title"/>
          </p:nvPr>
        </p:nvSpPr>
        <p:spPr>
          <a:xfrm>
            <a:off x="152400" y="619129"/>
            <a:ext cx="10515600" cy="642407"/>
          </a:xfrm>
        </p:spPr>
        <p:txBody>
          <a:bodyPr>
            <a:normAutofit/>
          </a:bodyPr>
          <a:lstStyle/>
          <a:p>
            <a:r>
              <a:rPr lang="fr-FR" sz="3200" b="1" dirty="0">
                <a:solidFill>
                  <a:srgbClr val="D9D9D9"/>
                </a:solidFill>
              </a:rPr>
              <a:t>Pourquoi y’a-t-il des nuages plus lents que la rotation ?</a:t>
            </a:r>
            <a:endParaRPr lang="fr-FR" sz="3200" dirty="0">
              <a:solidFill>
                <a:srgbClr val="D9D9D9"/>
              </a:solidFill>
            </a:endParaRPr>
          </a:p>
        </p:txBody>
      </p:sp>
      <p:sp>
        <p:nvSpPr>
          <p:cNvPr id="5" name="Espace réservé du numéro de diapositive 4">
            <a:extLst>
              <a:ext uri="{FF2B5EF4-FFF2-40B4-BE49-F238E27FC236}">
                <a16:creationId xmlns:a16="http://schemas.microsoft.com/office/drawing/2014/main" id="{84DD5C07-A8EB-CC6C-0FD2-B04A49BB4D71}"/>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12</a:t>
            </a:fld>
            <a:endParaRPr lang="fr-FR" noProof="0" dirty="0"/>
          </a:p>
        </p:txBody>
      </p:sp>
      <p:pic>
        <p:nvPicPr>
          <p:cNvPr id="11" name="Picture 2">
            <a:extLst>
              <a:ext uri="{FF2B5EF4-FFF2-40B4-BE49-F238E27FC236}">
                <a16:creationId xmlns:a16="http://schemas.microsoft.com/office/drawing/2014/main" id="{66E024B6-A771-4DE5-3258-25C8680F8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352AEE04-D3D1-7C7E-FF95-13CEAE03C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a:extLst>
              <a:ext uri="{FF2B5EF4-FFF2-40B4-BE49-F238E27FC236}">
                <a16:creationId xmlns:a16="http://schemas.microsoft.com/office/drawing/2014/main" id="{A027EBC9-15E1-C490-EC7D-F19858192C6B}"/>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18/06/2026</a:t>
            </a:fld>
            <a:endParaRPr lang="fr-FR" noProof="0" dirty="0"/>
          </a:p>
        </p:txBody>
      </p:sp>
      <p:sp>
        <p:nvSpPr>
          <p:cNvPr id="3" name="Rectangle : coins arrondis 8">
            <a:extLst>
              <a:ext uri="{FF2B5EF4-FFF2-40B4-BE49-F238E27FC236}">
                <a16:creationId xmlns:a16="http://schemas.microsoft.com/office/drawing/2014/main" id="{FBE48729-66E4-F955-94A1-7F156F6ED2C1}"/>
              </a:ext>
            </a:extLst>
          </p:cNvPr>
          <p:cNvSpPr/>
          <p:nvPr/>
        </p:nvSpPr>
        <p:spPr>
          <a:xfrm>
            <a:off x="152400" y="1486890"/>
            <a:ext cx="3945147" cy="1942110"/>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8" name="ZoneTexte 13">
            <a:extLst>
              <a:ext uri="{FF2B5EF4-FFF2-40B4-BE49-F238E27FC236}">
                <a16:creationId xmlns:a16="http://schemas.microsoft.com/office/drawing/2014/main" id="{9550C419-0069-D71F-0539-B888116CC86D}"/>
              </a:ext>
            </a:extLst>
          </p:cNvPr>
          <p:cNvSpPr txBox="1"/>
          <p:nvPr/>
        </p:nvSpPr>
        <p:spPr>
          <a:xfrm>
            <a:off x="644274" y="1568598"/>
            <a:ext cx="2961397" cy="338554"/>
          </a:xfrm>
          <a:prstGeom prst="rect">
            <a:avLst/>
          </a:prstGeom>
          <a:noFill/>
        </p:spPr>
        <p:txBody>
          <a:bodyPr wrap="square" lIns="91440" tIns="45720" rIns="91440" bIns="45720" rtlCol="0" anchor="t">
            <a:spAutoFit/>
          </a:bodyPr>
          <a:lstStyle/>
          <a:p>
            <a:r>
              <a:rPr lang="fr-FR" sz="1600" b="1" dirty="0">
                <a:solidFill>
                  <a:schemeClr val="bg2">
                    <a:lumMod val="25000"/>
                  </a:schemeClr>
                </a:solidFill>
              </a:rPr>
              <a:t>L’influence du bras spiral Local ?</a:t>
            </a:r>
            <a:endParaRPr lang="fr-FR" noProof="0" dirty="0">
              <a:solidFill>
                <a:schemeClr val="bg2">
                  <a:lumMod val="25000"/>
                </a:schemeClr>
              </a:solidFill>
            </a:endParaRPr>
          </a:p>
        </p:txBody>
      </p:sp>
      <p:pic>
        <p:nvPicPr>
          <p:cNvPr id="14" name="Picture 13">
            <a:extLst>
              <a:ext uri="{FF2B5EF4-FFF2-40B4-BE49-F238E27FC236}">
                <a16:creationId xmlns:a16="http://schemas.microsoft.com/office/drawing/2014/main" id="{17E81D82-47DD-4A28-E062-1246C9985E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1371" y="1454147"/>
            <a:ext cx="3462893" cy="3078127"/>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346B4D45-BD76-E58F-3628-4235A41DDB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4843" y="1454146"/>
            <a:ext cx="3462893" cy="3078127"/>
          </a:xfrm>
          <a:prstGeom prst="rect">
            <a:avLst/>
          </a:prstGeom>
          <a:effectLst>
            <a:outerShdw blurRad="50800" dist="38100" dir="2700000" algn="tl" rotWithShape="0">
              <a:prstClr val="black">
                <a:alpha val="40000"/>
              </a:prstClr>
            </a:outerShdw>
          </a:effectLst>
        </p:spPr>
      </p:pic>
      <p:sp>
        <p:nvSpPr>
          <p:cNvPr id="17" name="ZoneTexte 14">
            <a:extLst>
              <a:ext uri="{FF2B5EF4-FFF2-40B4-BE49-F238E27FC236}">
                <a16:creationId xmlns:a16="http://schemas.microsoft.com/office/drawing/2014/main" id="{0D355E5F-6E6D-167E-6094-6436F309666A}"/>
              </a:ext>
            </a:extLst>
          </p:cNvPr>
          <p:cNvSpPr txBox="1"/>
          <p:nvPr/>
        </p:nvSpPr>
        <p:spPr>
          <a:xfrm>
            <a:off x="336075" y="1872541"/>
            <a:ext cx="3535133" cy="1277273"/>
          </a:xfrm>
          <a:prstGeom prst="rect">
            <a:avLst/>
          </a:prstGeom>
          <a:noFill/>
        </p:spPr>
        <p:txBody>
          <a:bodyPr wrap="square" lIns="91440" tIns="45720" rIns="91440" bIns="45720" rtlCol="0" anchor="t">
            <a:spAutoFit/>
          </a:bodyPr>
          <a:lstStyle/>
          <a:p>
            <a:r>
              <a:rPr lang="fr-FR" sz="1100" dirty="0">
                <a:solidFill>
                  <a:schemeClr val="bg2">
                    <a:lumMod val="25000"/>
                  </a:schemeClr>
                </a:solidFill>
                <a:ea typeface="Calibri"/>
                <a:cs typeface="Calibri"/>
              </a:rPr>
              <a:t>Les groupes et les nuages sont </a:t>
            </a:r>
            <a:r>
              <a:rPr lang="fr-FR" sz="1100" b="1" dirty="0">
                <a:solidFill>
                  <a:schemeClr val="bg2">
                    <a:lumMod val="25000"/>
                  </a:schemeClr>
                </a:solidFill>
                <a:ea typeface="Calibri"/>
                <a:cs typeface="Calibri"/>
              </a:rPr>
              <a:t>au bord du bras Local</a:t>
            </a: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Les objets immobiles par rapport à la rotation </a:t>
            </a:r>
            <a:r>
              <a:rPr lang="fr-FR" sz="1100" b="1" dirty="0">
                <a:solidFill>
                  <a:schemeClr val="bg2">
                    <a:lumMod val="25000"/>
                  </a:schemeClr>
                </a:solidFill>
                <a:ea typeface="Calibri"/>
                <a:cs typeface="Calibri"/>
              </a:rPr>
              <a:t>se dirigent vers la surdensité du bras Local</a:t>
            </a:r>
          </a:p>
          <a:p>
            <a:endParaRPr lang="fr-FR" sz="1100" b="1"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Les autres objets semblent </a:t>
            </a:r>
            <a:r>
              <a:rPr lang="fr-FR" sz="1100" b="1" dirty="0">
                <a:solidFill>
                  <a:schemeClr val="bg2">
                    <a:lumMod val="25000"/>
                  </a:schemeClr>
                </a:solidFill>
                <a:ea typeface="Calibri"/>
                <a:cs typeface="Calibri"/>
              </a:rPr>
              <a:t>ralentis et se rapprochent du centre galactique</a:t>
            </a:r>
          </a:p>
        </p:txBody>
      </p:sp>
      <p:sp>
        <p:nvSpPr>
          <p:cNvPr id="18" name="L-Shape 17">
            <a:extLst>
              <a:ext uri="{FF2B5EF4-FFF2-40B4-BE49-F238E27FC236}">
                <a16:creationId xmlns:a16="http://schemas.microsoft.com/office/drawing/2014/main" id="{FB215072-75C4-D422-6D16-D714572A1CBD}"/>
              </a:ext>
            </a:extLst>
          </p:cNvPr>
          <p:cNvSpPr/>
          <p:nvPr/>
        </p:nvSpPr>
        <p:spPr>
          <a:xfrm rot="13691150">
            <a:off x="240591" y="1979713"/>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L-Shape 18">
            <a:extLst>
              <a:ext uri="{FF2B5EF4-FFF2-40B4-BE49-F238E27FC236}">
                <a16:creationId xmlns:a16="http://schemas.microsoft.com/office/drawing/2014/main" id="{0BF12B5F-9CB3-790E-7949-A18DF8DFB017}"/>
              </a:ext>
            </a:extLst>
          </p:cNvPr>
          <p:cNvSpPr/>
          <p:nvPr/>
        </p:nvSpPr>
        <p:spPr>
          <a:xfrm rot="13691150">
            <a:off x="237591" y="2373678"/>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TextBox 19">
            <a:extLst>
              <a:ext uri="{FF2B5EF4-FFF2-40B4-BE49-F238E27FC236}">
                <a16:creationId xmlns:a16="http://schemas.microsoft.com/office/drawing/2014/main" id="{FB82E78D-A5B0-AFF5-2316-D58A042C5395}"/>
              </a:ext>
            </a:extLst>
          </p:cNvPr>
          <p:cNvSpPr txBox="1"/>
          <p:nvPr/>
        </p:nvSpPr>
        <p:spPr>
          <a:xfrm>
            <a:off x="5495072" y="4638619"/>
            <a:ext cx="4665327" cy="338554"/>
          </a:xfrm>
          <a:prstGeom prst="rect">
            <a:avLst/>
          </a:prstGeom>
          <a:noFill/>
        </p:spPr>
        <p:txBody>
          <a:bodyPr wrap="square" rtlCol="0">
            <a:spAutoFit/>
          </a:bodyPr>
          <a:lstStyle/>
          <a:p>
            <a:pPr algn="ctr"/>
            <a:r>
              <a:rPr lang="fr-FR" sz="800" i="1" dirty="0">
                <a:solidFill>
                  <a:srgbClr val="0F172A"/>
                </a:solidFill>
              </a:rPr>
              <a:t>Trajectoires des nuages moléculaires et des groupes d’étoiles OB de la région du Cygne sur une carte de la densité de matière au sien de la Voie Lactée – Simulation par Yassin Khalil</a:t>
            </a:r>
          </a:p>
        </p:txBody>
      </p:sp>
      <p:sp>
        <p:nvSpPr>
          <p:cNvPr id="21" name="L-Shape 20">
            <a:extLst>
              <a:ext uri="{FF2B5EF4-FFF2-40B4-BE49-F238E27FC236}">
                <a16:creationId xmlns:a16="http://schemas.microsoft.com/office/drawing/2014/main" id="{162B71A9-61F3-006B-A632-F3E70568158A}"/>
              </a:ext>
            </a:extLst>
          </p:cNvPr>
          <p:cNvSpPr/>
          <p:nvPr/>
        </p:nvSpPr>
        <p:spPr>
          <a:xfrm rot="13691150">
            <a:off x="243510" y="2888675"/>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 coins arrondis 8">
            <a:extLst>
              <a:ext uri="{FF2B5EF4-FFF2-40B4-BE49-F238E27FC236}">
                <a16:creationId xmlns:a16="http://schemas.microsoft.com/office/drawing/2014/main" id="{7CBD8F84-30EF-15D5-6309-511E91A7B966}"/>
              </a:ext>
            </a:extLst>
          </p:cNvPr>
          <p:cNvSpPr/>
          <p:nvPr/>
        </p:nvSpPr>
        <p:spPr>
          <a:xfrm>
            <a:off x="152818" y="3898665"/>
            <a:ext cx="3945147" cy="2026675"/>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23" name="ZoneTexte 13">
            <a:extLst>
              <a:ext uri="{FF2B5EF4-FFF2-40B4-BE49-F238E27FC236}">
                <a16:creationId xmlns:a16="http://schemas.microsoft.com/office/drawing/2014/main" id="{49983094-938C-68BD-A34C-482E34F089D9}"/>
              </a:ext>
            </a:extLst>
          </p:cNvPr>
          <p:cNvSpPr txBox="1"/>
          <p:nvPr/>
        </p:nvSpPr>
        <p:spPr>
          <a:xfrm>
            <a:off x="644692" y="3980374"/>
            <a:ext cx="2961397" cy="338554"/>
          </a:xfrm>
          <a:prstGeom prst="rect">
            <a:avLst/>
          </a:prstGeom>
          <a:noFill/>
        </p:spPr>
        <p:txBody>
          <a:bodyPr wrap="square" lIns="91440" tIns="45720" rIns="91440" bIns="45720" rtlCol="0" anchor="t">
            <a:spAutoFit/>
          </a:bodyPr>
          <a:lstStyle/>
          <a:p>
            <a:r>
              <a:rPr lang="fr-FR" sz="1600" b="1" dirty="0">
                <a:solidFill>
                  <a:schemeClr val="bg2">
                    <a:lumMod val="25000"/>
                  </a:schemeClr>
                </a:solidFill>
              </a:rPr>
              <a:t>D’autres hypothèses à éprouver</a:t>
            </a:r>
            <a:endParaRPr lang="fr-FR" noProof="0" dirty="0">
              <a:solidFill>
                <a:schemeClr val="bg2">
                  <a:lumMod val="25000"/>
                </a:schemeClr>
              </a:solidFill>
            </a:endParaRPr>
          </a:p>
        </p:txBody>
      </p:sp>
      <p:sp>
        <p:nvSpPr>
          <p:cNvPr id="24" name="ZoneTexte 14">
            <a:extLst>
              <a:ext uri="{FF2B5EF4-FFF2-40B4-BE49-F238E27FC236}">
                <a16:creationId xmlns:a16="http://schemas.microsoft.com/office/drawing/2014/main" id="{3D43A4C2-6061-A248-A7A5-1054B4C0F522}"/>
              </a:ext>
            </a:extLst>
          </p:cNvPr>
          <p:cNvSpPr txBox="1"/>
          <p:nvPr/>
        </p:nvSpPr>
        <p:spPr>
          <a:xfrm>
            <a:off x="336493" y="4379206"/>
            <a:ext cx="3535133" cy="1446550"/>
          </a:xfrm>
          <a:prstGeom prst="rect">
            <a:avLst/>
          </a:prstGeom>
          <a:noFill/>
        </p:spPr>
        <p:txBody>
          <a:bodyPr wrap="square" lIns="91440" tIns="45720" rIns="91440" bIns="45720" rtlCol="0" anchor="t">
            <a:spAutoFit/>
          </a:bodyPr>
          <a:lstStyle/>
          <a:p>
            <a:r>
              <a:rPr lang="fr-FR" sz="1100" dirty="0">
                <a:solidFill>
                  <a:schemeClr val="bg2">
                    <a:lumMod val="25000"/>
                  </a:schemeClr>
                </a:solidFill>
                <a:ea typeface="Calibri"/>
                <a:cs typeface="Calibri"/>
              </a:rPr>
              <a:t>L’influence de la barre centrale galactique</a:t>
            </a:r>
            <a:endParaRPr lang="fr-FR" sz="1100" b="1" dirty="0">
              <a:solidFill>
                <a:schemeClr val="bg2">
                  <a:lumMod val="25000"/>
                </a:schemeClr>
              </a:solidFill>
              <a:ea typeface="Calibri"/>
              <a:cs typeface="Calibri"/>
            </a:endParaRPr>
          </a:p>
          <a:p>
            <a:endParaRPr lang="fr-FR" sz="1100"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Des perturbations hydrodynamiques</a:t>
            </a:r>
            <a:endParaRPr lang="fr-FR" sz="1100" b="1" dirty="0">
              <a:solidFill>
                <a:schemeClr val="bg2">
                  <a:lumMod val="25000"/>
                </a:schemeClr>
              </a:solidFill>
              <a:ea typeface="Calibri"/>
              <a:cs typeface="Calibri"/>
            </a:endParaRPr>
          </a:p>
          <a:p>
            <a:endParaRPr lang="fr-FR" sz="1100" b="1"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Des feedbacks provenant d’anciennes étoiles</a:t>
            </a:r>
          </a:p>
          <a:p>
            <a:endParaRPr lang="fr-FR" sz="1100" b="1" dirty="0">
              <a:solidFill>
                <a:schemeClr val="bg2">
                  <a:lumMod val="25000"/>
                </a:schemeClr>
              </a:solidFill>
              <a:ea typeface="Calibri"/>
              <a:cs typeface="Calibri"/>
            </a:endParaRPr>
          </a:p>
          <a:p>
            <a:r>
              <a:rPr lang="fr-FR" sz="1100" dirty="0">
                <a:solidFill>
                  <a:schemeClr val="bg2">
                    <a:lumMod val="25000"/>
                  </a:schemeClr>
                </a:solidFill>
                <a:ea typeface="Calibri"/>
                <a:cs typeface="Calibri"/>
              </a:rPr>
              <a:t>Des restes cinématiques de collisions anciennes avec des amas globulaires</a:t>
            </a:r>
          </a:p>
        </p:txBody>
      </p:sp>
      <p:sp>
        <p:nvSpPr>
          <p:cNvPr id="25" name="L-Shape 24">
            <a:extLst>
              <a:ext uri="{FF2B5EF4-FFF2-40B4-BE49-F238E27FC236}">
                <a16:creationId xmlns:a16="http://schemas.microsoft.com/office/drawing/2014/main" id="{F6635CE1-479E-8640-1736-560D13DAB7FA}"/>
              </a:ext>
            </a:extLst>
          </p:cNvPr>
          <p:cNvSpPr/>
          <p:nvPr/>
        </p:nvSpPr>
        <p:spPr>
          <a:xfrm rot="13691150">
            <a:off x="241009" y="4486378"/>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 name="L-Shape 25">
            <a:extLst>
              <a:ext uri="{FF2B5EF4-FFF2-40B4-BE49-F238E27FC236}">
                <a16:creationId xmlns:a16="http://schemas.microsoft.com/office/drawing/2014/main" id="{1694C49B-6959-0FA9-3997-CF669F47C6C0}"/>
              </a:ext>
            </a:extLst>
          </p:cNvPr>
          <p:cNvSpPr/>
          <p:nvPr/>
        </p:nvSpPr>
        <p:spPr>
          <a:xfrm rot="13691150">
            <a:off x="238009" y="4828587"/>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L-Shape 26">
            <a:extLst>
              <a:ext uri="{FF2B5EF4-FFF2-40B4-BE49-F238E27FC236}">
                <a16:creationId xmlns:a16="http://schemas.microsoft.com/office/drawing/2014/main" id="{49390DC2-6F1F-F25E-EC9E-7D23583035E6}"/>
              </a:ext>
            </a:extLst>
          </p:cNvPr>
          <p:cNvSpPr/>
          <p:nvPr/>
        </p:nvSpPr>
        <p:spPr>
          <a:xfrm rot="13691150">
            <a:off x="243928" y="5171058"/>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L-Shape 27">
            <a:extLst>
              <a:ext uri="{FF2B5EF4-FFF2-40B4-BE49-F238E27FC236}">
                <a16:creationId xmlns:a16="http://schemas.microsoft.com/office/drawing/2014/main" id="{80412E95-A1D6-A429-F5DF-2F19B4ADD417}"/>
              </a:ext>
            </a:extLst>
          </p:cNvPr>
          <p:cNvSpPr/>
          <p:nvPr/>
        </p:nvSpPr>
        <p:spPr>
          <a:xfrm rot="13691150">
            <a:off x="243927" y="5534432"/>
            <a:ext cx="59202" cy="62439"/>
          </a:xfrm>
          <a:prstGeom prst="corner">
            <a:avLst>
              <a:gd name="adj1" fmla="val 18232"/>
              <a:gd name="adj2" fmla="val 15227"/>
            </a:avLst>
          </a:prstGeom>
          <a:ln>
            <a:solidFill>
              <a:srgbClr val="2596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0" name="Picture 29">
            <a:extLst>
              <a:ext uri="{FF2B5EF4-FFF2-40B4-BE49-F238E27FC236}">
                <a16:creationId xmlns:a16="http://schemas.microsoft.com/office/drawing/2014/main" id="{FBB34B3A-EA2B-7048-A4C5-FCF114717BE4}"/>
              </a:ext>
            </a:extLst>
          </p:cNvPr>
          <p:cNvPicPr>
            <a:picLocks noChangeAspect="1"/>
          </p:cNvPicPr>
          <p:nvPr/>
        </p:nvPicPr>
        <p:blipFill>
          <a:blip r:embed="rId6">
            <a:extLst>
              <a:ext uri="{28A0092B-C50C-407E-A947-70E740481C1C}">
                <a14:useLocalDpi xmlns:a14="http://schemas.microsoft.com/office/drawing/2010/main" val="0"/>
              </a:ext>
            </a:extLst>
          </a:blip>
          <a:srcRect r="41952"/>
          <a:stretch>
            <a:fillRect/>
          </a:stretch>
        </p:blipFill>
        <p:spPr>
          <a:xfrm rot="5400000">
            <a:off x="7364930" y="3073295"/>
            <a:ext cx="1660017" cy="5504921"/>
          </a:xfrm>
          <a:prstGeom prst="rect">
            <a:avLst/>
          </a:prstGeom>
        </p:spPr>
      </p:pic>
    </p:spTree>
    <p:extLst>
      <p:ext uri="{BB962C8B-B14F-4D97-AF65-F5344CB8AC3E}">
        <p14:creationId xmlns:p14="http://schemas.microsoft.com/office/powerpoint/2010/main" val="244908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CD2A1-0350-369D-934E-CFF23378975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506DD5A-4875-3AE0-5FCD-3E4985D031AF}"/>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A5527581-2B04-D9EF-C045-EADDA5BF84F4}"/>
              </a:ext>
            </a:extLst>
          </p:cNvPr>
          <p:cNvSpPr>
            <a:spLocks noGrp="1"/>
          </p:cNvSpPr>
          <p:nvPr>
            <p:ph type="title"/>
          </p:nvPr>
        </p:nvSpPr>
        <p:spPr>
          <a:xfrm>
            <a:off x="152400" y="619129"/>
            <a:ext cx="10515600" cy="642407"/>
          </a:xfrm>
        </p:spPr>
        <p:txBody>
          <a:bodyPr>
            <a:normAutofit/>
          </a:bodyPr>
          <a:lstStyle/>
          <a:p>
            <a:r>
              <a:rPr lang="fr-FR" sz="3200" noProof="0" dirty="0">
                <a:solidFill>
                  <a:schemeClr val="bg1"/>
                </a:solidFill>
              </a:rPr>
              <a:t>Conclusion</a:t>
            </a:r>
          </a:p>
        </p:txBody>
      </p:sp>
      <p:sp>
        <p:nvSpPr>
          <p:cNvPr id="5" name="Espace réservé du numéro de diapositive 4">
            <a:extLst>
              <a:ext uri="{FF2B5EF4-FFF2-40B4-BE49-F238E27FC236}">
                <a16:creationId xmlns:a16="http://schemas.microsoft.com/office/drawing/2014/main" id="{54017143-DCE0-FBD5-26B9-506E21A877DF}"/>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13</a:t>
            </a:fld>
            <a:endParaRPr lang="fr-FR" noProof="0" dirty="0"/>
          </a:p>
        </p:txBody>
      </p:sp>
      <p:pic>
        <p:nvPicPr>
          <p:cNvPr id="11" name="Picture 2">
            <a:extLst>
              <a:ext uri="{FF2B5EF4-FFF2-40B4-BE49-F238E27FC236}">
                <a16:creationId xmlns:a16="http://schemas.microsoft.com/office/drawing/2014/main" id="{C4E0699D-9FD4-1430-A70B-6BAABC582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8A4EB693-C020-B7D8-EF8D-03C168BBC7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a:extLst>
              <a:ext uri="{FF2B5EF4-FFF2-40B4-BE49-F238E27FC236}">
                <a16:creationId xmlns:a16="http://schemas.microsoft.com/office/drawing/2014/main" id="{E8474AAB-FC02-EDF9-32A3-8E6D5C531B30}"/>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18/06/2026</a:t>
            </a:fld>
            <a:endParaRPr lang="fr-FR" noProof="0" dirty="0"/>
          </a:p>
        </p:txBody>
      </p:sp>
      <p:sp>
        <p:nvSpPr>
          <p:cNvPr id="3" name="Rectangle : coins arrondis 8">
            <a:extLst>
              <a:ext uri="{FF2B5EF4-FFF2-40B4-BE49-F238E27FC236}">
                <a16:creationId xmlns:a16="http://schemas.microsoft.com/office/drawing/2014/main" id="{DB2760F4-2A57-BBE5-165F-1D1D85824A44}"/>
              </a:ext>
            </a:extLst>
          </p:cNvPr>
          <p:cNvSpPr/>
          <p:nvPr/>
        </p:nvSpPr>
        <p:spPr>
          <a:xfrm>
            <a:off x="2181579" y="1373301"/>
            <a:ext cx="7738798" cy="1438910"/>
          </a:xfrm>
          <a:prstGeom prst="roundRect">
            <a:avLst/>
          </a:prstGeom>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7" name="ZoneTexte 13">
            <a:extLst>
              <a:ext uri="{FF2B5EF4-FFF2-40B4-BE49-F238E27FC236}">
                <a16:creationId xmlns:a16="http://schemas.microsoft.com/office/drawing/2014/main" id="{1DFA00DF-E7B3-27D6-5348-5010BA9AC40E}"/>
              </a:ext>
            </a:extLst>
          </p:cNvPr>
          <p:cNvSpPr txBox="1"/>
          <p:nvPr/>
        </p:nvSpPr>
        <p:spPr>
          <a:xfrm>
            <a:off x="2474262" y="1456951"/>
            <a:ext cx="2961397" cy="338554"/>
          </a:xfrm>
          <a:prstGeom prst="rect">
            <a:avLst/>
          </a:prstGeom>
          <a:noFill/>
        </p:spPr>
        <p:txBody>
          <a:bodyPr wrap="square" lIns="91440" tIns="45720" rIns="91440" bIns="45720" rtlCol="0" anchor="t">
            <a:spAutoFit/>
          </a:bodyPr>
          <a:lstStyle/>
          <a:p>
            <a:r>
              <a:rPr lang="fr-FR" sz="1600" b="1" dirty="0">
                <a:solidFill>
                  <a:schemeClr val="bg2">
                    <a:lumMod val="25000"/>
                  </a:schemeClr>
                </a:solidFill>
              </a:rPr>
              <a:t>Objectifs</a:t>
            </a:r>
            <a:endParaRPr lang="fr-FR" noProof="0" dirty="0">
              <a:solidFill>
                <a:schemeClr val="bg2">
                  <a:lumMod val="25000"/>
                </a:schemeClr>
              </a:solidFill>
            </a:endParaRPr>
          </a:p>
        </p:txBody>
      </p:sp>
      <p:sp>
        <p:nvSpPr>
          <p:cNvPr id="8" name="ZoneTexte 14">
            <a:extLst>
              <a:ext uri="{FF2B5EF4-FFF2-40B4-BE49-F238E27FC236}">
                <a16:creationId xmlns:a16="http://schemas.microsoft.com/office/drawing/2014/main" id="{39D18F60-5E08-9CFF-B83D-67A1E2BB1E9C}"/>
              </a:ext>
            </a:extLst>
          </p:cNvPr>
          <p:cNvSpPr txBox="1"/>
          <p:nvPr/>
        </p:nvSpPr>
        <p:spPr>
          <a:xfrm>
            <a:off x="2474262" y="1879155"/>
            <a:ext cx="6849729" cy="646331"/>
          </a:xfrm>
          <a:prstGeom prst="rect">
            <a:avLst/>
          </a:prstGeom>
          <a:noFill/>
        </p:spPr>
        <p:txBody>
          <a:bodyPr wrap="square" lIns="91440" tIns="45720" rIns="91440" bIns="45720" rtlCol="0" anchor="t">
            <a:spAutoFit/>
          </a:bodyPr>
          <a:lstStyle/>
          <a:p>
            <a:r>
              <a:rPr lang="fr-FR" sz="1200" dirty="0">
                <a:solidFill>
                  <a:schemeClr val="bg2">
                    <a:lumMod val="25000"/>
                  </a:schemeClr>
                </a:solidFill>
              </a:rPr>
              <a:t>Comparer la </a:t>
            </a:r>
            <a:r>
              <a:rPr lang="fr-FR" sz="1200" b="1" dirty="0">
                <a:solidFill>
                  <a:schemeClr val="bg2">
                    <a:lumMod val="25000"/>
                  </a:schemeClr>
                </a:solidFill>
              </a:rPr>
              <a:t>cinématique </a:t>
            </a:r>
            <a:r>
              <a:rPr lang="fr-FR" sz="1200" dirty="0">
                <a:solidFill>
                  <a:schemeClr val="bg2">
                    <a:lumMod val="25000"/>
                  </a:schemeClr>
                </a:solidFill>
              </a:rPr>
              <a:t>des </a:t>
            </a:r>
            <a:r>
              <a:rPr lang="fr-FR" sz="1200" b="1" dirty="0">
                <a:solidFill>
                  <a:schemeClr val="bg2">
                    <a:lumMod val="25000"/>
                  </a:schemeClr>
                </a:solidFill>
              </a:rPr>
              <a:t>nuages moléculaires</a:t>
            </a:r>
            <a:r>
              <a:rPr lang="fr-FR" sz="1200" dirty="0">
                <a:solidFill>
                  <a:schemeClr val="bg2">
                    <a:lumMod val="25000"/>
                  </a:schemeClr>
                </a:solidFill>
              </a:rPr>
              <a:t> avec la </a:t>
            </a:r>
            <a:r>
              <a:rPr lang="fr-FR" sz="1200" b="1" dirty="0">
                <a:solidFill>
                  <a:schemeClr val="bg2">
                    <a:lumMod val="25000"/>
                  </a:schemeClr>
                </a:solidFill>
              </a:rPr>
              <a:t>cinématique </a:t>
            </a:r>
            <a:r>
              <a:rPr lang="fr-FR" sz="1200" dirty="0">
                <a:solidFill>
                  <a:schemeClr val="bg2">
                    <a:lumMod val="25000"/>
                  </a:schemeClr>
                </a:solidFill>
              </a:rPr>
              <a:t>des </a:t>
            </a:r>
            <a:r>
              <a:rPr lang="fr-FR" sz="1200" b="1" dirty="0">
                <a:solidFill>
                  <a:schemeClr val="bg2">
                    <a:lumMod val="25000"/>
                  </a:schemeClr>
                </a:solidFill>
              </a:rPr>
              <a:t>groupes d'étoiles OB</a:t>
            </a:r>
          </a:p>
          <a:p>
            <a:endParaRPr lang="fr-FR" sz="1200" b="1" dirty="0">
              <a:solidFill>
                <a:schemeClr val="bg2">
                  <a:lumMod val="25000"/>
                </a:schemeClr>
              </a:solidFill>
            </a:endParaRPr>
          </a:p>
          <a:p>
            <a:r>
              <a:rPr lang="fr-FR" sz="1200" dirty="0">
                <a:solidFill>
                  <a:schemeClr val="bg2">
                    <a:lumMod val="25000"/>
                  </a:schemeClr>
                </a:solidFill>
              </a:rPr>
              <a:t>Proposer un </a:t>
            </a:r>
            <a:r>
              <a:rPr lang="fr-FR" sz="1200" b="1" dirty="0">
                <a:solidFill>
                  <a:schemeClr val="bg2">
                    <a:lumMod val="25000"/>
                  </a:schemeClr>
                </a:solidFill>
              </a:rPr>
              <a:t>scénario complet </a:t>
            </a:r>
            <a:r>
              <a:rPr lang="fr-FR" sz="1200" dirty="0">
                <a:solidFill>
                  <a:schemeClr val="bg2">
                    <a:lumMod val="25000"/>
                  </a:schemeClr>
                </a:solidFill>
              </a:rPr>
              <a:t>de </a:t>
            </a:r>
            <a:r>
              <a:rPr lang="fr-FR" sz="1200" b="1" dirty="0">
                <a:solidFill>
                  <a:schemeClr val="bg2">
                    <a:lumMod val="25000"/>
                  </a:schemeClr>
                </a:solidFill>
              </a:rPr>
              <a:t>formation d’amas d’étoiles massives </a:t>
            </a:r>
            <a:r>
              <a:rPr lang="fr-FR" sz="1200" dirty="0">
                <a:solidFill>
                  <a:schemeClr val="bg2">
                    <a:lumMod val="25000"/>
                  </a:schemeClr>
                </a:solidFill>
              </a:rPr>
              <a:t>au sein de la région du Cygne</a:t>
            </a:r>
            <a:endParaRPr lang="fr-FR" sz="1200" b="1" dirty="0">
              <a:solidFill>
                <a:schemeClr val="bg2">
                  <a:lumMod val="25000"/>
                </a:schemeClr>
              </a:solidFill>
            </a:endParaRPr>
          </a:p>
        </p:txBody>
      </p:sp>
      <p:pic>
        <p:nvPicPr>
          <p:cNvPr id="9" name="Graphic 8" descr="Bullseye with solid fill">
            <a:extLst>
              <a:ext uri="{FF2B5EF4-FFF2-40B4-BE49-F238E27FC236}">
                <a16:creationId xmlns:a16="http://schemas.microsoft.com/office/drawing/2014/main" id="{347874E0-D440-4197-250D-520805D2D5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4616" y="1317957"/>
            <a:ext cx="670621" cy="670621"/>
          </a:xfrm>
          <a:prstGeom prst="rect">
            <a:avLst/>
          </a:prstGeom>
        </p:spPr>
      </p:pic>
      <p:pic>
        <p:nvPicPr>
          <p:cNvPr id="13" name="Graphic 12" descr="Checkmark with solid fill">
            <a:extLst>
              <a:ext uri="{FF2B5EF4-FFF2-40B4-BE49-F238E27FC236}">
                <a16:creationId xmlns:a16="http://schemas.microsoft.com/office/drawing/2014/main" id="{194E43FE-B31D-C65A-6FBF-1354EC92E4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95391" y="1758764"/>
            <a:ext cx="457200" cy="457200"/>
          </a:xfrm>
          <a:prstGeom prst="rect">
            <a:avLst/>
          </a:prstGeom>
        </p:spPr>
      </p:pic>
      <p:pic>
        <p:nvPicPr>
          <p:cNvPr id="14" name="Graphic 13" descr="Checkmark with solid fill">
            <a:extLst>
              <a:ext uri="{FF2B5EF4-FFF2-40B4-BE49-F238E27FC236}">
                <a16:creationId xmlns:a16="http://schemas.microsoft.com/office/drawing/2014/main" id="{584426E0-DABF-5515-53C1-3FFD581465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05592" y="2137268"/>
            <a:ext cx="457200" cy="457200"/>
          </a:xfrm>
          <a:prstGeom prst="rect">
            <a:avLst/>
          </a:prstGeom>
        </p:spPr>
      </p:pic>
      <p:pic>
        <p:nvPicPr>
          <p:cNvPr id="15" name="Picture 14">
            <a:extLst>
              <a:ext uri="{FF2B5EF4-FFF2-40B4-BE49-F238E27FC236}">
                <a16:creationId xmlns:a16="http://schemas.microsoft.com/office/drawing/2014/main" id="{B29819C7-ABD9-5C12-D466-6B02321CBD34}"/>
              </a:ext>
            </a:extLst>
          </p:cNvPr>
          <p:cNvPicPr>
            <a:picLocks noChangeAspect="1"/>
          </p:cNvPicPr>
          <p:nvPr/>
        </p:nvPicPr>
        <p:blipFill>
          <a:blip r:embed="rId6"/>
          <a:stretch>
            <a:fillRect/>
          </a:stretch>
        </p:blipFill>
        <p:spPr>
          <a:xfrm>
            <a:off x="195948" y="3031340"/>
            <a:ext cx="4146596" cy="1677053"/>
          </a:xfrm>
          <a:prstGeom prst="rect">
            <a:avLst/>
          </a:prstGeom>
        </p:spPr>
      </p:pic>
      <p:pic>
        <p:nvPicPr>
          <p:cNvPr id="16" name="Picture 15">
            <a:extLst>
              <a:ext uri="{FF2B5EF4-FFF2-40B4-BE49-F238E27FC236}">
                <a16:creationId xmlns:a16="http://schemas.microsoft.com/office/drawing/2014/main" id="{E5C301BF-0BDF-6DE1-6030-DBE48072F7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69164" y="3031340"/>
            <a:ext cx="2729846" cy="1677053"/>
          </a:xfrm>
          <a:prstGeom prst="rect">
            <a:avLst/>
          </a:prstGeom>
        </p:spPr>
      </p:pic>
      <p:pic>
        <p:nvPicPr>
          <p:cNvPr id="19" name="Picture 18">
            <a:extLst>
              <a:ext uri="{FF2B5EF4-FFF2-40B4-BE49-F238E27FC236}">
                <a16:creationId xmlns:a16="http://schemas.microsoft.com/office/drawing/2014/main" id="{A4215D4A-8E94-776C-F13B-FBB669D1118B}"/>
              </a:ext>
            </a:extLst>
          </p:cNvPr>
          <p:cNvPicPr>
            <a:picLocks noChangeAspect="1"/>
          </p:cNvPicPr>
          <p:nvPr/>
        </p:nvPicPr>
        <p:blipFill>
          <a:blip r:embed="rId8"/>
          <a:stretch>
            <a:fillRect/>
          </a:stretch>
        </p:blipFill>
        <p:spPr>
          <a:xfrm>
            <a:off x="7690333" y="3358435"/>
            <a:ext cx="4454495" cy="1014813"/>
          </a:xfrm>
          <a:prstGeom prst="rect">
            <a:avLst/>
          </a:prstGeom>
        </p:spPr>
      </p:pic>
      <p:sp>
        <p:nvSpPr>
          <p:cNvPr id="20" name="Rectangle : coins arrondis 8">
            <a:extLst>
              <a:ext uri="{FF2B5EF4-FFF2-40B4-BE49-F238E27FC236}">
                <a16:creationId xmlns:a16="http://schemas.microsoft.com/office/drawing/2014/main" id="{AE2EE973-4383-1DB4-0BA0-236F8F2E3D92}"/>
              </a:ext>
            </a:extLst>
          </p:cNvPr>
          <p:cNvSpPr/>
          <p:nvPr/>
        </p:nvSpPr>
        <p:spPr>
          <a:xfrm>
            <a:off x="619237" y="4872557"/>
            <a:ext cx="11029699" cy="1605640"/>
          </a:xfrm>
          <a:prstGeom prst="roundRect">
            <a:avLst/>
          </a:prstGeom>
          <a:solidFill>
            <a:srgbClr val="0F172A"/>
          </a:solidFill>
          <a:ln>
            <a:solidFill>
              <a:srgbClr val="0F172A"/>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noProof="0" dirty="0"/>
          </a:p>
        </p:txBody>
      </p:sp>
      <p:sp>
        <p:nvSpPr>
          <p:cNvPr id="21" name="ZoneTexte 13">
            <a:extLst>
              <a:ext uri="{FF2B5EF4-FFF2-40B4-BE49-F238E27FC236}">
                <a16:creationId xmlns:a16="http://schemas.microsoft.com/office/drawing/2014/main" id="{51E8582A-65F0-404C-AA0D-E34C8E2350FB}"/>
              </a:ext>
            </a:extLst>
          </p:cNvPr>
          <p:cNvSpPr txBox="1"/>
          <p:nvPr/>
        </p:nvSpPr>
        <p:spPr>
          <a:xfrm>
            <a:off x="619237" y="4905701"/>
            <a:ext cx="2743200" cy="338554"/>
          </a:xfrm>
          <a:prstGeom prst="rect">
            <a:avLst/>
          </a:prstGeom>
          <a:noFill/>
        </p:spPr>
        <p:txBody>
          <a:bodyPr wrap="square" lIns="91440" tIns="45720" rIns="91440" bIns="45720" rtlCol="0" anchor="t">
            <a:spAutoFit/>
          </a:bodyPr>
          <a:lstStyle/>
          <a:p>
            <a:pPr algn="ctr"/>
            <a:r>
              <a:rPr lang="fr-FR" sz="1600" b="1" noProof="0" dirty="0">
                <a:solidFill>
                  <a:srgbClr val="D9D9D9"/>
                </a:solidFill>
              </a:rPr>
              <a:t>Ce qu’il reste à accomplir</a:t>
            </a:r>
            <a:endParaRPr lang="fr-FR" noProof="0" dirty="0">
              <a:solidFill>
                <a:srgbClr val="D9D9D9"/>
              </a:solidFill>
            </a:endParaRPr>
          </a:p>
        </p:txBody>
      </p:sp>
      <p:sp>
        <p:nvSpPr>
          <p:cNvPr id="22" name="ZoneTexte 14">
            <a:extLst>
              <a:ext uri="{FF2B5EF4-FFF2-40B4-BE49-F238E27FC236}">
                <a16:creationId xmlns:a16="http://schemas.microsoft.com/office/drawing/2014/main" id="{0B4D2A93-AB38-28E1-9594-384D1D8AAF27}"/>
              </a:ext>
            </a:extLst>
          </p:cNvPr>
          <p:cNvSpPr txBox="1"/>
          <p:nvPr/>
        </p:nvSpPr>
        <p:spPr>
          <a:xfrm>
            <a:off x="862482" y="5179093"/>
            <a:ext cx="10183565" cy="1171731"/>
          </a:xfrm>
          <a:prstGeom prst="rect">
            <a:avLst/>
          </a:prstGeom>
          <a:noFill/>
        </p:spPr>
        <p:txBody>
          <a:bodyPr wrap="square" lIns="91440" tIns="45720" rIns="91440" bIns="45720" rtlCol="0" anchor="t">
            <a:spAutoFit/>
          </a:bodyPr>
          <a:lstStyle/>
          <a:p>
            <a:pPr>
              <a:lnSpc>
                <a:spcPct val="150000"/>
              </a:lnSpc>
            </a:pPr>
            <a:r>
              <a:rPr lang="fr-FR" sz="1200" dirty="0">
                <a:solidFill>
                  <a:srgbClr val="D9D9D9"/>
                </a:solidFill>
              </a:rPr>
              <a:t>Etudier la cinématique </a:t>
            </a:r>
            <a:r>
              <a:rPr lang="fr-FR" sz="1200" b="1" dirty="0">
                <a:solidFill>
                  <a:srgbClr val="D9D9D9"/>
                </a:solidFill>
              </a:rPr>
              <a:t>d’autres amas d’étoiles massives et de nuages moléculaires </a:t>
            </a:r>
            <a:r>
              <a:rPr lang="fr-FR" sz="1200" dirty="0">
                <a:solidFill>
                  <a:srgbClr val="D9D9D9"/>
                </a:solidFill>
              </a:rPr>
              <a:t>actifs (</a:t>
            </a:r>
            <a:r>
              <a:rPr lang="fr-FR" sz="1200" dirty="0" err="1">
                <a:solidFill>
                  <a:srgbClr val="D9D9D9"/>
                </a:solidFill>
              </a:rPr>
              <a:t>Chameleon</a:t>
            </a:r>
            <a:r>
              <a:rPr lang="fr-FR" sz="1200" dirty="0">
                <a:solidFill>
                  <a:srgbClr val="D9D9D9"/>
                </a:solidFill>
              </a:rPr>
              <a:t>, Vega, NGC 6334)</a:t>
            </a:r>
          </a:p>
          <a:p>
            <a:pPr>
              <a:lnSpc>
                <a:spcPct val="150000"/>
              </a:lnSpc>
            </a:pPr>
            <a:r>
              <a:rPr lang="fr-FR" sz="1200" dirty="0">
                <a:solidFill>
                  <a:srgbClr val="D9D9D9"/>
                </a:solidFill>
              </a:rPr>
              <a:t>Utiliser des </a:t>
            </a:r>
            <a:r>
              <a:rPr lang="fr-FR" sz="1200" b="1" dirty="0">
                <a:solidFill>
                  <a:srgbClr val="D9D9D9"/>
                </a:solidFill>
              </a:rPr>
              <a:t>nuages de points </a:t>
            </a:r>
            <a:r>
              <a:rPr lang="fr-FR" sz="1200" dirty="0">
                <a:solidFill>
                  <a:srgbClr val="D9D9D9"/>
                </a:solidFill>
              </a:rPr>
              <a:t>pour modéliser les amas d’étoiles plutôt qu’un </a:t>
            </a:r>
            <a:r>
              <a:rPr lang="fr-FR" sz="1200" b="1" dirty="0">
                <a:solidFill>
                  <a:srgbClr val="D9D9D9"/>
                </a:solidFill>
              </a:rPr>
              <a:t>barycentre</a:t>
            </a:r>
          </a:p>
          <a:p>
            <a:pPr>
              <a:lnSpc>
                <a:spcPct val="150000"/>
              </a:lnSpc>
            </a:pPr>
            <a:r>
              <a:rPr lang="fr-FR" sz="1200" dirty="0">
                <a:solidFill>
                  <a:srgbClr val="D9D9D9"/>
                </a:solidFill>
              </a:rPr>
              <a:t>Explorer les </a:t>
            </a:r>
            <a:r>
              <a:rPr lang="fr-FR" sz="1200" b="1" dirty="0">
                <a:solidFill>
                  <a:srgbClr val="D9D9D9"/>
                </a:solidFill>
              </a:rPr>
              <a:t>influences</a:t>
            </a:r>
            <a:r>
              <a:rPr lang="fr-FR" sz="1200" dirty="0">
                <a:solidFill>
                  <a:srgbClr val="D9D9D9"/>
                </a:solidFill>
              </a:rPr>
              <a:t> pouvant expliquer les </a:t>
            </a:r>
            <a:r>
              <a:rPr lang="fr-FR" sz="1200" b="1" dirty="0">
                <a:solidFill>
                  <a:srgbClr val="D9D9D9"/>
                </a:solidFill>
              </a:rPr>
              <a:t>vitesses relatives importantes des nuages</a:t>
            </a:r>
          </a:p>
          <a:p>
            <a:pPr>
              <a:lnSpc>
                <a:spcPct val="150000"/>
              </a:lnSpc>
            </a:pPr>
            <a:r>
              <a:rPr lang="fr-FR" sz="1200" dirty="0">
                <a:solidFill>
                  <a:srgbClr val="D9D9D9"/>
                </a:solidFill>
              </a:rPr>
              <a:t>Etudier</a:t>
            </a:r>
            <a:r>
              <a:rPr lang="fr-FR" sz="1200" b="1" dirty="0">
                <a:solidFill>
                  <a:srgbClr val="D9D9D9"/>
                </a:solidFill>
              </a:rPr>
              <a:t> d’autres galaxies proches </a:t>
            </a:r>
            <a:r>
              <a:rPr lang="fr-FR" sz="1200" dirty="0">
                <a:solidFill>
                  <a:srgbClr val="D9D9D9"/>
                </a:solidFill>
              </a:rPr>
              <a:t>où l’on distingue les </a:t>
            </a:r>
            <a:r>
              <a:rPr lang="fr-FR" sz="1200" b="1" dirty="0">
                <a:solidFill>
                  <a:srgbClr val="D9D9D9"/>
                </a:solidFill>
              </a:rPr>
              <a:t>bras spiraux</a:t>
            </a:r>
          </a:p>
        </p:txBody>
      </p:sp>
    </p:spTree>
    <p:extLst>
      <p:ext uri="{BB962C8B-B14F-4D97-AF65-F5344CB8AC3E}">
        <p14:creationId xmlns:p14="http://schemas.microsoft.com/office/powerpoint/2010/main" val="96099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ADB3E-1C66-8C12-6EF2-52BE73BFCDE0}"/>
            </a:ext>
          </a:extLst>
        </p:cNvPr>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36C0CD29-79FF-EAEB-2173-2C43FFF780CB}"/>
              </a:ext>
            </a:extLst>
          </p:cNvPr>
          <p:cNvSpPr>
            <a:spLocks noGrp="1"/>
          </p:cNvSpPr>
          <p:nvPr>
            <p:ph type="sldNum" sz="quarter" idx="12"/>
          </p:nvPr>
        </p:nvSpPr>
        <p:spPr>
          <a:xfrm>
            <a:off x="9401628" y="6455811"/>
            <a:ext cx="2743200" cy="365125"/>
          </a:xfrm>
        </p:spPr>
        <p:txBody>
          <a:bodyPr/>
          <a:lstStyle/>
          <a:p>
            <a:fld id="{E3EC9F48-C5B6-4727-AEEA-2F88FA0098DB}" type="slidenum">
              <a:rPr lang="fr-FR" noProof="0" smtClean="0"/>
              <a:t>14</a:t>
            </a:fld>
            <a:endParaRPr lang="fr-FR" noProof="0" dirty="0"/>
          </a:p>
        </p:txBody>
      </p:sp>
      <p:pic>
        <p:nvPicPr>
          <p:cNvPr id="11" name="Picture 2">
            <a:extLst>
              <a:ext uri="{FF2B5EF4-FFF2-40B4-BE49-F238E27FC236}">
                <a16:creationId xmlns:a16="http://schemas.microsoft.com/office/drawing/2014/main" id="{B95DBAA9-2CB6-62EA-5C0B-A57F17382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034"/>
            <a:ext cx="1540933" cy="5393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boratoire d'Astrophysique de Bordeaux - LAB">
            <a:extLst>
              <a:ext uri="{FF2B5EF4-FFF2-40B4-BE49-F238E27FC236}">
                <a16:creationId xmlns:a16="http://schemas.microsoft.com/office/drawing/2014/main" id="{FA7872DC-B38C-9D6E-3D76-B22736899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7399" y="1"/>
            <a:ext cx="925513" cy="62725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a:extLst>
              <a:ext uri="{FF2B5EF4-FFF2-40B4-BE49-F238E27FC236}">
                <a16:creationId xmlns:a16="http://schemas.microsoft.com/office/drawing/2014/main" id="{0D2CB7BB-521F-B408-DBB5-5E831C6FDEF5}"/>
              </a:ext>
            </a:extLst>
          </p:cNvPr>
          <p:cNvSpPr>
            <a:spLocks noGrp="1"/>
          </p:cNvSpPr>
          <p:nvPr>
            <p:ph type="dt" sz="half" idx="10"/>
          </p:nvPr>
        </p:nvSpPr>
        <p:spPr>
          <a:xfrm>
            <a:off x="195948" y="6400195"/>
            <a:ext cx="2743200" cy="365125"/>
          </a:xfrm>
        </p:spPr>
        <p:txBody>
          <a:bodyPr/>
          <a:lstStyle/>
          <a:p>
            <a:fld id="{E2DC191A-0AFA-4748-A17D-759B6F9426B9}" type="datetime1">
              <a:rPr lang="fr-FR" noProof="0" smtClean="0"/>
              <a:t>18/06/2026</a:t>
            </a:fld>
            <a:endParaRPr lang="fr-FR" noProof="0" dirty="0"/>
          </a:p>
        </p:txBody>
      </p:sp>
      <p:sp>
        <p:nvSpPr>
          <p:cNvPr id="23" name="Rectangle 22">
            <a:extLst>
              <a:ext uri="{FF2B5EF4-FFF2-40B4-BE49-F238E27FC236}">
                <a16:creationId xmlns:a16="http://schemas.microsoft.com/office/drawing/2014/main" id="{9C173FDC-FC0D-691F-7B5D-85A3F5246125}"/>
              </a:ext>
            </a:extLst>
          </p:cNvPr>
          <p:cNvSpPr/>
          <p:nvPr/>
        </p:nvSpPr>
        <p:spPr>
          <a:xfrm>
            <a:off x="-76201" y="619129"/>
            <a:ext cx="12327467" cy="642407"/>
          </a:xfrm>
          <a:prstGeom prst="rect">
            <a:avLst/>
          </a:prstGeom>
          <a:solidFill>
            <a:srgbClr val="0F172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24" name="Picture 23">
            <a:extLst>
              <a:ext uri="{FF2B5EF4-FFF2-40B4-BE49-F238E27FC236}">
                <a16:creationId xmlns:a16="http://schemas.microsoft.com/office/drawing/2014/main" id="{91103E0D-1AE1-78E1-B37E-0226C8845FDA}"/>
              </a:ext>
            </a:extLst>
          </p:cNvPr>
          <p:cNvPicPr>
            <a:picLocks noChangeAspect="1"/>
          </p:cNvPicPr>
          <p:nvPr/>
        </p:nvPicPr>
        <p:blipFill>
          <a:blip r:embed="rId4"/>
          <a:stretch>
            <a:fillRect/>
          </a:stretch>
        </p:blipFill>
        <p:spPr>
          <a:xfrm>
            <a:off x="756047" y="1846399"/>
            <a:ext cx="10679906" cy="3895621"/>
          </a:xfrm>
          <a:prstGeom prst="rect">
            <a:avLst/>
          </a:prstGeom>
        </p:spPr>
      </p:pic>
      <p:sp>
        <p:nvSpPr>
          <p:cNvPr id="18" name="TextBox 17">
            <a:extLst>
              <a:ext uri="{FF2B5EF4-FFF2-40B4-BE49-F238E27FC236}">
                <a16:creationId xmlns:a16="http://schemas.microsoft.com/office/drawing/2014/main" id="{424F4C92-2A9C-A06C-E069-222B52CC6D6D}"/>
              </a:ext>
            </a:extLst>
          </p:cNvPr>
          <p:cNvSpPr txBox="1"/>
          <p:nvPr/>
        </p:nvSpPr>
        <p:spPr>
          <a:xfrm>
            <a:off x="4020068" y="3159674"/>
            <a:ext cx="4272951" cy="1107996"/>
          </a:xfrm>
          <a:prstGeom prst="rect">
            <a:avLst/>
          </a:prstGeom>
          <a:noFill/>
        </p:spPr>
        <p:txBody>
          <a:bodyPr wrap="square" rtlCol="0">
            <a:spAutoFit/>
          </a:bodyPr>
          <a:lstStyle/>
          <a:p>
            <a:r>
              <a:rPr lang="fr-FR" sz="6600" dirty="0">
                <a:solidFill>
                  <a:schemeClr val="bg1"/>
                </a:solidFill>
              </a:rPr>
              <a:t>Questions ?</a:t>
            </a:r>
          </a:p>
        </p:txBody>
      </p:sp>
      <p:sp>
        <p:nvSpPr>
          <p:cNvPr id="25" name="Espace réservé de la date 3">
            <a:extLst>
              <a:ext uri="{FF2B5EF4-FFF2-40B4-BE49-F238E27FC236}">
                <a16:creationId xmlns:a16="http://schemas.microsoft.com/office/drawing/2014/main" id="{A67F5EED-947B-0818-E384-7BA286839D71}"/>
              </a:ext>
            </a:extLst>
          </p:cNvPr>
          <p:cNvSpPr txBox="1">
            <a:spLocks/>
          </p:cNvSpPr>
          <p:nvPr/>
        </p:nvSpPr>
        <p:spPr>
          <a:xfrm>
            <a:off x="693405" y="5705982"/>
            <a:ext cx="2743200" cy="365125"/>
          </a:xfrm>
          <a:prstGeom prst="rect">
            <a:avLst/>
          </a:prstGeom>
        </p:spPr>
        <p:txBody>
          <a:bodyPr vert="horz" lIns="91440" tIns="45720" rIns="91440" bIns="45720" rtlCol="0" anchor="ct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err="1"/>
              <a:t>Credits</a:t>
            </a:r>
            <a:r>
              <a:rPr lang="fr-FR" dirty="0"/>
              <a:t>: NASA, Cygnus-X by Herschel</a:t>
            </a:r>
          </a:p>
        </p:txBody>
      </p:sp>
    </p:spTree>
    <p:extLst>
      <p:ext uri="{BB962C8B-B14F-4D97-AF65-F5344CB8AC3E}">
        <p14:creationId xmlns:p14="http://schemas.microsoft.com/office/powerpoint/2010/main" val="266820341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TotalTime>
  <Words>1361</Words>
  <Application>Microsoft Office PowerPoint</Application>
  <PresentationFormat>Widescreen</PresentationFormat>
  <Paragraphs>207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Thème Office</vt:lpstr>
      <vt:lpstr>Lien entre la cinématique des étoiles jeunes et la cinématique du gaz moléculaire dans le complexe géant Cygnus-X</vt:lpstr>
      <vt:lpstr>Table des matières</vt:lpstr>
      <vt:lpstr>Introduction</vt:lpstr>
      <vt:lpstr>Enjeux et Objectifs</vt:lpstr>
      <vt:lpstr>Notions cinématiques et paramètres fondamentaux</vt:lpstr>
      <vt:lpstr>Positions et vitesses dans le référentiel galactocentrique</vt:lpstr>
      <vt:lpstr>Visualisation des vitesses et des positions</vt:lpstr>
      <vt:lpstr>Traceback des objets du Cygne</vt:lpstr>
      <vt:lpstr>Traceback avec un potentiel gravitationnel local</vt:lpstr>
      <vt:lpstr>Processus de collision de nuages moléculaires</vt:lpstr>
      <vt:lpstr>Proposition de scénario</vt:lpstr>
      <vt:lpstr>Pourquoi y’a-t-il des nuages plus lents que la rotation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Sulwen de la Croix</dc:creator>
  <cp:lastModifiedBy>Sulwen de la Croix</cp:lastModifiedBy>
  <cp:revision>317</cp:revision>
  <dcterms:created xsi:type="dcterms:W3CDTF">2026-06-17T09:07:02Z</dcterms:created>
  <dcterms:modified xsi:type="dcterms:W3CDTF">2026-06-17T22:50:57Z</dcterms:modified>
</cp:coreProperties>
</file>